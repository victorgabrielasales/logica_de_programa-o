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374"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pt-BR" smtClean="0"/>
              <a:t>Clique para editar o título mestre</a:t>
            </a:r>
            <a:endParaRPr lang="pt-BR"/>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smtClean="0"/>
              <a:t>Clique para editar o estilo do subtítulo mestre</a:t>
            </a:r>
            <a:endParaRPr lang="pt-BR"/>
          </a:p>
        </p:txBody>
      </p:sp>
      <p:sp>
        <p:nvSpPr>
          <p:cNvPr id="4" name="Espaço Reservado para Data 3"/>
          <p:cNvSpPr>
            <a:spLocks noGrp="1"/>
          </p:cNvSpPr>
          <p:nvPr>
            <p:ph type="dt" sz="half" idx="10"/>
          </p:nvPr>
        </p:nvSpPr>
        <p:spPr/>
        <p:txBody>
          <a:bodyPr/>
          <a:lstStyle/>
          <a:p>
            <a:fld id="{EB0C3AEF-DBC5-43C6-9CD6-460BB0527B52}" type="datetimeFigureOut">
              <a:rPr lang="pt-BR" smtClean="0"/>
              <a:t>09/02/2012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10C0A99E-E1C4-4E62-8FBF-21F300609FD1}" type="slidenum">
              <a:rPr lang="pt-BR" smtClean="0"/>
              <a:t>‹nº›</a:t>
            </a:fld>
            <a:endParaRPr lang="pt-BR"/>
          </a:p>
        </p:txBody>
      </p:sp>
    </p:spTree>
    <p:extLst>
      <p:ext uri="{BB962C8B-B14F-4D97-AF65-F5344CB8AC3E}">
        <p14:creationId xmlns:p14="http://schemas.microsoft.com/office/powerpoint/2010/main" val="2418812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idx="1"/>
          </p:nvPr>
        </p:nvSpPr>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EB0C3AEF-DBC5-43C6-9CD6-460BB0527B52}" type="datetimeFigureOut">
              <a:rPr lang="pt-BR" smtClean="0"/>
              <a:t>09/02/2012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10C0A99E-E1C4-4E62-8FBF-21F300609FD1}" type="slidenum">
              <a:rPr lang="pt-BR" smtClean="0"/>
              <a:t>‹nº›</a:t>
            </a:fld>
            <a:endParaRPr lang="pt-BR"/>
          </a:p>
        </p:txBody>
      </p:sp>
    </p:spTree>
    <p:extLst>
      <p:ext uri="{BB962C8B-B14F-4D97-AF65-F5344CB8AC3E}">
        <p14:creationId xmlns:p14="http://schemas.microsoft.com/office/powerpoint/2010/main" val="3792131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pt-BR" smtClean="0"/>
              <a:t>Clique para editar o título mestre</a:t>
            </a:r>
            <a:endParaRPr lang="pt-BR"/>
          </a:p>
        </p:txBody>
      </p:sp>
      <p:sp>
        <p:nvSpPr>
          <p:cNvPr id="3" name="Espaço Reservado para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smtClean="0"/>
              <a:t>Clique para editar o texto mestre</a:t>
            </a:r>
          </a:p>
        </p:txBody>
      </p:sp>
      <p:sp>
        <p:nvSpPr>
          <p:cNvPr id="4" name="Espaço Reservado para Data 3"/>
          <p:cNvSpPr>
            <a:spLocks noGrp="1"/>
          </p:cNvSpPr>
          <p:nvPr>
            <p:ph type="dt" sz="half" idx="10"/>
          </p:nvPr>
        </p:nvSpPr>
        <p:spPr/>
        <p:txBody>
          <a:bodyPr/>
          <a:lstStyle/>
          <a:p>
            <a:fld id="{EB0C3AEF-DBC5-43C6-9CD6-460BB0527B52}" type="datetimeFigureOut">
              <a:rPr lang="pt-BR" smtClean="0"/>
              <a:t>09/02/2012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10C0A99E-E1C4-4E62-8FBF-21F300609FD1}" type="slidenum">
              <a:rPr lang="pt-BR" smtClean="0"/>
              <a:t>‹nº›</a:t>
            </a:fld>
            <a:endParaRPr lang="pt-BR"/>
          </a:p>
        </p:txBody>
      </p:sp>
    </p:spTree>
    <p:extLst>
      <p:ext uri="{BB962C8B-B14F-4D97-AF65-F5344CB8AC3E}">
        <p14:creationId xmlns:p14="http://schemas.microsoft.com/office/powerpoint/2010/main" val="4173576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Conteú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Data 4"/>
          <p:cNvSpPr>
            <a:spLocks noGrp="1"/>
          </p:cNvSpPr>
          <p:nvPr>
            <p:ph type="dt" sz="half" idx="10"/>
          </p:nvPr>
        </p:nvSpPr>
        <p:spPr/>
        <p:txBody>
          <a:bodyPr/>
          <a:lstStyle/>
          <a:p>
            <a:fld id="{EB0C3AEF-DBC5-43C6-9CD6-460BB0527B52}" type="datetimeFigureOut">
              <a:rPr lang="pt-BR" smtClean="0"/>
              <a:t>09/02/2012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10C0A99E-E1C4-4E62-8FBF-21F300609FD1}" type="slidenum">
              <a:rPr lang="pt-BR" smtClean="0"/>
              <a:t>‹nº›</a:t>
            </a:fld>
            <a:endParaRPr lang="pt-BR"/>
          </a:p>
        </p:txBody>
      </p:sp>
    </p:spTree>
    <p:extLst>
      <p:ext uri="{BB962C8B-B14F-4D97-AF65-F5344CB8AC3E}">
        <p14:creationId xmlns:p14="http://schemas.microsoft.com/office/powerpoint/2010/main" val="2418341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smtClean="0"/>
              <a:t>Clique para editar o título mestre</a:t>
            </a:r>
            <a:endParaRPr lang="pt-BR"/>
          </a:p>
        </p:txBody>
      </p:sp>
      <p:sp>
        <p:nvSpPr>
          <p:cNvPr id="3" name="Espaço Reservado para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4" name="Espaço Reservado para Conteú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6" name="Espaço Reservado para Conteú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7" name="Espaço Reservado para Data 6"/>
          <p:cNvSpPr>
            <a:spLocks noGrp="1"/>
          </p:cNvSpPr>
          <p:nvPr>
            <p:ph type="dt" sz="half" idx="10"/>
          </p:nvPr>
        </p:nvSpPr>
        <p:spPr/>
        <p:txBody>
          <a:bodyPr/>
          <a:lstStyle/>
          <a:p>
            <a:fld id="{EB0C3AEF-DBC5-43C6-9CD6-460BB0527B52}" type="datetimeFigureOut">
              <a:rPr lang="pt-BR" smtClean="0"/>
              <a:t>09/02/2012</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10C0A99E-E1C4-4E62-8FBF-21F300609FD1}" type="slidenum">
              <a:rPr lang="pt-BR" smtClean="0"/>
              <a:t>‹nº›</a:t>
            </a:fld>
            <a:endParaRPr lang="pt-BR"/>
          </a:p>
        </p:txBody>
      </p:sp>
    </p:spTree>
    <p:extLst>
      <p:ext uri="{BB962C8B-B14F-4D97-AF65-F5344CB8AC3E}">
        <p14:creationId xmlns:p14="http://schemas.microsoft.com/office/powerpoint/2010/main" val="2483199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Data 2"/>
          <p:cNvSpPr>
            <a:spLocks noGrp="1"/>
          </p:cNvSpPr>
          <p:nvPr>
            <p:ph type="dt" sz="half" idx="10"/>
          </p:nvPr>
        </p:nvSpPr>
        <p:spPr/>
        <p:txBody>
          <a:bodyPr/>
          <a:lstStyle/>
          <a:p>
            <a:fld id="{EB0C3AEF-DBC5-43C6-9CD6-460BB0527B52}" type="datetimeFigureOut">
              <a:rPr lang="pt-BR" smtClean="0"/>
              <a:t>09/02/2012</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10C0A99E-E1C4-4E62-8FBF-21F300609FD1}" type="slidenum">
              <a:rPr lang="pt-BR" smtClean="0"/>
              <a:t>‹nº›</a:t>
            </a:fld>
            <a:endParaRPr lang="pt-BR"/>
          </a:p>
        </p:txBody>
      </p:sp>
    </p:spTree>
    <p:extLst>
      <p:ext uri="{BB962C8B-B14F-4D97-AF65-F5344CB8AC3E}">
        <p14:creationId xmlns:p14="http://schemas.microsoft.com/office/powerpoint/2010/main" val="4103929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EB0C3AEF-DBC5-43C6-9CD6-460BB0527B52}" type="datetimeFigureOut">
              <a:rPr lang="pt-BR" smtClean="0"/>
              <a:t>09/02/2012</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10C0A99E-E1C4-4E62-8FBF-21F300609FD1}" type="slidenum">
              <a:rPr lang="pt-BR" smtClean="0"/>
              <a:t>‹nº›</a:t>
            </a:fld>
            <a:endParaRPr lang="pt-BR"/>
          </a:p>
        </p:txBody>
      </p:sp>
    </p:spTree>
    <p:extLst>
      <p:ext uri="{BB962C8B-B14F-4D97-AF65-F5344CB8AC3E}">
        <p14:creationId xmlns:p14="http://schemas.microsoft.com/office/powerpoint/2010/main" val="30442446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pt-BR" smtClean="0"/>
              <a:t>Clique para editar o título mestre</a:t>
            </a:r>
            <a:endParaRPr lang="pt-BR"/>
          </a:p>
        </p:txBody>
      </p:sp>
      <p:sp>
        <p:nvSpPr>
          <p:cNvPr id="3" name="Espaço Reservado para Conteú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EB0C3AEF-DBC5-43C6-9CD6-460BB0527B52}" type="datetimeFigureOut">
              <a:rPr lang="pt-BR" smtClean="0"/>
              <a:t>09/02/2012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10C0A99E-E1C4-4E62-8FBF-21F300609FD1}" type="slidenum">
              <a:rPr lang="pt-BR" smtClean="0"/>
              <a:t>‹nº›</a:t>
            </a:fld>
            <a:endParaRPr lang="pt-BR"/>
          </a:p>
        </p:txBody>
      </p:sp>
    </p:spTree>
    <p:extLst>
      <p:ext uri="{BB962C8B-B14F-4D97-AF65-F5344CB8AC3E}">
        <p14:creationId xmlns:p14="http://schemas.microsoft.com/office/powerpoint/2010/main" val="2840905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pt-BR" smtClean="0"/>
              <a:t>Clique para editar o título mestre</a:t>
            </a:r>
            <a:endParaRPr lang="pt-BR"/>
          </a:p>
        </p:txBody>
      </p:sp>
      <p:sp>
        <p:nvSpPr>
          <p:cNvPr id="3" name="Espaço Reservado para Imagem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EB0C3AEF-DBC5-43C6-9CD6-460BB0527B52}" type="datetimeFigureOut">
              <a:rPr lang="pt-BR" smtClean="0"/>
              <a:t>09/02/2012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10C0A99E-E1C4-4E62-8FBF-21F300609FD1}" type="slidenum">
              <a:rPr lang="pt-BR" smtClean="0"/>
              <a:t>‹nº›</a:t>
            </a:fld>
            <a:endParaRPr lang="pt-BR"/>
          </a:p>
        </p:txBody>
      </p:sp>
    </p:spTree>
    <p:extLst>
      <p:ext uri="{BB962C8B-B14F-4D97-AF65-F5344CB8AC3E}">
        <p14:creationId xmlns:p14="http://schemas.microsoft.com/office/powerpoint/2010/main" val="3548485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Texto Vertical 2"/>
          <p:cNvSpPr>
            <a:spLocks noGrp="1"/>
          </p:cNvSpPr>
          <p:nvPr>
            <p:ph type="body" orient="vert" idx="1"/>
          </p:nvPr>
        </p:nvSpPr>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EB0C3AEF-DBC5-43C6-9CD6-460BB0527B52}" type="datetimeFigureOut">
              <a:rPr lang="pt-BR" smtClean="0"/>
              <a:t>09/02/2012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10C0A99E-E1C4-4E62-8FBF-21F300609FD1}" type="slidenum">
              <a:rPr lang="pt-BR" smtClean="0"/>
              <a:t>‹nº›</a:t>
            </a:fld>
            <a:endParaRPr lang="pt-BR"/>
          </a:p>
        </p:txBody>
      </p:sp>
    </p:spTree>
    <p:extLst>
      <p:ext uri="{BB962C8B-B14F-4D97-AF65-F5344CB8AC3E}">
        <p14:creationId xmlns:p14="http://schemas.microsoft.com/office/powerpoint/2010/main" val="589418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pt-BR" smtClean="0"/>
              <a:t>Clique para editar o título mestre</a:t>
            </a:r>
            <a:endParaRPr lang="pt-BR"/>
          </a:p>
        </p:txBody>
      </p:sp>
      <p:sp>
        <p:nvSpPr>
          <p:cNvPr id="3" name="Espaço Reservado para Texto Vertical 2"/>
          <p:cNvSpPr>
            <a:spLocks noGrp="1"/>
          </p:cNvSpPr>
          <p:nvPr>
            <p:ph type="body" orient="vert" idx="1"/>
          </p:nvPr>
        </p:nvSpPr>
        <p:spPr>
          <a:xfrm>
            <a:off x="457200" y="274638"/>
            <a:ext cx="6019800" cy="5851525"/>
          </a:xfrm>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EB0C3AEF-DBC5-43C6-9CD6-460BB0527B52}" type="datetimeFigureOut">
              <a:rPr lang="pt-BR" smtClean="0"/>
              <a:t>09/02/2012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10C0A99E-E1C4-4E62-8FBF-21F300609FD1}" type="slidenum">
              <a:rPr lang="pt-BR" smtClean="0"/>
              <a:t>‹nº›</a:t>
            </a:fld>
            <a:endParaRPr lang="pt-BR"/>
          </a:p>
        </p:txBody>
      </p:sp>
    </p:spTree>
    <p:extLst>
      <p:ext uri="{BB962C8B-B14F-4D97-AF65-F5344CB8AC3E}">
        <p14:creationId xmlns:p14="http://schemas.microsoft.com/office/powerpoint/2010/main" val="3731633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t-BR" smtClean="0"/>
              <a:t>Clique para editar o título mestre</a:t>
            </a:r>
            <a:endParaRPr lang="pt-BR"/>
          </a:p>
        </p:txBody>
      </p:sp>
      <p:sp>
        <p:nvSpPr>
          <p:cNvPr id="3" name="Espaço Reservado para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0C3AEF-DBC5-43C6-9CD6-460BB0527B52}" type="datetimeFigureOut">
              <a:rPr lang="pt-BR" smtClean="0"/>
              <a:t>09/02/2012</a:t>
            </a:fld>
            <a:endParaRPr lang="pt-BR"/>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C0A99E-E1C4-4E62-8FBF-21F300609FD1}" type="slidenum">
              <a:rPr lang="pt-BR" smtClean="0"/>
              <a:t>‹nº›</a:t>
            </a:fld>
            <a:endParaRPr lang="pt-BR"/>
          </a:p>
        </p:txBody>
      </p:sp>
    </p:spTree>
    <p:extLst>
      <p:ext uri="{BB962C8B-B14F-4D97-AF65-F5344CB8AC3E}">
        <p14:creationId xmlns:p14="http://schemas.microsoft.com/office/powerpoint/2010/main" val="3489609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package" Target="../embeddings/Documento_do_Microsoft_Word1.doc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6.emf"/></Relationships>
</file>

<file path=ppt/slides/_rels/slide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n-US" dirty="0" err="1" smtClean="0"/>
              <a:t>Introdução</a:t>
            </a:r>
            <a:r>
              <a:rPr lang="en-US" dirty="0" smtClean="0"/>
              <a:t> à </a:t>
            </a:r>
            <a:r>
              <a:rPr lang="en-US" dirty="0" err="1" smtClean="0"/>
              <a:t>Programação</a:t>
            </a:r>
            <a:endParaRPr lang="pt-BR" dirty="0"/>
          </a:p>
        </p:txBody>
      </p:sp>
      <p:sp>
        <p:nvSpPr>
          <p:cNvPr id="3" name="Subtítulo 2"/>
          <p:cNvSpPr>
            <a:spLocks noGrp="1"/>
          </p:cNvSpPr>
          <p:nvPr>
            <p:ph type="subTitle" idx="1"/>
          </p:nvPr>
        </p:nvSpPr>
        <p:spPr/>
        <p:txBody>
          <a:bodyPr/>
          <a:lstStyle/>
          <a:p>
            <a:pPr algn="r"/>
            <a:endParaRPr lang="en-US" dirty="0" smtClean="0"/>
          </a:p>
          <a:p>
            <a:pPr algn="r"/>
            <a:endParaRPr lang="en-US" dirty="0"/>
          </a:p>
          <a:p>
            <a:pPr algn="r"/>
            <a:r>
              <a:rPr lang="en-US" dirty="0" smtClean="0"/>
              <a:t>Prof. William </a:t>
            </a:r>
            <a:r>
              <a:rPr lang="en-US" dirty="0" err="1" smtClean="0"/>
              <a:t>Malvezzi</a:t>
            </a:r>
            <a:r>
              <a:rPr lang="en-US" dirty="0" smtClean="0"/>
              <a:t>, MSc.</a:t>
            </a:r>
            <a:endParaRPr lang="pt-BR" dirty="0"/>
          </a:p>
        </p:txBody>
      </p:sp>
    </p:spTree>
    <p:extLst>
      <p:ext uri="{BB962C8B-B14F-4D97-AF65-F5344CB8AC3E}">
        <p14:creationId xmlns:p14="http://schemas.microsoft.com/office/powerpoint/2010/main" val="90005839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err="1" smtClean="0"/>
              <a:t>Introdução</a:t>
            </a:r>
            <a:endParaRPr lang="pt-BR" dirty="0"/>
          </a:p>
        </p:txBody>
      </p:sp>
      <p:sp>
        <p:nvSpPr>
          <p:cNvPr id="3" name="Espaço Reservado para Conteúdo 2"/>
          <p:cNvSpPr>
            <a:spLocks noGrp="1"/>
          </p:cNvSpPr>
          <p:nvPr>
            <p:ph idx="1"/>
          </p:nvPr>
        </p:nvSpPr>
        <p:spPr>
          <a:xfrm>
            <a:off x="0" y="1124744"/>
            <a:ext cx="9144000" cy="5616624"/>
          </a:xfrm>
        </p:spPr>
        <p:txBody>
          <a:bodyPr>
            <a:normAutofit/>
          </a:bodyPr>
          <a:lstStyle/>
          <a:p>
            <a:endParaRPr lang="pt-BR" dirty="0" smtClean="0"/>
          </a:p>
          <a:p>
            <a:endParaRPr lang="pt-BR" dirty="0"/>
          </a:p>
          <a:p>
            <a:r>
              <a:rPr lang="pt-BR" dirty="0" smtClean="0"/>
              <a:t>O </a:t>
            </a:r>
            <a:r>
              <a:rPr lang="pt-BR" dirty="0"/>
              <a:t>ser humano desde o inicio de sua existência tem procurado meios para solucionar seus problemas. Com o tempo ele foi criando recursos, ferramentas e máquinas para ajudá-lo. </a:t>
            </a:r>
          </a:p>
        </p:txBody>
      </p:sp>
    </p:spTree>
    <p:extLst>
      <p:ext uri="{BB962C8B-B14F-4D97-AF65-F5344CB8AC3E}">
        <p14:creationId xmlns:p14="http://schemas.microsoft.com/office/powerpoint/2010/main" val="272644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err="1" smtClean="0"/>
              <a:t>Introdução</a:t>
            </a:r>
            <a:endParaRPr lang="pt-BR" dirty="0"/>
          </a:p>
        </p:txBody>
      </p:sp>
      <p:sp>
        <p:nvSpPr>
          <p:cNvPr id="3" name="Espaço Reservado para Conteúdo 2"/>
          <p:cNvSpPr>
            <a:spLocks noGrp="1"/>
          </p:cNvSpPr>
          <p:nvPr>
            <p:ph idx="1"/>
          </p:nvPr>
        </p:nvSpPr>
        <p:spPr>
          <a:xfrm>
            <a:off x="0" y="1124744"/>
            <a:ext cx="9144000" cy="5616624"/>
          </a:xfrm>
        </p:spPr>
        <p:txBody>
          <a:bodyPr>
            <a:normAutofit/>
          </a:bodyPr>
          <a:lstStyle/>
          <a:p>
            <a:endParaRPr lang="pt-BR" dirty="0" smtClean="0"/>
          </a:p>
          <a:p>
            <a:r>
              <a:rPr lang="pt-BR" dirty="0" smtClean="0"/>
              <a:t>A </a:t>
            </a:r>
            <a:r>
              <a:rPr lang="pt-BR" dirty="0"/>
              <a:t>revolução industrial foi o estopim para que a tecnologia começasse a avançar e nos dias de hoje o computador é uma das ferramentas mais utilizadas. </a:t>
            </a:r>
            <a:endParaRPr lang="pt-BR" dirty="0" smtClean="0"/>
          </a:p>
          <a:p>
            <a:r>
              <a:rPr lang="pt-BR" dirty="0" smtClean="0"/>
              <a:t>Na </a:t>
            </a:r>
            <a:r>
              <a:rPr lang="pt-BR" dirty="0"/>
              <a:t>maior parte das profissões o  encontramos auxiliando nas tarefas mais simples até as mais complexas.</a:t>
            </a:r>
          </a:p>
          <a:p>
            <a:endParaRPr lang="pt-BR" dirty="0"/>
          </a:p>
        </p:txBody>
      </p:sp>
    </p:spTree>
    <p:extLst>
      <p:ext uri="{BB962C8B-B14F-4D97-AF65-F5344CB8AC3E}">
        <p14:creationId xmlns:p14="http://schemas.microsoft.com/office/powerpoint/2010/main" val="926544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err="1" smtClean="0"/>
              <a:t>Introdução</a:t>
            </a:r>
            <a:endParaRPr lang="pt-BR" dirty="0"/>
          </a:p>
        </p:txBody>
      </p:sp>
      <p:sp>
        <p:nvSpPr>
          <p:cNvPr id="3" name="Espaço Reservado para Conteúdo 2"/>
          <p:cNvSpPr>
            <a:spLocks noGrp="1"/>
          </p:cNvSpPr>
          <p:nvPr>
            <p:ph idx="1"/>
          </p:nvPr>
        </p:nvSpPr>
        <p:spPr>
          <a:xfrm>
            <a:off x="251520" y="1600200"/>
            <a:ext cx="8712968" cy="4997152"/>
          </a:xfrm>
        </p:spPr>
        <p:txBody>
          <a:bodyPr>
            <a:normAutofit/>
          </a:bodyPr>
          <a:lstStyle/>
          <a:p>
            <a:r>
              <a:rPr lang="pt-BR" dirty="0"/>
              <a:t>Para muitos ainda, os computadores são “seres abstratos”, muitos acreditam que os eles fazem tudo sozinhos, mas sabemos que isso não é uma verdade. O computador só executa o que programamos. É justamente neste ponto que entramos. Como fazer programas de computadores? </a:t>
            </a:r>
          </a:p>
        </p:txBody>
      </p:sp>
    </p:spTree>
    <p:extLst>
      <p:ext uri="{BB962C8B-B14F-4D97-AF65-F5344CB8AC3E}">
        <p14:creationId xmlns:p14="http://schemas.microsoft.com/office/powerpoint/2010/main" val="37661314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err="1" smtClean="0"/>
              <a:t>Introdução</a:t>
            </a:r>
            <a:endParaRPr lang="pt-BR" dirty="0"/>
          </a:p>
        </p:txBody>
      </p:sp>
      <p:sp>
        <p:nvSpPr>
          <p:cNvPr id="3" name="Espaço Reservado para Conteúdo 2"/>
          <p:cNvSpPr>
            <a:spLocks noGrp="1"/>
          </p:cNvSpPr>
          <p:nvPr>
            <p:ph idx="1"/>
          </p:nvPr>
        </p:nvSpPr>
        <p:spPr>
          <a:xfrm>
            <a:off x="251520" y="1600200"/>
            <a:ext cx="8712968" cy="4997152"/>
          </a:xfrm>
        </p:spPr>
        <p:txBody>
          <a:bodyPr>
            <a:normAutofit/>
          </a:bodyPr>
          <a:lstStyle/>
          <a:p>
            <a:endParaRPr lang="pt-BR" dirty="0" smtClean="0"/>
          </a:p>
          <a:p>
            <a:r>
              <a:rPr lang="pt-BR" dirty="0" smtClean="0"/>
              <a:t>Muitos </a:t>
            </a:r>
            <a:r>
              <a:rPr lang="pt-BR" dirty="0"/>
              <a:t>de vocês conhecem o computador como usuários e talvez nem saibam como é desenvolver um programa. </a:t>
            </a:r>
            <a:endParaRPr lang="pt-BR" dirty="0" smtClean="0"/>
          </a:p>
          <a:p>
            <a:r>
              <a:rPr lang="pt-BR" dirty="0" smtClean="0"/>
              <a:t>É </a:t>
            </a:r>
            <a:r>
              <a:rPr lang="pt-BR" dirty="0"/>
              <a:t>isso que iremos aprender! Fazer um programa! Mas o que é um programa? Você deve estar se perguntando!</a:t>
            </a:r>
          </a:p>
          <a:p>
            <a:endParaRPr lang="pt-BR" dirty="0"/>
          </a:p>
        </p:txBody>
      </p:sp>
    </p:spTree>
    <p:extLst>
      <p:ext uri="{BB962C8B-B14F-4D97-AF65-F5344CB8AC3E}">
        <p14:creationId xmlns:p14="http://schemas.microsoft.com/office/powerpoint/2010/main" val="80809275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smtClean="0"/>
              <a:t>O </a:t>
            </a:r>
            <a:r>
              <a:rPr lang="en-US" dirty="0" err="1" smtClean="0"/>
              <a:t>que</a:t>
            </a:r>
            <a:r>
              <a:rPr lang="en-US" dirty="0" smtClean="0"/>
              <a:t> é?</a:t>
            </a:r>
            <a:endParaRPr lang="pt-BR" dirty="0"/>
          </a:p>
        </p:txBody>
      </p:sp>
      <p:sp>
        <p:nvSpPr>
          <p:cNvPr id="3" name="Espaço Reservado para Conteúdo 2"/>
          <p:cNvSpPr>
            <a:spLocks noGrp="1"/>
          </p:cNvSpPr>
          <p:nvPr>
            <p:ph idx="1"/>
          </p:nvPr>
        </p:nvSpPr>
        <p:spPr/>
        <p:txBody>
          <a:bodyPr/>
          <a:lstStyle/>
          <a:p>
            <a:endParaRPr lang="pt-BR" dirty="0" smtClean="0"/>
          </a:p>
          <a:p>
            <a:endParaRPr lang="pt-BR" dirty="0"/>
          </a:p>
          <a:p>
            <a:r>
              <a:rPr lang="pt-BR" dirty="0" smtClean="0"/>
              <a:t>“</a:t>
            </a:r>
            <a:r>
              <a:rPr lang="pt-BR" dirty="0"/>
              <a:t>Um programa é a </a:t>
            </a:r>
            <a:r>
              <a:rPr lang="pt-BR" dirty="0" smtClean="0"/>
              <a:t>codificação </a:t>
            </a:r>
            <a:r>
              <a:rPr lang="pt-BR" dirty="0"/>
              <a:t>em </a:t>
            </a:r>
            <a:r>
              <a:rPr lang="pt-BR" dirty="0" err="1"/>
              <a:t>portugol</a:t>
            </a:r>
            <a:r>
              <a:rPr lang="pt-BR" dirty="0"/>
              <a:t> em uma determinada linguagem de programação”, </a:t>
            </a:r>
            <a:r>
              <a:rPr lang="pt-BR" dirty="0" err="1"/>
              <a:t>Ascencio</a:t>
            </a:r>
            <a:r>
              <a:rPr lang="pt-BR" dirty="0"/>
              <a:t>, (1999). </a:t>
            </a:r>
          </a:p>
          <a:p>
            <a:endParaRPr lang="pt-BR" dirty="0"/>
          </a:p>
        </p:txBody>
      </p:sp>
    </p:spTree>
    <p:extLst>
      <p:ext uri="{BB962C8B-B14F-4D97-AF65-F5344CB8AC3E}">
        <p14:creationId xmlns:p14="http://schemas.microsoft.com/office/powerpoint/2010/main" val="139329094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p:txBody>
          <a:bodyPr/>
          <a:lstStyle/>
          <a:p>
            <a:endParaRPr lang="pt-BR" dirty="0" smtClean="0"/>
          </a:p>
          <a:p>
            <a:r>
              <a:rPr lang="pt-BR" dirty="0" smtClean="0"/>
              <a:t>Alguns </a:t>
            </a:r>
            <a:r>
              <a:rPr lang="pt-BR" dirty="0"/>
              <a:t>de meus alunos acham que programar é sentar em frente ao micro e sair digitando códigos de programação. </a:t>
            </a:r>
            <a:endParaRPr lang="pt-BR" dirty="0" smtClean="0"/>
          </a:p>
          <a:p>
            <a:r>
              <a:rPr lang="pt-BR" dirty="0" smtClean="0"/>
              <a:t>Essa </a:t>
            </a:r>
            <a:r>
              <a:rPr lang="pt-BR" dirty="0"/>
              <a:t>maneira de pensar é errônea, o bom raciocínio lógico revela o bom programador. </a:t>
            </a:r>
          </a:p>
          <a:p>
            <a:pPr marL="0" indent="0">
              <a:buNone/>
            </a:pPr>
            <a:endParaRPr lang="pt-BR" dirty="0"/>
          </a:p>
        </p:txBody>
      </p:sp>
    </p:spTree>
    <p:extLst>
      <p:ext uri="{BB962C8B-B14F-4D97-AF65-F5344CB8AC3E}">
        <p14:creationId xmlns:p14="http://schemas.microsoft.com/office/powerpoint/2010/main" val="38124458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p:txBody>
          <a:bodyPr/>
          <a:lstStyle/>
          <a:p>
            <a:endParaRPr lang="pt-BR" dirty="0" smtClean="0"/>
          </a:p>
          <a:p>
            <a:r>
              <a:rPr lang="pt-BR" dirty="0" smtClean="0"/>
              <a:t>Nosso </a:t>
            </a:r>
            <a:r>
              <a:rPr lang="pt-BR" dirty="0"/>
              <a:t>raciocínio vai influenciar diretamente a lógica de programação. Para isso, temos algumas formas de representação da Lógica, que veremos adiante.</a:t>
            </a:r>
          </a:p>
          <a:p>
            <a:endParaRPr lang="pt-BR" dirty="0"/>
          </a:p>
        </p:txBody>
      </p:sp>
    </p:spTree>
    <p:extLst>
      <p:ext uri="{BB962C8B-B14F-4D97-AF65-F5344CB8AC3E}">
        <p14:creationId xmlns:p14="http://schemas.microsoft.com/office/powerpoint/2010/main" val="305477421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Programas</a:t>
            </a:r>
            <a:endParaRPr lang="pt-BR" dirty="0"/>
          </a:p>
        </p:txBody>
      </p:sp>
      <p:sp>
        <p:nvSpPr>
          <p:cNvPr id="3" name="Espaço Reservado para Conteúdo 2"/>
          <p:cNvSpPr>
            <a:spLocks noGrp="1"/>
          </p:cNvSpPr>
          <p:nvPr>
            <p:ph idx="1"/>
          </p:nvPr>
        </p:nvSpPr>
        <p:spPr/>
        <p:txBody>
          <a:bodyPr/>
          <a:lstStyle/>
          <a:p>
            <a:r>
              <a:rPr lang="pt-BR" dirty="0"/>
              <a:t>Os programas de computadores nada mais são do que algoritmos escritos numa linguagem de computador, você já deve ter ouvido falar em algumas linguagens de programação, tais como Java, C, C++, </a:t>
            </a:r>
            <a:r>
              <a:rPr lang="pt-BR" dirty="0" smtClean="0"/>
              <a:t>Pascal, PHP, etc.</a:t>
            </a:r>
            <a:endParaRPr lang="pt-BR" dirty="0"/>
          </a:p>
        </p:txBody>
      </p:sp>
    </p:spTree>
    <p:extLst>
      <p:ext uri="{BB962C8B-B14F-4D97-AF65-F5344CB8AC3E}">
        <p14:creationId xmlns:p14="http://schemas.microsoft.com/office/powerpoint/2010/main" val="26616896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Representação da lógica</a:t>
            </a:r>
            <a:endParaRPr lang="pt-BR" dirty="0"/>
          </a:p>
        </p:txBody>
      </p:sp>
      <p:sp>
        <p:nvSpPr>
          <p:cNvPr id="3" name="Espaço Reservado para Conteúdo 2"/>
          <p:cNvSpPr>
            <a:spLocks noGrp="1"/>
          </p:cNvSpPr>
          <p:nvPr>
            <p:ph idx="1"/>
          </p:nvPr>
        </p:nvSpPr>
        <p:spPr/>
        <p:txBody>
          <a:bodyPr/>
          <a:lstStyle/>
          <a:p>
            <a:pPr marL="0" indent="0">
              <a:buNone/>
            </a:pPr>
            <a:r>
              <a:rPr lang="pt-BR" dirty="0"/>
              <a:t>Na linguagem computacional temos três tipos de algoritmos mais utilizados, são eles: </a:t>
            </a:r>
            <a:endParaRPr lang="pt-BR" dirty="0" smtClean="0"/>
          </a:p>
          <a:p>
            <a:r>
              <a:rPr lang="pt-BR" b="1" dirty="0" smtClean="0"/>
              <a:t>descrição </a:t>
            </a:r>
            <a:r>
              <a:rPr lang="pt-BR" b="1" dirty="0"/>
              <a:t>narrativa, </a:t>
            </a:r>
            <a:endParaRPr lang="pt-BR" b="1" dirty="0" smtClean="0"/>
          </a:p>
          <a:p>
            <a:r>
              <a:rPr lang="pt-BR" b="1" dirty="0" smtClean="0"/>
              <a:t>fluxograma </a:t>
            </a:r>
            <a:r>
              <a:rPr lang="pt-BR" dirty="0"/>
              <a:t>e</a:t>
            </a:r>
            <a:r>
              <a:rPr lang="pt-BR" b="1" dirty="0"/>
              <a:t> </a:t>
            </a:r>
            <a:endParaRPr lang="pt-BR" b="1" dirty="0" smtClean="0"/>
          </a:p>
          <a:p>
            <a:r>
              <a:rPr lang="pt-BR" b="1" dirty="0" smtClean="0"/>
              <a:t>pseudocódigo </a:t>
            </a:r>
            <a:r>
              <a:rPr lang="pt-BR" b="1" dirty="0"/>
              <a:t>ou </a:t>
            </a:r>
            <a:r>
              <a:rPr lang="pt-BR" b="1" dirty="0" err="1"/>
              <a:t>portugol</a:t>
            </a:r>
            <a:r>
              <a:rPr lang="pt-BR" dirty="0"/>
              <a:t>, </a:t>
            </a:r>
            <a:endParaRPr lang="pt-BR" dirty="0" smtClean="0"/>
          </a:p>
          <a:p>
            <a:pPr marL="0" indent="0">
              <a:buNone/>
            </a:pPr>
            <a:r>
              <a:rPr lang="pt-BR" dirty="0"/>
              <a:t> </a:t>
            </a:r>
            <a:r>
              <a:rPr lang="pt-BR" dirty="0" smtClean="0"/>
              <a:t> que </a:t>
            </a:r>
            <a:r>
              <a:rPr lang="pt-BR" dirty="0"/>
              <a:t>descreveremos a seguir.</a:t>
            </a:r>
          </a:p>
          <a:p>
            <a:endParaRPr lang="pt-BR" dirty="0"/>
          </a:p>
        </p:txBody>
      </p:sp>
    </p:spTree>
    <p:extLst>
      <p:ext uri="{BB962C8B-B14F-4D97-AF65-F5344CB8AC3E}">
        <p14:creationId xmlns:p14="http://schemas.microsoft.com/office/powerpoint/2010/main" val="61861797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err="1" smtClean="0"/>
              <a:t>Algoritmo</a:t>
            </a:r>
            <a:endParaRPr lang="pt-BR" dirty="0"/>
          </a:p>
        </p:txBody>
      </p:sp>
      <p:sp>
        <p:nvSpPr>
          <p:cNvPr id="3" name="Espaço Reservado para Conteúdo 2"/>
          <p:cNvSpPr>
            <a:spLocks noGrp="1"/>
          </p:cNvSpPr>
          <p:nvPr>
            <p:ph idx="1"/>
          </p:nvPr>
        </p:nvSpPr>
        <p:spPr/>
        <p:txBody>
          <a:bodyPr>
            <a:normAutofit/>
          </a:bodyPr>
          <a:lstStyle/>
          <a:p>
            <a:r>
              <a:rPr lang="pt-BR" dirty="0"/>
              <a:t>“Algoritmo é a descrição de uma sequência de passos que deve ser seguida para a realização de uma tarefa” </a:t>
            </a:r>
            <a:r>
              <a:rPr lang="pt-BR" dirty="0" smtClean="0"/>
              <a:t>,(</a:t>
            </a:r>
            <a:r>
              <a:rPr lang="pt-BR" dirty="0" err="1" smtClean="0"/>
              <a:t>Ascencio</a:t>
            </a:r>
            <a:r>
              <a:rPr lang="pt-BR" dirty="0"/>
              <a:t>, </a:t>
            </a:r>
            <a:r>
              <a:rPr lang="pt-BR" dirty="0" smtClean="0"/>
              <a:t>1999</a:t>
            </a:r>
            <a:r>
              <a:rPr lang="pt-BR" dirty="0"/>
              <a:t>)</a:t>
            </a:r>
            <a:r>
              <a:rPr lang="pt-BR" dirty="0" smtClean="0"/>
              <a:t>.</a:t>
            </a:r>
            <a:endParaRPr lang="pt-BR" dirty="0"/>
          </a:p>
          <a:p>
            <a:r>
              <a:rPr lang="pt-BR" dirty="0"/>
              <a:t>“Algoritmo é uma sequência finita de instruções ou operações cuja execução, em tempo finito, resolve um problema computacional, qualquer que seja sua instância”, (</a:t>
            </a:r>
            <a:r>
              <a:rPr lang="pt-BR" dirty="0" err="1"/>
              <a:t>Salvetti</a:t>
            </a:r>
            <a:r>
              <a:rPr lang="pt-BR" dirty="0"/>
              <a:t>, 1999).</a:t>
            </a:r>
          </a:p>
        </p:txBody>
      </p:sp>
    </p:spTree>
    <p:extLst>
      <p:ext uri="{BB962C8B-B14F-4D97-AF65-F5344CB8AC3E}">
        <p14:creationId xmlns:p14="http://schemas.microsoft.com/office/powerpoint/2010/main" val="194850752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a:t>Regras para construção do </a:t>
            </a:r>
            <a:r>
              <a:rPr lang="pt-BR" dirty="0" smtClean="0"/>
              <a:t>Algoritmo</a:t>
            </a:r>
            <a:endParaRPr lang="pt-BR" dirty="0"/>
          </a:p>
        </p:txBody>
      </p:sp>
      <p:sp>
        <p:nvSpPr>
          <p:cNvPr id="3" name="Espaço Reservado para Conteúdo 2"/>
          <p:cNvSpPr>
            <a:spLocks noGrp="1"/>
          </p:cNvSpPr>
          <p:nvPr>
            <p:ph idx="1"/>
          </p:nvPr>
        </p:nvSpPr>
        <p:spPr/>
        <p:txBody>
          <a:bodyPr/>
          <a:lstStyle/>
          <a:p>
            <a:pPr lvl="0"/>
            <a:r>
              <a:rPr lang="pt-BR" dirty="0"/>
              <a:t>Use um verbo por frase, seja objetivo. </a:t>
            </a:r>
          </a:p>
          <a:p>
            <a:pPr lvl="0"/>
            <a:r>
              <a:rPr lang="pt-BR" dirty="0"/>
              <a:t>O teu algoritmo dever se simples o suficiente de tal maneira que uma pessoa que não trabalha com informática entenda.</a:t>
            </a:r>
          </a:p>
          <a:p>
            <a:pPr lvl="0"/>
            <a:r>
              <a:rPr lang="pt-BR" dirty="0"/>
              <a:t>Não use frases rebuscadas e confusas, seja simples e claro no seu objetivo.</a:t>
            </a:r>
          </a:p>
          <a:p>
            <a:pPr lvl="0"/>
            <a:r>
              <a:rPr lang="pt-BR" dirty="0"/>
              <a:t>Não use palavras que deixe margem de dúvidas.</a:t>
            </a:r>
          </a:p>
          <a:p>
            <a:endParaRPr lang="pt-BR" dirty="0"/>
          </a:p>
        </p:txBody>
      </p:sp>
    </p:spTree>
    <p:extLst>
      <p:ext uri="{BB962C8B-B14F-4D97-AF65-F5344CB8AC3E}">
        <p14:creationId xmlns:p14="http://schemas.microsoft.com/office/powerpoint/2010/main" val="259262846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dirty="0"/>
              <a:t>Fases de um </a:t>
            </a:r>
            <a:r>
              <a:rPr lang="pt-BR" dirty="0" smtClean="0"/>
              <a:t>Algoritmo</a:t>
            </a:r>
            <a:endParaRPr lang="pt-BR" dirty="0"/>
          </a:p>
        </p:txBody>
      </p:sp>
      <p:sp>
        <p:nvSpPr>
          <p:cNvPr id="3" name="Espaço Reservado para Conteúdo 2"/>
          <p:cNvSpPr>
            <a:spLocks noGrp="1"/>
          </p:cNvSpPr>
          <p:nvPr>
            <p:ph idx="1"/>
          </p:nvPr>
        </p:nvSpPr>
        <p:spPr/>
        <p:txBody>
          <a:bodyPr/>
          <a:lstStyle/>
          <a:p>
            <a:endParaRPr lang="pt-BR" dirty="0" smtClean="0"/>
          </a:p>
          <a:p>
            <a:r>
              <a:rPr lang="pt-BR" dirty="0" smtClean="0"/>
              <a:t>Se </a:t>
            </a:r>
            <a:r>
              <a:rPr lang="pt-BR" dirty="0"/>
              <a:t>não soubermos desenvolver um bom algoritmo dificilmente conseguiremos ser um bom programador. </a:t>
            </a:r>
            <a:endParaRPr lang="pt-BR" dirty="0" smtClean="0"/>
          </a:p>
          <a:p>
            <a:r>
              <a:rPr lang="pt-BR" dirty="0" smtClean="0"/>
              <a:t>Portanto</a:t>
            </a:r>
            <a:r>
              <a:rPr lang="pt-BR" dirty="0"/>
              <a:t>, antes de sentarmos diante do computador para desenvolver um programa é preciso definir nossas metas. 	</a:t>
            </a:r>
          </a:p>
          <a:p>
            <a:pPr marL="0" indent="0">
              <a:buNone/>
            </a:pPr>
            <a:endParaRPr lang="pt-BR" dirty="0"/>
          </a:p>
        </p:txBody>
      </p:sp>
    </p:spTree>
    <p:extLst>
      <p:ext uri="{BB962C8B-B14F-4D97-AF65-F5344CB8AC3E}">
        <p14:creationId xmlns:p14="http://schemas.microsoft.com/office/powerpoint/2010/main" val="89527196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a:t>Por isso, diante de um problema devemos agir da seguinte maneira:</a:t>
            </a:r>
            <a:br>
              <a:rPr lang="pt-BR" dirty="0"/>
            </a:br>
            <a:endParaRPr lang="pt-BR" dirty="0"/>
          </a:p>
        </p:txBody>
      </p:sp>
      <p:sp>
        <p:nvSpPr>
          <p:cNvPr id="3" name="Espaço Reservado para Conteúdo 2"/>
          <p:cNvSpPr>
            <a:spLocks noGrp="1"/>
          </p:cNvSpPr>
          <p:nvPr>
            <p:ph idx="1"/>
          </p:nvPr>
        </p:nvSpPr>
        <p:spPr>
          <a:xfrm>
            <a:off x="0" y="1600200"/>
            <a:ext cx="9144000" cy="5141168"/>
          </a:xfrm>
        </p:spPr>
        <p:txBody>
          <a:bodyPr>
            <a:normAutofit/>
          </a:bodyPr>
          <a:lstStyle/>
          <a:p>
            <a:pPr marL="514350" lvl="0" indent="-514350">
              <a:buFont typeface="+mj-lt"/>
              <a:buAutoNum type="arabicPeriod"/>
            </a:pPr>
            <a:endParaRPr lang="pt-BR" dirty="0" smtClean="0"/>
          </a:p>
          <a:p>
            <a:pPr marL="514350" lvl="0" indent="-514350">
              <a:buFont typeface="+mj-lt"/>
              <a:buAutoNum type="arabicPeriod"/>
            </a:pPr>
            <a:r>
              <a:rPr lang="pt-BR" dirty="0" smtClean="0"/>
              <a:t>Faça </a:t>
            </a:r>
            <a:r>
              <a:rPr lang="pt-BR" dirty="0"/>
              <a:t>uma leitura de todo o problema até o final, a fim de formar a primeira impressão.  A seguir, releia o problema e faça anotações sobre os pontos principais</a:t>
            </a:r>
            <a:r>
              <a:rPr lang="pt-BR" dirty="0" smtClean="0"/>
              <a:t>.</a:t>
            </a:r>
          </a:p>
          <a:p>
            <a:pPr marL="514350" lvl="0" indent="-514350">
              <a:buFont typeface="+mj-lt"/>
              <a:buAutoNum type="arabicPeriod"/>
            </a:pPr>
            <a:r>
              <a:rPr lang="pt-BR" dirty="0" smtClean="0"/>
              <a:t>Verifique </a:t>
            </a:r>
            <a:r>
              <a:rPr lang="pt-BR" dirty="0"/>
              <a:t>se o problema foi bem entendido.  Questione, se preciso, ao autor da especificação sobre suas dúvidas. Releia o problema quantas vezes for preciso para tentar entendê-lo.</a:t>
            </a:r>
          </a:p>
          <a:p>
            <a:endParaRPr lang="pt-BR" dirty="0"/>
          </a:p>
        </p:txBody>
      </p:sp>
    </p:spTree>
    <p:extLst>
      <p:ext uri="{BB962C8B-B14F-4D97-AF65-F5344CB8AC3E}">
        <p14:creationId xmlns:p14="http://schemas.microsoft.com/office/powerpoint/2010/main" val="350372423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251520" y="188640"/>
            <a:ext cx="8712968" cy="6480720"/>
          </a:xfrm>
        </p:spPr>
        <p:txBody>
          <a:bodyPr>
            <a:normAutofit/>
          </a:bodyPr>
          <a:lstStyle/>
          <a:p>
            <a:pPr marL="0" indent="0">
              <a:buNone/>
            </a:pPr>
            <a:endParaRPr lang="pt-BR" dirty="0" smtClean="0"/>
          </a:p>
          <a:p>
            <a:pPr marL="0" indent="0">
              <a:buNone/>
            </a:pPr>
            <a:endParaRPr lang="pt-BR" dirty="0"/>
          </a:p>
          <a:p>
            <a:pPr marL="0" indent="0">
              <a:buNone/>
            </a:pPr>
            <a:r>
              <a:rPr lang="pt-BR" dirty="0" smtClean="0"/>
              <a:t>3. Extraia </a:t>
            </a:r>
            <a:r>
              <a:rPr lang="pt-BR" dirty="0"/>
              <a:t>do problema todas as suas </a:t>
            </a:r>
            <a:r>
              <a:rPr lang="pt-BR" u="sng" dirty="0"/>
              <a:t>saídas</a:t>
            </a:r>
            <a:r>
              <a:rPr lang="pt-BR" dirty="0"/>
              <a:t>.</a:t>
            </a:r>
          </a:p>
          <a:p>
            <a:pPr marL="0" indent="0">
              <a:buNone/>
            </a:pPr>
            <a:r>
              <a:rPr lang="pt-BR" dirty="0" smtClean="0"/>
              <a:t>4. Extraia </a:t>
            </a:r>
            <a:r>
              <a:rPr lang="pt-BR" dirty="0"/>
              <a:t>do problema todas as suas </a:t>
            </a:r>
            <a:r>
              <a:rPr lang="pt-BR" u="sng" dirty="0"/>
              <a:t>entradas</a:t>
            </a:r>
            <a:r>
              <a:rPr lang="pt-BR" dirty="0"/>
              <a:t>.</a:t>
            </a:r>
          </a:p>
          <a:p>
            <a:pPr marL="0" indent="0">
              <a:buNone/>
            </a:pPr>
            <a:r>
              <a:rPr lang="pt-BR" dirty="0" smtClean="0"/>
              <a:t>5. Identifique </a:t>
            </a:r>
            <a:r>
              <a:rPr lang="pt-BR" dirty="0"/>
              <a:t>qual é o processamento principal</a:t>
            </a:r>
            <a:r>
              <a:rPr lang="pt-BR" dirty="0" smtClean="0"/>
              <a:t>.</a:t>
            </a:r>
          </a:p>
          <a:p>
            <a:pPr marL="0" indent="0">
              <a:buNone/>
            </a:pPr>
            <a:r>
              <a:rPr lang="en-US" dirty="0" smtClean="0"/>
              <a:t>6. </a:t>
            </a:r>
            <a:r>
              <a:rPr lang="pt-BR" dirty="0"/>
              <a:t>Verifique se será necessário algum valor </a:t>
            </a:r>
            <a:r>
              <a:rPr lang="pt-BR" dirty="0" smtClean="0"/>
              <a:t>       	intermediário </a:t>
            </a:r>
            <a:r>
              <a:rPr lang="pt-BR" dirty="0"/>
              <a:t>que auxilie a transformação das </a:t>
            </a:r>
            <a:r>
              <a:rPr lang="pt-BR" dirty="0" smtClean="0"/>
              <a:t>	entradas </a:t>
            </a:r>
            <a:r>
              <a:rPr lang="pt-BR" dirty="0"/>
              <a:t>em saídas.  Esta etapa pode parecer </a:t>
            </a:r>
            <a:r>
              <a:rPr lang="pt-BR" dirty="0" smtClean="0"/>
              <a:t>	obscura </a:t>
            </a:r>
            <a:r>
              <a:rPr lang="pt-BR" dirty="0"/>
              <a:t>no início, mas com certeza no </a:t>
            </a:r>
            <a:r>
              <a:rPr lang="pt-BR" dirty="0" smtClean="0"/>
              <a:t>	desenrolar </a:t>
            </a:r>
            <a:r>
              <a:rPr lang="pt-BR" dirty="0"/>
              <a:t>do algoritmo, estes valores </a:t>
            </a:r>
            <a:r>
              <a:rPr lang="pt-BR" dirty="0" smtClean="0"/>
              <a:t>	aparecerão </a:t>
            </a:r>
            <a:r>
              <a:rPr lang="pt-BR" dirty="0"/>
              <a:t>naturalmente.</a:t>
            </a:r>
          </a:p>
          <a:p>
            <a:endParaRPr lang="pt-BR" dirty="0"/>
          </a:p>
          <a:p>
            <a:endParaRPr lang="pt-BR" dirty="0"/>
          </a:p>
        </p:txBody>
      </p:sp>
    </p:spTree>
    <p:extLst>
      <p:ext uri="{BB962C8B-B14F-4D97-AF65-F5344CB8AC3E}">
        <p14:creationId xmlns:p14="http://schemas.microsoft.com/office/powerpoint/2010/main" val="137001448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p:txBody>
          <a:bodyPr/>
          <a:lstStyle/>
          <a:p>
            <a:pPr marL="0" lvl="0" indent="0">
              <a:buNone/>
            </a:pPr>
            <a:r>
              <a:rPr lang="pt-BR" dirty="0" smtClean="0"/>
              <a:t>7. Teste cada passo do algoritmo, com todos os 	seus 	caminhos para verificar se o 	processamento está 	gerando os 	resultados esperados. Crie valores de 	teste para submeter ao algoritmo.</a:t>
            </a:r>
          </a:p>
          <a:p>
            <a:pPr marL="0" lvl="0" indent="0">
              <a:buNone/>
            </a:pPr>
            <a:r>
              <a:rPr lang="pt-BR" dirty="0" smtClean="0"/>
              <a:t>8. Reveja o algoritmo, checando as boas normas 	de criação.</a:t>
            </a:r>
          </a:p>
          <a:p>
            <a:endParaRPr lang="pt-BR" dirty="0"/>
          </a:p>
        </p:txBody>
      </p:sp>
    </p:spTree>
    <p:extLst>
      <p:ext uri="{BB962C8B-B14F-4D97-AF65-F5344CB8AC3E}">
        <p14:creationId xmlns:p14="http://schemas.microsoft.com/office/powerpoint/2010/main" val="131030421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p:txBody>
          <a:bodyPr/>
          <a:lstStyle/>
          <a:p>
            <a:r>
              <a:rPr lang="pt-BR" dirty="0"/>
              <a:t>Agora, você sabia que no dia-a-dia executamos vários tipos de algoritmos? </a:t>
            </a:r>
            <a:endParaRPr lang="pt-BR" dirty="0" smtClean="0"/>
          </a:p>
          <a:p>
            <a:r>
              <a:rPr lang="pt-BR" dirty="0" smtClean="0"/>
              <a:t>Sabe </a:t>
            </a:r>
            <a:r>
              <a:rPr lang="pt-BR" dirty="0"/>
              <a:t>como?  Imagine a seguinte situação: O objetivo é levantar às 6:00h e sair para trabalhar.</a:t>
            </a:r>
          </a:p>
        </p:txBody>
      </p:sp>
    </p:spTree>
    <p:extLst>
      <p:ext uri="{BB962C8B-B14F-4D97-AF65-F5344CB8AC3E}">
        <p14:creationId xmlns:p14="http://schemas.microsoft.com/office/powerpoint/2010/main" val="372832434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p:txBody>
          <a:bodyPr/>
          <a:lstStyle/>
          <a:p>
            <a:pPr marL="0" indent="0">
              <a:buNone/>
            </a:pPr>
            <a:r>
              <a:rPr lang="pt-BR" dirty="0"/>
              <a:t>Passo1 – desligar o despertador</a:t>
            </a:r>
          </a:p>
          <a:p>
            <a:pPr marL="0" indent="0">
              <a:buNone/>
            </a:pPr>
            <a:r>
              <a:rPr lang="pt-BR" dirty="0"/>
              <a:t>Passo 2 – </a:t>
            </a:r>
            <a:r>
              <a:rPr lang="pt-BR" dirty="0" smtClean="0"/>
              <a:t>levantar</a:t>
            </a:r>
            <a:endParaRPr lang="pt-BR" dirty="0"/>
          </a:p>
          <a:p>
            <a:pPr marL="0" indent="0">
              <a:buNone/>
            </a:pPr>
            <a:r>
              <a:rPr lang="pt-BR" dirty="0"/>
              <a:t>Passo 3 – escovar os dentes</a:t>
            </a:r>
          </a:p>
          <a:p>
            <a:pPr marL="0" indent="0">
              <a:buNone/>
            </a:pPr>
            <a:r>
              <a:rPr lang="pt-BR" dirty="0"/>
              <a:t>Passo 4- trocar de roupa</a:t>
            </a:r>
          </a:p>
          <a:p>
            <a:pPr marL="0" indent="0">
              <a:buNone/>
            </a:pPr>
            <a:r>
              <a:rPr lang="pt-BR" dirty="0"/>
              <a:t>Passo 5- tomar café</a:t>
            </a:r>
          </a:p>
          <a:p>
            <a:pPr marL="0" indent="0">
              <a:buNone/>
            </a:pPr>
            <a:r>
              <a:rPr lang="pt-BR" dirty="0"/>
              <a:t>Passo 6- sair de casa.</a:t>
            </a:r>
          </a:p>
          <a:p>
            <a:pPr marL="0" indent="0">
              <a:buNone/>
            </a:pPr>
            <a:endParaRPr lang="pt-BR" dirty="0"/>
          </a:p>
        </p:txBody>
      </p:sp>
    </p:spTree>
    <p:extLst>
      <p:ext uri="{BB962C8B-B14F-4D97-AF65-F5344CB8AC3E}">
        <p14:creationId xmlns:p14="http://schemas.microsoft.com/office/powerpoint/2010/main" val="325046672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dirty="0"/>
              <a:t>Agora tente sozinho</a:t>
            </a:r>
            <a:r>
              <a:rPr lang="pt-BR" dirty="0" smtClean="0"/>
              <a:t>:</a:t>
            </a:r>
            <a:endParaRPr lang="pt-BR" dirty="0"/>
          </a:p>
        </p:txBody>
      </p:sp>
      <p:sp>
        <p:nvSpPr>
          <p:cNvPr id="3" name="Espaço Reservado para Conteúdo 2"/>
          <p:cNvSpPr>
            <a:spLocks noGrp="1"/>
          </p:cNvSpPr>
          <p:nvPr>
            <p:ph idx="1"/>
          </p:nvPr>
        </p:nvSpPr>
        <p:spPr/>
        <p:txBody>
          <a:bodyPr>
            <a:normAutofit/>
          </a:bodyPr>
          <a:lstStyle/>
          <a:p>
            <a:r>
              <a:rPr lang="pt-BR" dirty="0" smtClean="0"/>
              <a:t>Trocar o pneu de um carro:</a:t>
            </a:r>
          </a:p>
          <a:p>
            <a:pPr marL="0" indent="0">
              <a:buNone/>
            </a:pPr>
            <a:r>
              <a:rPr lang="pt-BR" dirty="0" smtClean="0"/>
              <a:t>_________________________________________________________________________________________________________________________________________________________________________________________________________________________________________________________________________________</a:t>
            </a:r>
            <a:endParaRPr lang="pt-BR" dirty="0"/>
          </a:p>
        </p:txBody>
      </p:sp>
    </p:spTree>
    <p:extLst>
      <p:ext uri="{BB962C8B-B14F-4D97-AF65-F5344CB8AC3E}">
        <p14:creationId xmlns:p14="http://schemas.microsoft.com/office/powerpoint/2010/main" val="385989336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457200" y="1268760"/>
            <a:ext cx="8229600" cy="4857403"/>
          </a:xfrm>
        </p:spPr>
        <p:txBody>
          <a:bodyPr>
            <a:normAutofit/>
          </a:bodyPr>
          <a:lstStyle/>
          <a:p>
            <a:pPr lvl="0"/>
            <a:r>
              <a:rPr lang="pt-BR" dirty="0" smtClean="0"/>
              <a:t>Enviar </a:t>
            </a:r>
            <a:r>
              <a:rPr lang="pt-BR" dirty="0"/>
              <a:t>um </a:t>
            </a:r>
            <a:r>
              <a:rPr lang="pt-BR" dirty="0" smtClean="0"/>
              <a:t>e-mail</a:t>
            </a:r>
            <a:r>
              <a:rPr lang="pt-BR" dirty="0"/>
              <a:t>:</a:t>
            </a:r>
            <a:endParaRPr lang="pt-BR" dirty="0" smtClean="0"/>
          </a:p>
          <a:p>
            <a:pPr marL="0" lvl="0" indent="0">
              <a:buNone/>
            </a:pPr>
            <a:endParaRPr lang="pt-BR" dirty="0"/>
          </a:p>
          <a:p>
            <a:pPr marL="0" indent="0">
              <a:buNone/>
            </a:pPr>
            <a:r>
              <a:rPr lang="pt-BR" dirty="0" smtClean="0"/>
              <a:t>__________________________________________________________________________________________________________________________________________________________________________________________________________________________________________</a:t>
            </a:r>
            <a:endParaRPr lang="pt-BR" dirty="0"/>
          </a:p>
          <a:p>
            <a:endParaRPr lang="pt-BR" dirty="0"/>
          </a:p>
        </p:txBody>
      </p:sp>
    </p:spTree>
    <p:extLst>
      <p:ext uri="{BB962C8B-B14F-4D97-AF65-F5344CB8AC3E}">
        <p14:creationId xmlns:p14="http://schemas.microsoft.com/office/powerpoint/2010/main" val="426166722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p:txBody>
          <a:bodyPr/>
          <a:lstStyle/>
          <a:p>
            <a:endParaRPr lang="pt-BR" dirty="0" smtClean="0"/>
          </a:p>
          <a:p>
            <a:r>
              <a:rPr lang="pt-BR" dirty="0" smtClean="0"/>
              <a:t>Da </a:t>
            </a:r>
            <a:r>
              <a:rPr lang="pt-BR" dirty="0"/>
              <a:t>mesma maneira como ordenamos nossos pensamentos devemos ordenar nossa forma de programarmos. O computador irá executar exatamente aquilo que desenvolvermos.</a:t>
            </a:r>
          </a:p>
          <a:p>
            <a:endParaRPr lang="pt-BR" dirty="0"/>
          </a:p>
        </p:txBody>
      </p:sp>
    </p:spTree>
    <p:extLst>
      <p:ext uri="{BB962C8B-B14F-4D97-AF65-F5344CB8AC3E}">
        <p14:creationId xmlns:p14="http://schemas.microsoft.com/office/powerpoint/2010/main" val="91559699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457200" y="764704"/>
            <a:ext cx="8229600" cy="5616624"/>
          </a:xfrm>
        </p:spPr>
        <p:txBody>
          <a:bodyPr/>
          <a:lstStyle/>
          <a:p>
            <a:endParaRPr lang="pt-BR" dirty="0" smtClean="0"/>
          </a:p>
          <a:p>
            <a:r>
              <a:rPr lang="pt-BR" dirty="0" smtClean="0"/>
              <a:t>Por </a:t>
            </a:r>
            <a:r>
              <a:rPr lang="pt-BR" dirty="0"/>
              <a:t>exemplo, vamos trabalhar um exemplo simples, imagine que te peçam para somar 2 números, o que você faria? </a:t>
            </a:r>
            <a:endParaRPr lang="pt-BR" dirty="0" smtClean="0"/>
          </a:p>
          <a:p>
            <a:pPr marL="0" indent="0">
              <a:buNone/>
            </a:pPr>
            <a:endParaRPr lang="pt-BR" dirty="0" smtClean="0"/>
          </a:p>
          <a:p>
            <a:r>
              <a:rPr lang="pt-BR" dirty="0" smtClean="0"/>
              <a:t>Ah</a:t>
            </a:r>
            <a:r>
              <a:rPr lang="pt-BR" dirty="0"/>
              <a:t>, mas isso é muito fácil, você deve estar pensando. Eu peço os dois números, faço a soma e dou o resultado. Exatamente! Essa é a resposta!</a:t>
            </a:r>
          </a:p>
        </p:txBody>
      </p:sp>
    </p:spTree>
    <p:extLst>
      <p:ext uri="{BB962C8B-B14F-4D97-AF65-F5344CB8AC3E}">
        <p14:creationId xmlns:p14="http://schemas.microsoft.com/office/powerpoint/2010/main" val="413145279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a:t>Portanto, temos que ficar atentos a três passos básicos:</a:t>
            </a:r>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9029" t="35385" r="27776" b="16154"/>
          <a:stretch/>
        </p:blipFill>
        <p:spPr bwMode="auto">
          <a:xfrm>
            <a:off x="755576" y="2264898"/>
            <a:ext cx="6921304" cy="3545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7224187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Autofit/>
          </a:bodyPr>
          <a:lstStyle/>
          <a:p>
            <a:r>
              <a:rPr lang="pt-BR" sz="3200" dirty="0"/>
              <a:t>Fazendo uma analogia com o homem tem-se</a:t>
            </a:r>
            <a:r>
              <a:rPr lang="pt-BR" sz="3200" dirty="0" smtClean="0"/>
              <a:t>:</a:t>
            </a:r>
            <a:endParaRPr lang="pt-BR" sz="3200" dirty="0"/>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1787" t="20961" r="27127" b="6250"/>
          <a:stretch/>
        </p:blipFill>
        <p:spPr bwMode="auto">
          <a:xfrm>
            <a:off x="1890573" y="1560762"/>
            <a:ext cx="5345723" cy="5324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tângulo 3"/>
          <p:cNvSpPr/>
          <p:nvPr/>
        </p:nvSpPr>
        <p:spPr>
          <a:xfrm>
            <a:off x="-18890" y="6104329"/>
            <a:ext cx="3438762" cy="276999"/>
          </a:xfrm>
          <a:prstGeom prst="rect">
            <a:avLst/>
          </a:prstGeom>
        </p:spPr>
        <p:txBody>
          <a:bodyPr wrap="none">
            <a:spAutoFit/>
          </a:bodyPr>
          <a:lstStyle/>
          <a:p>
            <a:r>
              <a:rPr lang="pt-BR" b="1" baseline="30000" dirty="0"/>
              <a:t>Fonte: http://www.inf.ufrgs.br/~binsely/logica.pdf</a:t>
            </a:r>
            <a:endParaRPr lang="pt-BR" baseline="30000" dirty="0"/>
          </a:p>
        </p:txBody>
      </p:sp>
    </p:spTree>
    <p:extLst>
      <p:ext uri="{BB962C8B-B14F-4D97-AF65-F5344CB8AC3E}">
        <p14:creationId xmlns:p14="http://schemas.microsoft.com/office/powerpoint/2010/main" val="228666582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Tipos de Algoritmos</a:t>
            </a:r>
            <a:endParaRPr lang="pt-BR" dirty="0"/>
          </a:p>
        </p:txBody>
      </p:sp>
      <p:sp>
        <p:nvSpPr>
          <p:cNvPr id="3" name="Espaço Reservado para Conteúdo 2"/>
          <p:cNvSpPr>
            <a:spLocks noGrp="1"/>
          </p:cNvSpPr>
          <p:nvPr>
            <p:ph idx="1"/>
          </p:nvPr>
        </p:nvSpPr>
        <p:spPr/>
        <p:txBody>
          <a:bodyPr/>
          <a:lstStyle/>
          <a:p>
            <a:pPr marL="0" indent="0">
              <a:buNone/>
            </a:pPr>
            <a:r>
              <a:rPr lang="pt-BR" b="1" dirty="0"/>
              <a:t>Descrição Narrativa</a:t>
            </a:r>
            <a:endParaRPr lang="pt-BR" dirty="0"/>
          </a:p>
          <a:p>
            <a:pPr marL="0" indent="0">
              <a:buNone/>
            </a:pPr>
            <a:r>
              <a:rPr lang="pt-BR" dirty="0"/>
              <a:t>A descrição narrativa consiste em entender o problema proposto e escrever sua solução através da linguagem natural, ou seja, a </a:t>
            </a:r>
            <a:r>
              <a:rPr lang="pt-BR" dirty="0" smtClean="0"/>
              <a:t>língua </a:t>
            </a:r>
            <a:r>
              <a:rPr lang="pt-BR" dirty="0"/>
              <a:t>portuguesa.</a:t>
            </a:r>
          </a:p>
          <a:p>
            <a:pPr marL="0" indent="0">
              <a:buNone/>
            </a:pPr>
            <a:endParaRPr lang="pt-BR" dirty="0"/>
          </a:p>
        </p:txBody>
      </p:sp>
    </p:spTree>
    <p:extLst>
      <p:ext uri="{BB962C8B-B14F-4D97-AF65-F5344CB8AC3E}">
        <p14:creationId xmlns:p14="http://schemas.microsoft.com/office/powerpoint/2010/main" val="94462691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p:txBody>
          <a:bodyPr/>
          <a:lstStyle/>
          <a:p>
            <a:pPr marL="0" indent="0">
              <a:buNone/>
            </a:pPr>
            <a:endParaRPr lang="pt-BR" b="1" dirty="0" smtClean="0"/>
          </a:p>
          <a:p>
            <a:pPr marL="0" indent="0">
              <a:buNone/>
            </a:pPr>
            <a:r>
              <a:rPr lang="pt-BR" b="1" dirty="0" smtClean="0"/>
              <a:t>Fluxograma</a:t>
            </a:r>
            <a:endParaRPr lang="pt-BR" dirty="0"/>
          </a:p>
          <a:p>
            <a:pPr marL="0" indent="0">
              <a:buNone/>
            </a:pPr>
            <a:r>
              <a:rPr lang="pt-BR" dirty="0"/>
              <a:t>Através de um conjunto de símbolos (tabela abaixo): você define os passos para a solução do problema apresentado. </a:t>
            </a:r>
          </a:p>
          <a:p>
            <a:endParaRPr lang="pt-BR" dirty="0"/>
          </a:p>
        </p:txBody>
      </p:sp>
    </p:spTree>
    <p:extLst>
      <p:ext uri="{BB962C8B-B14F-4D97-AF65-F5344CB8AC3E}">
        <p14:creationId xmlns:p14="http://schemas.microsoft.com/office/powerpoint/2010/main" val="174110655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0" name="Picture 8"/>
          <p:cNvPicPr>
            <a:picLocks noChangeAspect="1" noChangeArrowheads="1"/>
          </p:cNvPicPr>
          <p:nvPr/>
        </p:nvPicPr>
        <p:blipFill rotWithShape="1">
          <a:blip r:embed="rId2">
            <a:extLst>
              <a:ext uri="{28A0092B-C50C-407E-A947-70E740481C1C}">
                <a14:useLocalDpi xmlns:a14="http://schemas.microsoft.com/office/drawing/2010/main" val="0"/>
              </a:ext>
            </a:extLst>
          </a:blip>
          <a:srcRect l="24406" t="25326" r="20630" b="8628"/>
          <a:stretch/>
        </p:blipFill>
        <p:spPr bwMode="auto">
          <a:xfrm>
            <a:off x="183045" y="908720"/>
            <a:ext cx="8806281" cy="5949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8565651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Pseudocódigo ou </a:t>
            </a:r>
            <a:r>
              <a:rPr lang="pt-BR" dirty="0" err="1" smtClean="0"/>
              <a:t>Portugol</a:t>
            </a:r>
            <a:endParaRPr lang="pt-BR" dirty="0"/>
          </a:p>
        </p:txBody>
      </p:sp>
      <p:sp>
        <p:nvSpPr>
          <p:cNvPr id="3" name="Espaço Reservado para Conteúdo 2"/>
          <p:cNvSpPr>
            <a:spLocks noGrp="1"/>
          </p:cNvSpPr>
          <p:nvPr>
            <p:ph idx="1"/>
          </p:nvPr>
        </p:nvSpPr>
        <p:spPr/>
        <p:txBody>
          <a:bodyPr/>
          <a:lstStyle/>
          <a:p>
            <a:endParaRPr lang="pt-BR" dirty="0" smtClean="0"/>
          </a:p>
          <a:p>
            <a:r>
              <a:rPr lang="pt-BR" dirty="0" smtClean="0"/>
              <a:t>Esta </a:t>
            </a:r>
            <a:r>
              <a:rPr lang="pt-BR" dirty="0"/>
              <a:t>estrutura é escrita em português, quase como se fosse em linguagem natural, entretanto existem regras predefinidas para escrevê-la. Vamos pegar o enunciado acima, somar dois números.</a:t>
            </a:r>
          </a:p>
          <a:p>
            <a:pPr marL="0" indent="0">
              <a:buNone/>
            </a:pPr>
            <a:endParaRPr lang="pt-BR" dirty="0"/>
          </a:p>
        </p:txBody>
      </p:sp>
    </p:spTree>
    <p:extLst>
      <p:ext uri="{BB962C8B-B14F-4D97-AF65-F5344CB8AC3E}">
        <p14:creationId xmlns:p14="http://schemas.microsoft.com/office/powerpoint/2010/main" val="54040858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err="1" smtClean="0"/>
              <a:t>Exemplo</a:t>
            </a:r>
            <a:endParaRPr lang="pt-BR" dirty="0"/>
          </a:p>
        </p:txBody>
      </p:sp>
      <p:sp>
        <p:nvSpPr>
          <p:cNvPr id="3" name="Espaço Reservado para Conteúdo 2"/>
          <p:cNvSpPr>
            <a:spLocks noGrp="1"/>
          </p:cNvSpPr>
          <p:nvPr>
            <p:ph idx="1"/>
          </p:nvPr>
        </p:nvSpPr>
        <p:spPr/>
        <p:txBody>
          <a:bodyPr/>
          <a:lstStyle/>
          <a:p>
            <a:pPr marL="0" indent="0">
              <a:buNone/>
            </a:pPr>
            <a:r>
              <a:rPr lang="pt-BR" b="1" dirty="0"/>
              <a:t>Programa</a:t>
            </a:r>
            <a:r>
              <a:rPr lang="pt-BR" dirty="0"/>
              <a:t> </a:t>
            </a:r>
            <a:r>
              <a:rPr lang="pt-BR" dirty="0" err="1"/>
              <a:t>soma_números</a:t>
            </a:r>
            <a:r>
              <a:rPr lang="pt-BR" dirty="0"/>
              <a:t>;</a:t>
            </a:r>
          </a:p>
          <a:p>
            <a:pPr marL="0" indent="0">
              <a:buNone/>
            </a:pPr>
            <a:r>
              <a:rPr lang="pt-BR" b="1" dirty="0"/>
              <a:t>Variáveis </a:t>
            </a:r>
            <a:r>
              <a:rPr lang="pt-BR" dirty="0"/>
              <a:t>num1,num2,soma: inteiro;</a:t>
            </a:r>
          </a:p>
          <a:p>
            <a:pPr marL="0" indent="0">
              <a:buNone/>
            </a:pPr>
            <a:r>
              <a:rPr lang="pt-BR" b="1" dirty="0"/>
              <a:t>Inicio</a:t>
            </a:r>
            <a:endParaRPr lang="pt-BR" dirty="0"/>
          </a:p>
          <a:p>
            <a:pPr marL="0" indent="0">
              <a:buNone/>
            </a:pPr>
            <a:r>
              <a:rPr lang="pt-BR" dirty="0" smtClean="0"/>
              <a:t>   </a:t>
            </a:r>
            <a:r>
              <a:rPr lang="pt-BR" b="1" dirty="0" smtClean="0"/>
              <a:t>Imprima</a:t>
            </a:r>
            <a:r>
              <a:rPr lang="pt-BR" dirty="0" smtClean="0"/>
              <a:t> </a:t>
            </a:r>
            <a:r>
              <a:rPr lang="pt-BR" dirty="0"/>
              <a:t>“Digite dois números”</a:t>
            </a:r>
          </a:p>
          <a:p>
            <a:pPr marL="0" indent="0">
              <a:buNone/>
            </a:pPr>
            <a:r>
              <a:rPr lang="pt-BR" dirty="0" smtClean="0"/>
              <a:t>   </a:t>
            </a:r>
            <a:r>
              <a:rPr lang="pt-BR" b="1" dirty="0"/>
              <a:t>Ler</a:t>
            </a:r>
            <a:r>
              <a:rPr lang="pt-BR" dirty="0"/>
              <a:t> num1, num2;</a:t>
            </a:r>
          </a:p>
          <a:p>
            <a:pPr marL="0" indent="0">
              <a:buNone/>
            </a:pPr>
            <a:r>
              <a:rPr lang="pt-BR" dirty="0"/>
              <a:t>Soma</a:t>
            </a:r>
            <a:r>
              <a:rPr lang="pt-BR" dirty="0">
                <a:sym typeface="Wingdings"/>
              </a:rPr>
              <a:t></a:t>
            </a:r>
            <a:r>
              <a:rPr lang="pt-BR" dirty="0"/>
              <a:t> num1+num2;</a:t>
            </a:r>
          </a:p>
          <a:p>
            <a:pPr marL="0" indent="0">
              <a:buNone/>
            </a:pPr>
            <a:r>
              <a:rPr lang="pt-BR" b="1" dirty="0"/>
              <a:t>Fim</a:t>
            </a:r>
            <a:r>
              <a:rPr lang="pt-BR" dirty="0"/>
              <a:t>.</a:t>
            </a:r>
          </a:p>
          <a:p>
            <a:pPr marL="0" indent="0">
              <a:buNone/>
            </a:pPr>
            <a:endParaRPr lang="pt-BR" dirty="0"/>
          </a:p>
        </p:txBody>
      </p:sp>
    </p:spTree>
    <p:extLst>
      <p:ext uri="{BB962C8B-B14F-4D97-AF65-F5344CB8AC3E}">
        <p14:creationId xmlns:p14="http://schemas.microsoft.com/office/powerpoint/2010/main" val="83085261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Estrutura Sequencial</a:t>
            </a:r>
            <a:endParaRPr lang="pt-BR" dirty="0"/>
          </a:p>
        </p:txBody>
      </p:sp>
      <p:sp>
        <p:nvSpPr>
          <p:cNvPr id="3" name="Espaço Reservado para Conteúdo 2"/>
          <p:cNvSpPr>
            <a:spLocks noGrp="1"/>
          </p:cNvSpPr>
          <p:nvPr>
            <p:ph idx="1"/>
          </p:nvPr>
        </p:nvSpPr>
        <p:spPr/>
        <p:txBody>
          <a:bodyPr/>
          <a:lstStyle/>
          <a:p>
            <a:pPr marL="0" indent="0">
              <a:buNone/>
            </a:pPr>
            <a:r>
              <a:rPr lang="pt-BR" dirty="0"/>
              <a:t>É um conjunto de instruções / comandos que serão executadas na ordem em que foram escritas, ou seja, esses comandos  serão executados numa sequência linear de cima para baixo.  Eles podem aparecer em qualquer estrutura de controle, agrupados ou não por blocos.</a:t>
            </a:r>
          </a:p>
          <a:p>
            <a:pPr marL="0" indent="0">
              <a:buNone/>
            </a:pPr>
            <a:endParaRPr lang="pt-BR" dirty="0"/>
          </a:p>
        </p:txBody>
      </p:sp>
    </p:spTree>
    <p:extLst>
      <p:ext uri="{BB962C8B-B14F-4D97-AF65-F5344CB8AC3E}">
        <p14:creationId xmlns:p14="http://schemas.microsoft.com/office/powerpoint/2010/main" val="384641851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err="1" smtClean="0"/>
              <a:t>Exemplo</a:t>
            </a:r>
            <a:endParaRPr lang="pt-BR" dirty="0"/>
          </a:p>
        </p:txBody>
      </p:sp>
      <p:sp>
        <p:nvSpPr>
          <p:cNvPr id="3" name="Espaço Reservado para Conteúdo 2"/>
          <p:cNvSpPr>
            <a:spLocks noGrp="1"/>
          </p:cNvSpPr>
          <p:nvPr>
            <p:ph idx="1"/>
          </p:nvPr>
        </p:nvSpPr>
        <p:spPr/>
        <p:txBody>
          <a:bodyPr/>
          <a:lstStyle/>
          <a:p>
            <a:pPr marL="0" indent="0">
              <a:buNone/>
            </a:pPr>
            <a:r>
              <a:rPr lang="pt-BR" b="1" dirty="0"/>
              <a:t>comando 1;</a:t>
            </a:r>
          </a:p>
          <a:p>
            <a:pPr marL="0" indent="0">
              <a:buNone/>
            </a:pPr>
            <a:r>
              <a:rPr lang="pt-BR" b="1" dirty="0"/>
              <a:t>comando 2;</a:t>
            </a:r>
          </a:p>
          <a:p>
            <a:pPr marL="0" indent="0">
              <a:buNone/>
            </a:pPr>
            <a:r>
              <a:rPr lang="pt-BR" b="1" dirty="0"/>
              <a:t>início comando 3 ...</a:t>
            </a:r>
          </a:p>
          <a:p>
            <a:pPr marL="0" indent="0">
              <a:buNone/>
            </a:pPr>
            <a:r>
              <a:rPr lang="pt-BR" b="1" dirty="0"/>
              <a:t>	meio comando 3 ...</a:t>
            </a:r>
          </a:p>
          <a:p>
            <a:pPr marL="0" indent="0">
              <a:buNone/>
            </a:pPr>
            <a:r>
              <a:rPr lang="pt-BR" b="1" dirty="0"/>
              <a:t>	fim comando 3 ;</a:t>
            </a:r>
          </a:p>
          <a:p>
            <a:pPr marL="0" indent="0">
              <a:buNone/>
            </a:pPr>
            <a:r>
              <a:rPr lang="pt-BR" b="1" dirty="0"/>
              <a:t>...</a:t>
            </a:r>
          </a:p>
          <a:p>
            <a:pPr marL="0" indent="0">
              <a:buNone/>
            </a:pPr>
            <a:r>
              <a:rPr lang="pt-BR" b="1" dirty="0"/>
              <a:t>comando n;</a:t>
            </a:r>
          </a:p>
          <a:p>
            <a:pPr marL="0" indent="0">
              <a:buNone/>
            </a:pPr>
            <a:endParaRPr lang="pt-BR" dirty="0"/>
          </a:p>
        </p:txBody>
      </p:sp>
    </p:spTree>
    <p:extLst>
      <p:ext uri="{BB962C8B-B14F-4D97-AF65-F5344CB8AC3E}">
        <p14:creationId xmlns:p14="http://schemas.microsoft.com/office/powerpoint/2010/main" val="21076399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smtClean="0"/>
              <a:t>Estrutura Sequencial em algoritmos</a:t>
            </a:r>
            <a:endParaRPr lang="pt-BR" dirty="0"/>
          </a:p>
        </p:txBody>
      </p:sp>
      <p:sp>
        <p:nvSpPr>
          <p:cNvPr id="3" name="Espaço Reservado para Conteúdo 2"/>
          <p:cNvSpPr>
            <a:spLocks noGrp="1"/>
          </p:cNvSpPr>
          <p:nvPr>
            <p:ph idx="1"/>
          </p:nvPr>
        </p:nvSpPr>
        <p:spPr/>
        <p:txBody>
          <a:bodyPr/>
          <a:lstStyle/>
          <a:p>
            <a:pPr marL="0" indent="0">
              <a:buNone/>
            </a:pPr>
            <a:endParaRPr lang="pt-BR" b="1" dirty="0" smtClean="0"/>
          </a:p>
          <a:p>
            <a:pPr marL="0" indent="0">
              <a:buNone/>
            </a:pPr>
            <a:r>
              <a:rPr lang="pt-BR" b="1" dirty="0" smtClean="0"/>
              <a:t>1</a:t>
            </a:r>
            <a:r>
              <a:rPr lang="pt-BR" b="1" baseline="30000" dirty="0" smtClean="0"/>
              <a:t>0</a:t>
            </a:r>
            <a:r>
              <a:rPr lang="pt-BR" b="1" dirty="0" smtClean="0"/>
              <a:t> </a:t>
            </a:r>
            <a:r>
              <a:rPr lang="pt-BR" b="1" dirty="0"/>
              <a:t>Exemplo: </a:t>
            </a:r>
            <a:endParaRPr lang="pt-BR" b="1" dirty="0" smtClean="0"/>
          </a:p>
          <a:p>
            <a:pPr marL="0" indent="0">
              <a:buNone/>
            </a:pPr>
            <a:r>
              <a:rPr lang="pt-BR" dirty="0" smtClean="0"/>
              <a:t>Suponha </a:t>
            </a:r>
            <a:r>
              <a:rPr lang="pt-BR" dirty="0"/>
              <a:t>que alguém te peça para pedir 3 notas, tirar a médias dessas notas e mostrar o resultado.</a:t>
            </a:r>
          </a:p>
          <a:p>
            <a:pPr marL="0" indent="0">
              <a:buNone/>
            </a:pPr>
            <a:endParaRPr lang="pt-BR" dirty="0"/>
          </a:p>
        </p:txBody>
      </p:sp>
    </p:spTree>
    <p:extLst>
      <p:ext uri="{BB962C8B-B14F-4D97-AF65-F5344CB8AC3E}">
        <p14:creationId xmlns:p14="http://schemas.microsoft.com/office/powerpoint/2010/main" val="137599968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Pseudocódigo (Algoritmo)</a:t>
            </a:r>
            <a:endParaRPr lang="pt-BR" dirty="0"/>
          </a:p>
        </p:txBody>
      </p:sp>
      <p:sp>
        <p:nvSpPr>
          <p:cNvPr id="3" name="Espaço Reservado para Conteúdo 2"/>
          <p:cNvSpPr>
            <a:spLocks noGrp="1"/>
          </p:cNvSpPr>
          <p:nvPr>
            <p:ph idx="1"/>
          </p:nvPr>
        </p:nvSpPr>
        <p:spPr/>
        <p:txBody>
          <a:bodyPr>
            <a:normAutofit lnSpcReduction="10000"/>
          </a:bodyPr>
          <a:lstStyle/>
          <a:p>
            <a:pPr marL="0" lvl="0" indent="0">
              <a:buNone/>
            </a:pPr>
            <a:r>
              <a:rPr lang="pt-BR" dirty="0" smtClean="0"/>
              <a:t>1    </a:t>
            </a:r>
            <a:r>
              <a:rPr lang="pt-BR" b="1" dirty="0" smtClean="0"/>
              <a:t>Programa</a:t>
            </a:r>
            <a:r>
              <a:rPr lang="pt-BR" dirty="0" smtClean="0"/>
              <a:t>  </a:t>
            </a:r>
            <a:r>
              <a:rPr lang="pt-BR" dirty="0" err="1"/>
              <a:t>media_notas</a:t>
            </a:r>
            <a:r>
              <a:rPr lang="pt-BR" dirty="0"/>
              <a:t>;</a:t>
            </a:r>
          </a:p>
          <a:p>
            <a:pPr marL="0" lvl="0" indent="0">
              <a:buNone/>
            </a:pPr>
            <a:r>
              <a:rPr lang="pt-BR" dirty="0" smtClean="0"/>
              <a:t>2    </a:t>
            </a:r>
            <a:r>
              <a:rPr lang="pt-BR" b="1" dirty="0" smtClean="0"/>
              <a:t>variáveis </a:t>
            </a:r>
            <a:r>
              <a:rPr lang="pt-BR" dirty="0"/>
              <a:t>n1,n2,n3,media;</a:t>
            </a:r>
          </a:p>
          <a:p>
            <a:pPr marL="0" lvl="0" indent="0">
              <a:buNone/>
            </a:pPr>
            <a:r>
              <a:rPr lang="pt-BR" dirty="0" smtClean="0"/>
              <a:t>3    </a:t>
            </a:r>
            <a:r>
              <a:rPr lang="pt-BR" b="1" dirty="0" smtClean="0"/>
              <a:t>Inicio</a:t>
            </a:r>
            <a:endParaRPr lang="pt-BR" dirty="0" smtClean="0"/>
          </a:p>
          <a:p>
            <a:pPr marL="0" lvl="0" indent="0">
              <a:buNone/>
            </a:pPr>
            <a:r>
              <a:rPr lang="pt-BR" dirty="0" smtClean="0"/>
              <a:t>4        </a:t>
            </a:r>
            <a:r>
              <a:rPr lang="pt-BR" b="1" dirty="0" smtClean="0"/>
              <a:t>Imprima</a:t>
            </a:r>
            <a:r>
              <a:rPr lang="pt-BR" dirty="0" smtClean="0"/>
              <a:t> </a:t>
            </a:r>
            <a:r>
              <a:rPr lang="pt-BR" dirty="0"/>
              <a:t>“Digite três notas”</a:t>
            </a:r>
          </a:p>
          <a:p>
            <a:pPr marL="0" lvl="0" indent="0">
              <a:buNone/>
            </a:pPr>
            <a:r>
              <a:rPr lang="pt-BR" dirty="0" smtClean="0"/>
              <a:t>5              </a:t>
            </a:r>
            <a:r>
              <a:rPr lang="pt-BR" b="1" dirty="0"/>
              <a:t>Ler </a:t>
            </a:r>
            <a:r>
              <a:rPr lang="pt-BR" dirty="0"/>
              <a:t>n1,n2,n3;</a:t>
            </a:r>
          </a:p>
          <a:p>
            <a:pPr marL="0" lvl="0" indent="0">
              <a:buNone/>
            </a:pPr>
            <a:r>
              <a:rPr lang="pt-BR" dirty="0" smtClean="0"/>
              <a:t>6              </a:t>
            </a:r>
            <a:r>
              <a:rPr lang="pt-BR" dirty="0"/>
              <a:t>media </a:t>
            </a:r>
            <a:r>
              <a:rPr lang="pt-BR" dirty="0">
                <a:sym typeface="Wingdings"/>
              </a:rPr>
              <a:t></a:t>
            </a:r>
            <a:r>
              <a:rPr lang="pt-BR" dirty="0"/>
              <a:t> (n1+n2+n3) /3;</a:t>
            </a:r>
          </a:p>
          <a:p>
            <a:pPr marL="0" lvl="0" indent="0">
              <a:buNone/>
            </a:pPr>
            <a:r>
              <a:rPr lang="pt-BR" dirty="0" smtClean="0"/>
              <a:t>7        </a:t>
            </a:r>
            <a:r>
              <a:rPr lang="pt-BR" b="1" dirty="0" smtClean="0"/>
              <a:t>Imprima</a:t>
            </a:r>
            <a:r>
              <a:rPr lang="pt-BR" dirty="0" smtClean="0"/>
              <a:t> </a:t>
            </a:r>
            <a:r>
              <a:rPr lang="pt-BR" dirty="0"/>
              <a:t>“A média é igual a: “ , media;</a:t>
            </a:r>
          </a:p>
          <a:p>
            <a:pPr marL="0" lvl="0" indent="0">
              <a:buNone/>
            </a:pPr>
            <a:r>
              <a:rPr lang="pt-BR" dirty="0" smtClean="0"/>
              <a:t>8   </a:t>
            </a:r>
            <a:r>
              <a:rPr lang="pt-BR" b="1" dirty="0" smtClean="0"/>
              <a:t> fim</a:t>
            </a:r>
            <a:r>
              <a:rPr lang="pt-BR" b="1" dirty="0"/>
              <a:t>;</a:t>
            </a:r>
            <a:endParaRPr lang="pt-BR" dirty="0"/>
          </a:p>
          <a:p>
            <a:pPr marL="0" indent="0">
              <a:buNone/>
            </a:pPr>
            <a:endParaRPr lang="pt-BR" dirty="0"/>
          </a:p>
        </p:txBody>
      </p:sp>
    </p:spTree>
    <p:extLst>
      <p:ext uri="{BB962C8B-B14F-4D97-AF65-F5344CB8AC3E}">
        <p14:creationId xmlns:p14="http://schemas.microsoft.com/office/powerpoint/2010/main" val="95755597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b="1" dirty="0"/>
              <a:t>Sua vez:</a:t>
            </a:r>
            <a:r>
              <a:rPr lang="pt-BR" dirty="0"/>
              <a:t> encontre a Entrada, o Processamento e a Saída:</a:t>
            </a:r>
          </a:p>
        </p:txBody>
      </p:sp>
      <p:sp>
        <p:nvSpPr>
          <p:cNvPr id="3" name="Espaço Reservado para Conteúdo 2"/>
          <p:cNvSpPr>
            <a:spLocks noGrp="1"/>
          </p:cNvSpPr>
          <p:nvPr>
            <p:ph idx="1"/>
          </p:nvPr>
        </p:nvSpPr>
        <p:spPr>
          <a:xfrm>
            <a:off x="457200" y="1600200"/>
            <a:ext cx="8229600" cy="4925144"/>
          </a:xfrm>
        </p:spPr>
        <p:txBody>
          <a:bodyPr>
            <a:normAutofit fontScale="92500"/>
          </a:bodyPr>
          <a:lstStyle/>
          <a:p>
            <a:pPr marL="0" indent="0">
              <a:buNone/>
            </a:pPr>
            <a:r>
              <a:rPr lang="pt-BR" b="1" u="sng" dirty="0"/>
              <a:t>Entrada</a:t>
            </a:r>
            <a:r>
              <a:rPr lang="pt-BR" dirty="0"/>
              <a:t>:</a:t>
            </a:r>
          </a:p>
          <a:p>
            <a:pPr marL="0" indent="0">
              <a:buNone/>
            </a:pPr>
            <a:r>
              <a:rPr lang="pt-BR" dirty="0" smtClean="0"/>
              <a:t>____________________________________________________________________________________</a:t>
            </a:r>
          </a:p>
          <a:p>
            <a:pPr marL="0" indent="0">
              <a:buNone/>
            </a:pPr>
            <a:r>
              <a:rPr lang="pt-BR" b="1" u="sng" dirty="0"/>
              <a:t>Processamento</a:t>
            </a:r>
            <a:r>
              <a:rPr lang="pt-BR" dirty="0"/>
              <a:t>:</a:t>
            </a:r>
          </a:p>
          <a:p>
            <a:pPr marL="0" indent="0">
              <a:buNone/>
            </a:pPr>
            <a:r>
              <a:rPr lang="pt-BR" dirty="0" smtClean="0"/>
              <a:t>____________________________________________________________________________________</a:t>
            </a:r>
          </a:p>
          <a:p>
            <a:pPr marL="0" indent="0">
              <a:buNone/>
            </a:pPr>
            <a:r>
              <a:rPr lang="pt-BR" b="1" u="sng" dirty="0"/>
              <a:t>Saída</a:t>
            </a:r>
            <a:r>
              <a:rPr lang="pt-BR" dirty="0"/>
              <a:t>:</a:t>
            </a:r>
          </a:p>
          <a:p>
            <a:pPr marL="0" indent="0">
              <a:buNone/>
            </a:pPr>
            <a:r>
              <a:rPr lang="pt-BR" dirty="0" smtClean="0"/>
              <a:t>____________________________________________________________________________________</a:t>
            </a:r>
            <a:endParaRPr lang="pt-BR"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527" y="620688"/>
            <a:ext cx="1095121" cy="72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1406383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Entendendo cada linha:</a:t>
            </a:r>
            <a:endParaRPr lang="pt-BR" dirty="0"/>
          </a:p>
        </p:txBody>
      </p:sp>
      <p:sp>
        <p:nvSpPr>
          <p:cNvPr id="3" name="Espaço Reservado para Conteúdo 2"/>
          <p:cNvSpPr>
            <a:spLocks noGrp="1"/>
          </p:cNvSpPr>
          <p:nvPr>
            <p:ph idx="1"/>
          </p:nvPr>
        </p:nvSpPr>
        <p:spPr/>
        <p:txBody>
          <a:bodyPr/>
          <a:lstStyle/>
          <a:p>
            <a:r>
              <a:rPr lang="pt-BR" b="1" dirty="0"/>
              <a:t>Linha 1:</a:t>
            </a:r>
            <a:r>
              <a:rPr lang="pt-BR" dirty="0"/>
              <a:t> Indica o cabeçalho do programa</a:t>
            </a:r>
          </a:p>
          <a:p>
            <a:pPr marL="0" indent="0">
              <a:buNone/>
            </a:pPr>
            <a:r>
              <a:rPr lang="pt-BR" dirty="0" smtClean="0"/>
              <a:t>	O </a:t>
            </a:r>
            <a:r>
              <a:rPr lang="pt-BR" dirty="0"/>
              <a:t>cabeçalho não é algo obrigatório, você </a:t>
            </a:r>
            <a:r>
              <a:rPr lang="pt-BR" dirty="0" smtClean="0"/>
              <a:t>	ira </a:t>
            </a:r>
            <a:r>
              <a:rPr lang="pt-BR" dirty="0"/>
              <a:t>encontrar em livros autores que </a:t>
            </a:r>
            <a:r>
              <a:rPr lang="pt-BR" dirty="0" smtClean="0"/>
              <a:t>	escrevem </a:t>
            </a:r>
            <a:r>
              <a:rPr lang="pt-BR" dirty="0"/>
              <a:t>ALGORITMO no lugar. Portanto, </a:t>
            </a:r>
            <a:r>
              <a:rPr lang="pt-BR" dirty="0" smtClean="0"/>
              <a:t>	não </a:t>
            </a:r>
            <a:r>
              <a:rPr lang="pt-BR" dirty="0"/>
              <a:t>se preocupe muito com esse detalhe</a:t>
            </a:r>
            <a:r>
              <a:rPr lang="pt-BR" dirty="0" smtClean="0"/>
              <a:t>.</a:t>
            </a:r>
          </a:p>
          <a:p>
            <a:pPr marL="0" indent="0">
              <a:buNone/>
            </a:pPr>
            <a:endParaRPr lang="pt-BR" dirty="0" smtClean="0"/>
          </a:p>
          <a:p>
            <a:r>
              <a:rPr lang="pt-BR" b="1" dirty="0"/>
              <a:t>Linha 2:</a:t>
            </a:r>
            <a:r>
              <a:rPr lang="pt-BR" dirty="0"/>
              <a:t> Declaração de variáveis.</a:t>
            </a:r>
          </a:p>
          <a:p>
            <a:pPr marL="0" indent="0">
              <a:buNone/>
            </a:pPr>
            <a:endParaRPr lang="pt-BR" dirty="0"/>
          </a:p>
          <a:p>
            <a:pPr marL="0" indent="0">
              <a:buNone/>
            </a:pPr>
            <a:endParaRPr lang="pt-BR"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332656"/>
            <a:ext cx="1637601" cy="1080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7282142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Variáveis</a:t>
            </a:r>
            <a:endParaRPr lang="pt-BR" dirty="0"/>
          </a:p>
        </p:txBody>
      </p:sp>
      <p:sp>
        <p:nvSpPr>
          <p:cNvPr id="3" name="Espaço Reservado para Conteúdo 2"/>
          <p:cNvSpPr>
            <a:spLocks noGrp="1"/>
          </p:cNvSpPr>
          <p:nvPr>
            <p:ph idx="1"/>
          </p:nvPr>
        </p:nvSpPr>
        <p:spPr>
          <a:xfrm>
            <a:off x="0" y="1196752"/>
            <a:ext cx="9144000" cy="5661248"/>
          </a:xfrm>
        </p:spPr>
        <p:txBody>
          <a:bodyPr>
            <a:normAutofit/>
          </a:bodyPr>
          <a:lstStyle/>
          <a:p>
            <a:endParaRPr lang="pt-BR" dirty="0" smtClean="0"/>
          </a:p>
          <a:p>
            <a:r>
              <a:rPr lang="pt-BR" dirty="0" smtClean="0"/>
              <a:t>Quando </a:t>
            </a:r>
            <a:r>
              <a:rPr lang="pt-BR" dirty="0"/>
              <a:t>somamos mentalmente três números, por </a:t>
            </a:r>
            <a:r>
              <a:rPr lang="pt-BR" dirty="0" smtClean="0"/>
              <a:t>exemplo, </a:t>
            </a:r>
            <a:r>
              <a:rPr lang="pt-BR" dirty="0"/>
              <a:t>armazenamos os valores em nossa mente. Pois bem, o computador precisa também armazenar esses valores assim que o usuário digita alguma coisa. </a:t>
            </a:r>
          </a:p>
        </p:txBody>
      </p:sp>
    </p:spTree>
    <p:extLst>
      <p:ext uri="{BB962C8B-B14F-4D97-AF65-F5344CB8AC3E}">
        <p14:creationId xmlns:p14="http://schemas.microsoft.com/office/powerpoint/2010/main" val="160577481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Variáveis</a:t>
            </a:r>
            <a:endParaRPr lang="pt-BR" dirty="0"/>
          </a:p>
        </p:txBody>
      </p:sp>
      <p:sp>
        <p:nvSpPr>
          <p:cNvPr id="3" name="Espaço Reservado para Conteúdo 2"/>
          <p:cNvSpPr>
            <a:spLocks noGrp="1"/>
          </p:cNvSpPr>
          <p:nvPr>
            <p:ph idx="1"/>
          </p:nvPr>
        </p:nvSpPr>
        <p:spPr>
          <a:xfrm>
            <a:off x="0" y="1196752"/>
            <a:ext cx="9144000" cy="5661248"/>
          </a:xfrm>
        </p:spPr>
        <p:txBody>
          <a:bodyPr>
            <a:normAutofit/>
          </a:bodyPr>
          <a:lstStyle/>
          <a:p>
            <a:endParaRPr lang="pt-BR" dirty="0" smtClean="0"/>
          </a:p>
          <a:p>
            <a:r>
              <a:rPr lang="pt-BR" dirty="0" smtClean="0"/>
              <a:t>Além </a:t>
            </a:r>
            <a:r>
              <a:rPr lang="pt-BR" dirty="0"/>
              <a:t>disso, o computador precisa identificar que tipo de informações será trabalhado. Serão números, caracteres, frases? E de que tipos serão? Números reais? Inteiros? </a:t>
            </a:r>
          </a:p>
          <a:p>
            <a:endParaRPr lang="pt-BR" dirty="0"/>
          </a:p>
        </p:txBody>
      </p:sp>
    </p:spTree>
    <p:extLst>
      <p:ext uri="{BB962C8B-B14F-4D97-AF65-F5344CB8AC3E}">
        <p14:creationId xmlns:p14="http://schemas.microsoft.com/office/powerpoint/2010/main" val="194006599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Autofit/>
          </a:bodyPr>
          <a:lstStyle/>
          <a:p>
            <a:r>
              <a:rPr lang="pt-BR" sz="2800" dirty="0" smtClean="0"/>
              <a:t>As variáveis e as constantes podem ser basicamente de quatro tipos: Inteiro, real, caracteres e lógicas.</a:t>
            </a:r>
            <a:endParaRPr lang="pt-BR" sz="2800" dirty="0"/>
          </a:p>
        </p:txBody>
      </p:sp>
      <p:graphicFrame>
        <p:nvGraphicFramePr>
          <p:cNvPr id="9" name="Objeto 8"/>
          <p:cNvGraphicFramePr>
            <a:graphicFrameLocks noChangeAspect="1"/>
          </p:cNvGraphicFramePr>
          <p:nvPr>
            <p:extLst>
              <p:ext uri="{D42A27DB-BD31-4B8C-83A1-F6EECF244321}">
                <p14:modId xmlns:p14="http://schemas.microsoft.com/office/powerpoint/2010/main" val="215239834"/>
              </p:ext>
            </p:extLst>
          </p:nvPr>
        </p:nvGraphicFramePr>
        <p:xfrm>
          <a:off x="323529" y="1700808"/>
          <a:ext cx="8754972" cy="4536503"/>
        </p:xfrm>
        <a:graphic>
          <a:graphicData uri="http://schemas.openxmlformats.org/presentationml/2006/ole">
            <mc:AlternateContent xmlns:mc="http://schemas.openxmlformats.org/markup-compatibility/2006">
              <mc:Choice xmlns:v="urn:schemas-microsoft-com:vml" Requires="v">
                <p:oleObj spid="_x0000_s6155" name="Documento" r:id="rId3" imgW="6111776" imgH="2133817" progId="Word.Document.12">
                  <p:embed/>
                </p:oleObj>
              </mc:Choice>
              <mc:Fallback>
                <p:oleObj name="Documento" r:id="rId3" imgW="6111776" imgH="2133817" progId="Word.Document.12">
                  <p:embed/>
                  <p:pic>
                    <p:nvPicPr>
                      <p:cNvPr id="0" name=""/>
                      <p:cNvPicPr/>
                      <p:nvPr/>
                    </p:nvPicPr>
                    <p:blipFill>
                      <a:blip r:embed="rId4"/>
                      <a:stretch>
                        <a:fillRect/>
                      </a:stretch>
                    </p:blipFill>
                    <p:spPr>
                      <a:xfrm>
                        <a:off x="323529" y="1700808"/>
                        <a:ext cx="8754972" cy="4536503"/>
                      </a:xfrm>
                      <a:prstGeom prst="rect">
                        <a:avLst/>
                      </a:prstGeom>
                    </p:spPr>
                  </p:pic>
                </p:oleObj>
              </mc:Fallback>
            </mc:AlternateContent>
          </a:graphicData>
        </a:graphic>
      </p:graphicFrame>
    </p:spTree>
    <p:extLst>
      <p:ext uri="{BB962C8B-B14F-4D97-AF65-F5344CB8AC3E}">
        <p14:creationId xmlns:p14="http://schemas.microsoft.com/office/powerpoint/2010/main" val="198364044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Fluxograma</a:t>
            </a:r>
            <a:endParaRPr lang="pt-BR" dirty="0"/>
          </a:p>
        </p:txBody>
      </p:sp>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91880" y="1484784"/>
            <a:ext cx="1800200" cy="5244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1388542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457200" y="332656"/>
            <a:ext cx="8229600" cy="5793507"/>
          </a:xfrm>
        </p:spPr>
        <p:txBody>
          <a:bodyPr/>
          <a:lstStyle/>
          <a:p>
            <a:pPr marL="0" indent="0">
              <a:buNone/>
            </a:pPr>
            <a:r>
              <a:rPr lang="pt-BR" b="1" dirty="0" smtClean="0"/>
              <a:t>2</a:t>
            </a:r>
            <a:r>
              <a:rPr lang="pt-BR" b="1" baseline="30000" dirty="0" smtClean="0"/>
              <a:t>0</a:t>
            </a:r>
            <a:r>
              <a:rPr lang="pt-BR" b="1" dirty="0" smtClean="0"/>
              <a:t> </a:t>
            </a:r>
            <a:r>
              <a:rPr lang="pt-BR" b="1" dirty="0"/>
              <a:t>Exemplo: </a:t>
            </a:r>
            <a:endParaRPr lang="pt-BR" b="1" dirty="0" smtClean="0"/>
          </a:p>
          <a:p>
            <a:pPr marL="0" indent="0">
              <a:buNone/>
            </a:pPr>
            <a:endParaRPr lang="pt-BR" b="1" dirty="0"/>
          </a:p>
          <a:p>
            <a:pPr marL="0" indent="0">
              <a:buNone/>
            </a:pPr>
            <a:r>
              <a:rPr lang="pt-BR" dirty="0" smtClean="0"/>
              <a:t>Peça </a:t>
            </a:r>
            <a:r>
              <a:rPr lang="pt-BR" dirty="0"/>
              <a:t>o salário líquido de um funcionário que trabalhe por hora, as horas de trabalho, número de horas trabalhadas no mês, e o percentual de desconto do INSS. O algoritmo deverá mostrar o salário bruto, o valor descontado e o valor do salário líquido. </a:t>
            </a:r>
          </a:p>
          <a:p>
            <a:pPr marL="0" indent="0">
              <a:buNone/>
            </a:pPr>
            <a:endParaRPr lang="pt-BR" dirty="0"/>
          </a:p>
        </p:txBody>
      </p:sp>
    </p:spTree>
    <p:extLst>
      <p:ext uri="{BB962C8B-B14F-4D97-AF65-F5344CB8AC3E}">
        <p14:creationId xmlns:p14="http://schemas.microsoft.com/office/powerpoint/2010/main" val="34390797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67544" y="14988"/>
            <a:ext cx="8229600" cy="1143000"/>
          </a:xfrm>
        </p:spPr>
        <p:txBody>
          <a:bodyPr/>
          <a:lstStyle/>
          <a:p>
            <a:r>
              <a:rPr lang="en-US" dirty="0" err="1" smtClean="0"/>
              <a:t>Algoritmo</a:t>
            </a:r>
            <a:r>
              <a:rPr lang="en-US" dirty="0" smtClean="0"/>
              <a:t> (</a:t>
            </a:r>
            <a:r>
              <a:rPr lang="en-US" dirty="0" err="1" smtClean="0"/>
              <a:t>Pseudocódigo</a:t>
            </a:r>
            <a:r>
              <a:rPr lang="en-US" dirty="0" smtClean="0"/>
              <a:t>)</a:t>
            </a:r>
            <a:endParaRPr lang="pt-BR" dirty="0"/>
          </a:p>
        </p:txBody>
      </p:sp>
      <p:sp>
        <p:nvSpPr>
          <p:cNvPr id="3" name="Espaço Reservado para Conteúdo 2"/>
          <p:cNvSpPr>
            <a:spLocks noGrp="1"/>
          </p:cNvSpPr>
          <p:nvPr>
            <p:ph idx="1"/>
          </p:nvPr>
        </p:nvSpPr>
        <p:spPr>
          <a:xfrm>
            <a:off x="0" y="1052736"/>
            <a:ext cx="9144000" cy="5805264"/>
          </a:xfrm>
        </p:spPr>
        <p:txBody>
          <a:bodyPr>
            <a:normAutofit fontScale="70000" lnSpcReduction="20000"/>
          </a:bodyPr>
          <a:lstStyle/>
          <a:p>
            <a:r>
              <a:rPr lang="pt-BR" b="1" dirty="0"/>
              <a:t>Programa</a:t>
            </a:r>
            <a:r>
              <a:rPr lang="pt-BR" dirty="0"/>
              <a:t> salario;</a:t>
            </a:r>
          </a:p>
          <a:p>
            <a:r>
              <a:rPr lang="pt-BR" b="1" dirty="0"/>
              <a:t>Variáveis</a:t>
            </a:r>
            <a:r>
              <a:rPr lang="pt-BR" dirty="0"/>
              <a:t> HT, VH,PD,TD,SB,SL: real;</a:t>
            </a:r>
          </a:p>
          <a:p>
            <a:r>
              <a:rPr lang="pt-BR" b="1" dirty="0"/>
              <a:t>Inicio</a:t>
            </a:r>
          </a:p>
          <a:p>
            <a:r>
              <a:rPr lang="pt-BR" dirty="0"/>
              <a:t>	</a:t>
            </a:r>
            <a:r>
              <a:rPr lang="pt-BR" b="1" dirty="0"/>
              <a:t>Imprima</a:t>
            </a:r>
            <a:r>
              <a:rPr lang="pt-BR" dirty="0"/>
              <a:t> “Digite as horas trabalhadas:“</a:t>
            </a:r>
          </a:p>
          <a:p>
            <a:r>
              <a:rPr lang="pt-BR" dirty="0"/>
              <a:t>	</a:t>
            </a:r>
            <a:r>
              <a:rPr lang="pt-BR" b="1" dirty="0"/>
              <a:t>Ler</a:t>
            </a:r>
            <a:r>
              <a:rPr lang="pt-BR" dirty="0"/>
              <a:t> HT</a:t>
            </a:r>
          </a:p>
          <a:p>
            <a:r>
              <a:rPr lang="pt-BR" dirty="0"/>
              <a:t>	</a:t>
            </a:r>
            <a:r>
              <a:rPr lang="pt-BR" b="1" dirty="0"/>
              <a:t>Imprima</a:t>
            </a:r>
            <a:r>
              <a:rPr lang="pt-BR" dirty="0"/>
              <a:t> “Digite o valor das horas trabalhadas” </a:t>
            </a:r>
          </a:p>
          <a:p>
            <a:r>
              <a:rPr lang="pt-BR" dirty="0"/>
              <a:t>	</a:t>
            </a:r>
            <a:r>
              <a:rPr lang="pt-BR" b="1" dirty="0"/>
              <a:t>Ler</a:t>
            </a:r>
            <a:r>
              <a:rPr lang="pt-BR" dirty="0"/>
              <a:t> VH;</a:t>
            </a:r>
          </a:p>
          <a:p>
            <a:r>
              <a:rPr lang="pt-BR" dirty="0"/>
              <a:t>	</a:t>
            </a:r>
            <a:r>
              <a:rPr lang="pt-BR" b="1" dirty="0"/>
              <a:t>Imprima</a:t>
            </a:r>
            <a:r>
              <a:rPr lang="pt-BR" dirty="0"/>
              <a:t> “Digite o porcentual de desconto”</a:t>
            </a:r>
          </a:p>
          <a:p>
            <a:r>
              <a:rPr lang="pt-BR" dirty="0"/>
              <a:t>	</a:t>
            </a:r>
            <a:r>
              <a:rPr lang="pt-BR" b="1" dirty="0"/>
              <a:t>Ler </a:t>
            </a:r>
            <a:r>
              <a:rPr lang="pt-BR" dirty="0"/>
              <a:t>PD;</a:t>
            </a:r>
          </a:p>
          <a:p>
            <a:r>
              <a:rPr lang="pt-BR" dirty="0"/>
              <a:t>    		</a:t>
            </a:r>
            <a:r>
              <a:rPr lang="en-US" dirty="0"/>
              <a:t>SB</a:t>
            </a:r>
            <a:r>
              <a:rPr lang="pt-BR" dirty="0">
                <a:sym typeface="Wingdings"/>
              </a:rPr>
              <a:t></a:t>
            </a:r>
            <a:r>
              <a:rPr lang="en-US" dirty="0"/>
              <a:t> HT * VH;</a:t>
            </a:r>
            <a:endParaRPr lang="pt-BR" dirty="0"/>
          </a:p>
          <a:p>
            <a:r>
              <a:rPr lang="en-US" dirty="0"/>
              <a:t>		TD </a:t>
            </a:r>
            <a:r>
              <a:rPr lang="pt-BR" dirty="0">
                <a:sym typeface="Wingdings"/>
              </a:rPr>
              <a:t></a:t>
            </a:r>
            <a:r>
              <a:rPr lang="en-US" dirty="0"/>
              <a:t>(PD/100) * SB;</a:t>
            </a:r>
            <a:endParaRPr lang="pt-BR" dirty="0"/>
          </a:p>
          <a:p>
            <a:r>
              <a:rPr lang="en-US" dirty="0"/>
              <a:t>		SL </a:t>
            </a:r>
            <a:r>
              <a:rPr lang="pt-BR" dirty="0">
                <a:sym typeface="Wingdings"/>
              </a:rPr>
              <a:t></a:t>
            </a:r>
            <a:r>
              <a:rPr lang="en-US" dirty="0"/>
              <a:t> SB-TD;</a:t>
            </a:r>
            <a:endParaRPr lang="pt-BR" dirty="0"/>
          </a:p>
          <a:p>
            <a:r>
              <a:rPr lang="en-US" dirty="0"/>
              <a:t>       	</a:t>
            </a:r>
            <a:r>
              <a:rPr lang="pt-BR" b="1" dirty="0"/>
              <a:t>Imprima “</a:t>
            </a:r>
            <a:r>
              <a:rPr lang="pt-BR" dirty="0"/>
              <a:t>Salário Bruto é: “ , SB</a:t>
            </a:r>
          </a:p>
          <a:p>
            <a:r>
              <a:rPr lang="pt-BR" dirty="0"/>
              <a:t>       </a:t>
            </a:r>
            <a:r>
              <a:rPr lang="pt-BR" b="1" dirty="0"/>
              <a:t> 	Imprima </a:t>
            </a:r>
            <a:r>
              <a:rPr lang="pt-BR" dirty="0"/>
              <a:t>“Total de Descontos: “ , TD</a:t>
            </a:r>
          </a:p>
          <a:p>
            <a:r>
              <a:rPr lang="pt-BR" dirty="0"/>
              <a:t>	</a:t>
            </a:r>
            <a:r>
              <a:rPr lang="pt-BR" b="1" dirty="0"/>
              <a:t>Imprima </a:t>
            </a:r>
            <a:r>
              <a:rPr lang="pt-BR" dirty="0"/>
              <a:t>“Salário Liquido: “ , SL</a:t>
            </a:r>
          </a:p>
          <a:p>
            <a:r>
              <a:rPr lang="pt-BR" b="1" dirty="0"/>
              <a:t>Fim.</a:t>
            </a:r>
            <a:endParaRPr lang="pt-BR" dirty="0"/>
          </a:p>
          <a:p>
            <a:endParaRPr lang="pt-BR" dirty="0"/>
          </a:p>
        </p:txBody>
      </p:sp>
    </p:spTree>
    <p:extLst>
      <p:ext uri="{BB962C8B-B14F-4D97-AF65-F5344CB8AC3E}">
        <p14:creationId xmlns:p14="http://schemas.microsoft.com/office/powerpoint/2010/main" val="310912152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Fluxograma:</a:t>
            </a:r>
            <a:endParaRPr lang="pt-BR" dirty="0"/>
          </a:p>
        </p:txBody>
      </p:sp>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31841" y="1792155"/>
            <a:ext cx="3241314" cy="4661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454455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b="1" dirty="0"/>
              <a:t>Sua vez:</a:t>
            </a:r>
            <a:r>
              <a:rPr lang="pt-BR" dirty="0"/>
              <a:t> encontre a Entrada, o Processamento e a Saída</a:t>
            </a:r>
            <a:r>
              <a:rPr lang="pt-BR" dirty="0" smtClean="0"/>
              <a:t>:</a:t>
            </a:r>
            <a:endParaRPr lang="pt-BR" dirty="0"/>
          </a:p>
        </p:txBody>
      </p:sp>
      <p:sp>
        <p:nvSpPr>
          <p:cNvPr id="3" name="Espaço Reservado para Conteúdo 2"/>
          <p:cNvSpPr>
            <a:spLocks noGrp="1"/>
          </p:cNvSpPr>
          <p:nvPr>
            <p:ph idx="1"/>
          </p:nvPr>
        </p:nvSpPr>
        <p:spPr/>
        <p:txBody>
          <a:bodyPr>
            <a:normAutofit fontScale="85000" lnSpcReduction="10000"/>
          </a:bodyPr>
          <a:lstStyle/>
          <a:p>
            <a:endParaRPr lang="pt-BR" b="1" u="sng" dirty="0" smtClean="0"/>
          </a:p>
          <a:p>
            <a:r>
              <a:rPr lang="pt-BR" b="1" u="sng" dirty="0" smtClean="0"/>
              <a:t>Entrada</a:t>
            </a:r>
            <a:r>
              <a:rPr lang="pt-BR" dirty="0"/>
              <a:t>:</a:t>
            </a:r>
          </a:p>
          <a:p>
            <a:pPr marL="0" indent="0">
              <a:buNone/>
            </a:pPr>
            <a:r>
              <a:rPr lang="pt-BR" dirty="0" smtClean="0"/>
              <a:t>____________________________________________________________________________________________</a:t>
            </a:r>
          </a:p>
          <a:p>
            <a:r>
              <a:rPr lang="pt-BR" b="1" u="sng" dirty="0" smtClean="0"/>
              <a:t>Processamento</a:t>
            </a:r>
            <a:r>
              <a:rPr lang="pt-BR" dirty="0"/>
              <a:t>:</a:t>
            </a:r>
          </a:p>
          <a:p>
            <a:pPr marL="0" indent="0">
              <a:buNone/>
            </a:pPr>
            <a:r>
              <a:rPr lang="pt-BR" dirty="0" smtClean="0"/>
              <a:t>____________________________________________________________________________________________</a:t>
            </a:r>
            <a:endParaRPr lang="pt-BR" dirty="0"/>
          </a:p>
          <a:p>
            <a:r>
              <a:rPr lang="pt-BR" b="1" u="sng" dirty="0" smtClean="0"/>
              <a:t>Saída</a:t>
            </a:r>
            <a:r>
              <a:rPr lang="pt-BR" dirty="0"/>
              <a:t>:</a:t>
            </a:r>
          </a:p>
          <a:p>
            <a:pPr marL="0" indent="0">
              <a:buNone/>
            </a:pPr>
            <a:r>
              <a:rPr lang="pt-BR" dirty="0" smtClean="0"/>
              <a:t>____________________________________________________________________________________________</a:t>
            </a:r>
            <a:endParaRPr lang="pt-BR"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764704"/>
            <a:ext cx="1204634" cy="7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4877333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p:txBody>
          <a:bodyPr/>
          <a:lstStyle/>
          <a:p>
            <a:pPr marL="0" indent="0">
              <a:buNone/>
            </a:pPr>
            <a:r>
              <a:rPr lang="pt-BR" dirty="0"/>
              <a:t>Você percebeu que utilizamos alguns operadores lógicos para resolver este exemplo. Para fazermos cálculos matemáticos, comparações e expressões, temos operadores próprios que veremos a seguir.</a:t>
            </a:r>
          </a:p>
          <a:p>
            <a:pPr marL="0" indent="0">
              <a:buNone/>
            </a:pPr>
            <a:endParaRPr lang="pt-BR" dirty="0"/>
          </a:p>
        </p:txBody>
      </p:sp>
    </p:spTree>
    <p:extLst>
      <p:ext uri="{BB962C8B-B14F-4D97-AF65-F5344CB8AC3E}">
        <p14:creationId xmlns:p14="http://schemas.microsoft.com/office/powerpoint/2010/main" val="217248534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Operadores</a:t>
            </a:r>
            <a:endParaRPr lang="pt-BR" dirty="0"/>
          </a:p>
        </p:txBody>
      </p:sp>
      <p:sp>
        <p:nvSpPr>
          <p:cNvPr id="3" name="Espaço Reservado para Conteúdo 2"/>
          <p:cNvSpPr>
            <a:spLocks noGrp="1"/>
          </p:cNvSpPr>
          <p:nvPr>
            <p:ph idx="1"/>
          </p:nvPr>
        </p:nvSpPr>
        <p:spPr/>
        <p:txBody>
          <a:bodyPr/>
          <a:lstStyle/>
          <a:p>
            <a:pPr marL="0" indent="0">
              <a:buNone/>
            </a:pPr>
            <a:r>
              <a:rPr lang="pt-BR" dirty="0"/>
              <a:t>Como citado acima, para fazermos determinados cálculos matemáticos usa-se uma simbologia específica para algoritmos e programação, denominados </a:t>
            </a:r>
            <a:r>
              <a:rPr lang="pt-BR" b="1" dirty="0"/>
              <a:t>Operadores Aritméticos.</a:t>
            </a:r>
            <a:endParaRPr lang="pt-BR" dirty="0"/>
          </a:p>
          <a:p>
            <a:pPr marL="0" indent="0">
              <a:buNone/>
            </a:pPr>
            <a:endParaRPr lang="pt-BR" dirty="0"/>
          </a:p>
        </p:txBody>
      </p:sp>
    </p:spTree>
    <p:extLst>
      <p:ext uri="{BB962C8B-B14F-4D97-AF65-F5344CB8AC3E}">
        <p14:creationId xmlns:p14="http://schemas.microsoft.com/office/powerpoint/2010/main" val="112790057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Operadores Aritméticos</a:t>
            </a:r>
            <a:endParaRPr lang="pt-BR" dirty="0"/>
          </a:p>
        </p:txBody>
      </p:sp>
      <p:graphicFrame>
        <p:nvGraphicFramePr>
          <p:cNvPr id="4" name="Espaço Reservado para Conteúdo 3"/>
          <p:cNvGraphicFramePr>
            <a:graphicFrameLocks noGrp="1"/>
          </p:cNvGraphicFramePr>
          <p:nvPr>
            <p:ph idx="1"/>
            <p:extLst>
              <p:ext uri="{D42A27DB-BD31-4B8C-83A1-F6EECF244321}">
                <p14:modId xmlns:p14="http://schemas.microsoft.com/office/powerpoint/2010/main" val="3396776166"/>
              </p:ext>
            </p:extLst>
          </p:nvPr>
        </p:nvGraphicFramePr>
        <p:xfrm>
          <a:off x="179512" y="1556791"/>
          <a:ext cx="8712968" cy="4536504"/>
        </p:xfrm>
        <a:graphic>
          <a:graphicData uri="http://schemas.openxmlformats.org/drawingml/2006/table">
            <a:tbl>
              <a:tblPr>
                <a:tableStyleId>{5C22544A-7EE6-4342-B048-85BDC9FD1C3A}</a:tableStyleId>
              </a:tblPr>
              <a:tblGrid>
                <a:gridCol w="4356012"/>
                <a:gridCol w="4356956"/>
              </a:tblGrid>
              <a:tr h="567063">
                <a:tc>
                  <a:txBody>
                    <a:bodyPr/>
                    <a:lstStyle/>
                    <a:p>
                      <a:pPr algn="ctr">
                        <a:lnSpc>
                          <a:spcPct val="150000"/>
                        </a:lnSpc>
                        <a:spcAft>
                          <a:spcPts val="0"/>
                        </a:spcAft>
                      </a:pPr>
                      <a:r>
                        <a:rPr lang="pt-BR" sz="2400" dirty="0">
                          <a:effectLst/>
                        </a:rPr>
                        <a:t>Operador</a:t>
                      </a:r>
                      <a:endParaRPr lang="pt-BR" sz="2400" dirty="0">
                        <a:effectLst/>
                        <a:latin typeface="Arial"/>
                        <a:ea typeface="Times New Roman"/>
                        <a:cs typeface="Times New Roman"/>
                      </a:endParaRPr>
                    </a:p>
                  </a:txBody>
                  <a:tcPr marL="44450" marR="44450" marT="0" marB="0">
                    <a:solidFill>
                      <a:schemeClr val="accent5"/>
                    </a:solidFill>
                  </a:tcPr>
                </a:tc>
                <a:tc>
                  <a:txBody>
                    <a:bodyPr/>
                    <a:lstStyle/>
                    <a:p>
                      <a:pPr algn="just">
                        <a:lnSpc>
                          <a:spcPct val="150000"/>
                        </a:lnSpc>
                        <a:spcAft>
                          <a:spcPts val="0"/>
                        </a:spcAft>
                      </a:pPr>
                      <a:r>
                        <a:rPr lang="pt-BR" sz="2400" dirty="0">
                          <a:effectLst/>
                        </a:rPr>
                        <a:t>Referência do operador</a:t>
                      </a:r>
                      <a:endParaRPr lang="pt-BR" sz="2400" dirty="0">
                        <a:effectLst/>
                        <a:latin typeface="Arial"/>
                        <a:ea typeface="Times New Roman"/>
                        <a:cs typeface="Times New Roman"/>
                      </a:endParaRPr>
                    </a:p>
                  </a:txBody>
                  <a:tcPr marL="44450" marR="44450" marT="0" marB="0">
                    <a:solidFill>
                      <a:schemeClr val="accent5"/>
                    </a:solidFill>
                  </a:tcPr>
                </a:tc>
              </a:tr>
              <a:tr h="567063">
                <a:tc>
                  <a:txBody>
                    <a:bodyPr/>
                    <a:lstStyle/>
                    <a:p>
                      <a:pPr algn="ctr">
                        <a:lnSpc>
                          <a:spcPct val="150000"/>
                        </a:lnSpc>
                        <a:spcAft>
                          <a:spcPts val="0"/>
                        </a:spcAft>
                      </a:pPr>
                      <a:r>
                        <a:rPr lang="pt-BR" sz="2400" dirty="0">
                          <a:effectLst/>
                        </a:rPr>
                        <a:t>+</a:t>
                      </a:r>
                      <a:endParaRPr lang="pt-BR" sz="2400" dirty="0">
                        <a:effectLst/>
                        <a:latin typeface="Arial"/>
                        <a:ea typeface="Times New Roman"/>
                        <a:cs typeface="Times New Roman"/>
                      </a:endParaRPr>
                    </a:p>
                  </a:txBody>
                  <a:tcPr marL="44450" marR="44450" marT="0" marB="0"/>
                </a:tc>
                <a:tc>
                  <a:txBody>
                    <a:bodyPr/>
                    <a:lstStyle/>
                    <a:p>
                      <a:pPr algn="just">
                        <a:lnSpc>
                          <a:spcPct val="150000"/>
                        </a:lnSpc>
                        <a:spcAft>
                          <a:spcPts val="0"/>
                        </a:spcAft>
                      </a:pPr>
                      <a:r>
                        <a:rPr lang="pt-BR" sz="2400">
                          <a:effectLst/>
                        </a:rPr>
                        <a:t>Adição</a:t>
                      </a:r>
                      <a:endParaRPr lang="pt-BR" sz="2400">
                        <a:effectLst/>
                        <a:latin typeface="Arial"/>
                        <a:ea typeface="Times New Roman"/>
                        <a:cs typeface="Times New Roman"/>
                      </a:endParaRPr>
                    </a:p>
                  </a:txBody>
                  <a:tcPr marL="44450" marR="44450" marT="0" marB="0"/>
                </a:tc>
              </a:tr>
              <a:tr h="567063">
                <a:tc>
                  <a:txBody>
                    <a:bodyPr/>
                    <a:lstStyle/>
                    <a:p>
                      <a:pPr algn="ctr">
                        <a:lnSpc>
                          <a:spcPct val="150000"/>
                        </a:lnSpc>
                        <a:spcAft>
                          <a:spcPts val="0"/>
                        </a:spcAft>
                      </a:pPr>
                      <a:r>
                        <a:rPr lang="pt-BR" sz="2400" dirty="0">
                          <a:effectLst/>
                        </a:rPr>
                        <a:t>-</a:t>
                      </a:r>
                      <a:endParaRPr lang="pt-BR" sz="2400" dirty="0">
                        <a:effectLst/>
                        <a:latin typeface="Arial"/>
                        <a:ea typeface="Times New Roman"/>
                        <a:cs typeface="Times New Roman"/>
                      </a:endParaRPr>
                    </a:p>
                  </a:txBody>
                  <a:tcPr marL="44450" marR="44450" marT="0" marB="0"/>
                </a:tc>
                <a:tc>
                  <a:txBody>
                    <a:bodyPr/>
                    <a:lstStyle/>
                    <a:p>
                      <a:pPr algn="just">
                        <a:lnSpc>
                          <a:spcPct val="150000"/>
                        </a:lnSpc>
                        <a:spcAft>
                          <a:spcPts val="0"/>
                        </a:spcAft>
                      </a:pPr>
                      <a:r>
                        <a:rPr lang="pt-BR" sz="2400" dirty="0">
                          <a:effectLst/>
                        </a:rPr>
                        <a:t>Subtração</a:t>
                      </a:r>
                      <a:endParaRPr lang="pt-BR" sz="2400" dirty="0">
                        <a:effectLst/>
                        <a:latin typeface="Arial"/>
                        <a:ea typeface="Times New Roman"/>
                        <a:cs typeface="Times New Roman"/>
                      </a:endParaRPr>
                    </a:p>
                  </a:txBody>
                  <a:tcPr marL="44450" marR="44450" marT="0" marB="0"/>
                </a:tc>
              </a:tr>
              <a:tr h="567063">
                <a:tc>
                  <a:txBody>
                    <a:bodyPr/>
                    <a:lstStyle/>
                    <a:p>
                      <a:pPr algn="ctr">
                        <a:lnSpc>
                          <a:spcPct val="150000"/>
                        </a:lnSpc>
                        <a:spcAft>
                          <a:spcPts val="0"/>
                        </a:spcAft>
                      </a:pPr>
                      <a:r>
                        <a:rPr lang="pt-BR" sz="2400">
                          <a:effectLst/>
                        </a:rPr>
                        <a:t>*</a:t>
                      </a:r>
                      <a:endParaRPr lang="pt-BR" sz="2400">
                        <a:effectLst/>
                        <a:latin typeface="Arial"/>
                        <a:ea typeface="Times New Roman"/>
                        <a:cs typeface="Times New Roman"/>
                      </a:endParaRPr>
                    </a:p>
                  </a:txBody>
                  <a:tcPr marL="44450" marR="44450" marT="0" marB="0"/>
                </a:tc>
                <a:tc>
                  <a:txBody>
                    <a:bodyPr/>
                    <a:lstStyle/>
                    <a:p>
                      <a:pPr algn="just">
                        <a:lnSpc>
                          <a:spcPct val="150000"/>
                        </a:lnSpc>
                        <a:spcAft>
                          <a:spcPts val="0"/>
                        </a:spcAft>
                      </a:pPr>
                      <a:r>
                        <a:rPr lang="pt-BR" sz="2400" dirty="0">
                          <a:effectLst/>
                        </a:rPr>
                        <a:t>Multiplicação</a:t>
                      </a:r>
                      <a:endParaRPr lang="pt-BR" sz="2400" dirty="0">
                        <a:effectLst/>
                        <a:latin typeface="Arial"/>
                        <a:ea typeface="Times New Roman"/>
                        <a:cs typeface="Times New Roman"/>
                      </a:endParaRPr>
                    </a:p>
                  </a:txBody>
                  <a:tcPr marL="44450" marR="44450" marT="0" marB="0"/>
                </a:tc>
              </a:tr>
              <a:tr h="567063">
                <a:tc>
                  <a:txBody>
                    <a:bodyPr/>
                    <a:lstStyle/>
                    <a:p>
                      <a:pPr algn="ctr">
                        <a:lnSpc>
                          <a:spcPct val="150000"/>
                        </a:lnSpc>
                        <a:spcAft>
                          <a:spcPts val="0"/>
                        </a:spcAft>
                      </a:pPr>
                      <a:r>
                        <a:rPr lang="pt-BR" sz="2400">
                          <a:effectLst/>
                        </a:rPr>
                        <a:t>/</a:t>
                      </a:r>
                      <a:endParaRPr lang="pt-BR" sz="2400">
                        <a:effectLst/>
                        <a:latin typeface="Arial"/>
                        <a:ea typeface="Times New Roman"/>
                        <a:cs typeface="Times New Roman"/>
                      </a:endParaRPr>
                    </a:p>
                  </a:txBody>
                  <a:tcPr marL="44450" marR="44450" marT="0" marB="0"/>
                </a:tc>
                <a:tc>
                  <a:txBody>
                    <a:bodyPr/>
                    <a:lstStyle/>
                    <a:p>
                      <a:pPr algn="just">
                        <a:lnSpc>
                          <a:spcPct val="150000"/>
                        </a:lnSpc>
                        <a:spcAft>
                          <a:spcPts val="0"/>
                        </a:spcAft>
                      </a:pPr>
                      <a:r>
                        <a:rPr lang="pt-BR" sz="2400" dirty="0">
                          <a:effectLst/>
                        </a:rPr>
                        <a:t>Divisão</a:t>
                      </a:r>
                      <a:endParaRPr lang="pt-BR" sz="2400" dirty="0">
                        <a:effectLst/>
                        <a:latin typeface="Arial"/>
                        <a:ea typeface="Times New Roman"/>
                        <a:cs typeface="Times New Roman"/>
                      </a:endParaRPr>
                    </a:p>
                  </a:txBody>
                  <a:tcPr marL="44450" marR="44450" marT="0" marB="0"/>
                </a:tc>
              </a:tr>
              <a:tr h="567063">
                <a:tc>
                  <a:txBody>
                    <a:bodyPr/>
                    <a:lstStyle/>
                    <a:p>
                      <a:pPr algn="ctr">
                        <a:lnSpc>
                          <a:spcPct val="150000"/>
                        </a:lnSpc>
                        <a:spcAft>
                          <a:spcPts val="0"/>
                        </a:spcAft>
                      </a:pPr>
                      <a:r>
                        <a:rPr lang="pt-BR" sz="2400">
                          <a:effectLst/>
                        </a:rPr>
                        <a:t>DIV</a:t>
                      </a:r>
                      <a:endParaRPr lang="pt-BR" sz="2400">
                        <a:effectLst/>
                        <a:latin typeface="Arial"/>
                        <a:ea typeface="Times New Roman"/>
                        <a:cs typeface="Times New Roman"/>
                      </a:endParaRPr>
                    </a:p>
                  </a:txBody>
                  <a:tcPr marL="44450" marR="44450" marT="0" marB="0"/>
                </a:tc>
                <a:tc>
                  <a:txBody>
                    <a:bodyPr/>
                    <a:lstStyle/>
                    <a:p>
                      <a:pPr algn="just">
                        <a:lnSpc>
                          <a:spcPct val="150000"/>
                        </a:lnSpc>
                        <a:spcAft>
                          <a:spcPts val="0"/>
                        </a:spcAft>
                      </a:pPr>
                      <a:r>
                        <a:rPr lang="pt-BR" sz="2400" dirty="0">
                          <a:effectLst/>
                        </a:rPr>
                        <a:t>Quociente</a:t>
                      </a:r>
                      <a:endParaRPr lang="pt-BR" sz="2400" dirty="0">
                        <a:effectLst/>
                        <a:latin typeface="Arial"/>
                        <a:ea typeface="Times New Roman"/>
                        <a:cs typeface="Times New Roman"/>
                      </a:endParaRPr>
                    </a:p>
                  </a:txBody>
                  <a:tcPr marL="44450" marR="44450" marT="0" marB="0"/>
                </a:tc>
              </a:tr>
              <a:tr h="567063">
                <a:tc>
                  <a:txBody>
                    <a:bodyPr/>
                    <a:lstStyle/>
                    <a:p>
                      <a:pPr algn="ctr">
                        <a:lnSpc>
                          <a:spcPct val="150000"/>
                        </a:lnSpc>
                        <a:spcAft>
                          <a:spcPts val="0"/>
                        </a:spcAft>
                      </a:pPr>
                      <a:r>
                        <a:rPr lang="pt-BR" sz="2400" dirty="0">
                          <a:effectLst/>
                        </a:rPr>
                        <a:t>MOD</a:t>
                      </a:r>
                      <a:endParaRPr lang="pt-BR" sz="2400" dirty="0">
                        <a:effectLst/>
                        <a:latin typeface="Arial"/>
                        <a:ea typeface="Times New Roman"/>
                        <a:cs typeface="Times New Roman"/>
                      </a:endParaRPr>
                    </a:p>
                  </a:txBody>
                  <a:tcPr marL="44450" marR="44450" marT="0" marB="0"/>
                </a:tc>
                <a:tc>
                  <a:txBody>
                    <a:bodyPr/>
                    <a:lstStyle/>
                    <a:p>
                      <a:pPr algn="just">
                        <a:lnSpc>
                          <a:spcPct val="150000"/>
                        </a:lnSpc>
                        <a:spcAft>
                          <a:spcPts val="0"/>
                        </a:spcAft>
                      </a:pPr>
                      <a:r>
                        <a:rPr lang="pt-BR" sz="2400" dirty="0">
                          <a:effectLst/>
                        </a:rPr>
                        <a:t>Resto da divisão </a:t>
                      </a:r>
                      <a:endParaRPr lang="pt-BR" sz="2400" dirty="0">
                        <a:effectLst/>
                        <a:latin typeface="Arial"/>
                        <a:ea typeface="Times New Roman"/>
                        <a:cs typeface="Times New Roman"/>
                      </a:endParaRPr>
                    </a:p>
                  </a:txBody>
                  <a:tcPr marL="44450" marR="44450" marT="0" marB="0"/>
                </a:tc>
              </a:tr>
              <a:tr h="567063">
                <a:tc>
                  <a:txBody>
                    <a:bodyPr/>
                    <a:lstStyle/>
                    <a:p>
                      <a:pPr algn="ctr">
                        <a:lnSpc>
                          <a:spcPct val="150000"/>
                        </a:lnSpc>
                        <a:spcAft>
                          <a:spcPts val="0"/>
                        </a:spcAft>
                      </a:pPr>
                      <a:r>
                        <a:rPr lang="pt-BR" sz="2400" dirty="0">
                          <a:effectLst/>
                        </a:rPr>
                        <a:t>**</a:t>
                      </a:r>
                      <a:endParaRPr lang="pt-BR" sz="2400" dirty="0">
                        <a:effectLst/>
                        <a:latin typeface="Arial"/>
                        <a:ea typeface="Times New Roman"/>
                        <a:cs typeface="Times New Roman"/>
                      </a:endParaRPr>
                    </a:p>
                  </a:txBody>
                  <a:tcPr marL="44450" marR="44450" marT="0" marB="0"/>
                </a:tc>
                <a:tc>
                  <a:txBody>
                    <a:bodyPr/>
                    <a:lstStyle/>
                    <a:p>
                      <a:pPr algn="just">
                        <a:lnSpc>
                          <a:spcPct val="150000"/>
                        </a:lnSpc>
                        <a:spcAft>
                          <a:spcPts val="0"/>
                        </a:spcAft>
                      </a:pPr>
                      <a:r>
                        <a:rPr lang="pt-BR" sz="2400" dirty="0" err="1">
                          <a:effectLst/>
                        </a:rPr>
                        <a:t>Exponenciação</a:t>
                      </a:r>
                      <a:r>
                        <a:rPr lang="pt-BR" sz="2400" dirty="0">
                          <a:effectLst/>
                        </a:rPr>
                        <a:t> </a:t>
                      </a:r>
                      <a:endParaRPr lang="pt-BR" sz="2400" dirty="0">
                        <a:effectLst/>
                        <a:latin typeface="Arial"/>
                        <a:ea typeface="Times New Roman"/>
                        <a:cs typeface="Times New Roman"/>
                      </a:endParaRPr>
                    </a:p>
                  </a:txBody>
                  <a:tcPr marL="44450" marR="44450" marT="0" marB="0"/>
                </a:tc>
              </a:tr>
            </a:tbl>
          </a:graphicData>
        </a:graphic>
      </p:graphicFrame>
    </p:spTree>
    <p:extLst>
      <p:ext uri="{BB962C8B-B14F-4D97-AF65-F5344CB8AC3E}">
        <p14:creationId xmlns:p14="http://schemas.microsoft.com/office/powerpoint/2010/main" val="40794611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Operadores Relacionais</a:t>
            </a:r>
            <a:endParaRPr lang="pt-BR" dirty="0"/>
          </a:p>
        </p:txBody>
      </p:sp>
      <p:graphicFrame>
        <p:nvGraphicFramePr>
          <p:cNvPr id="4" name="Espaço Reservado para Conteúdo 3"/>
          <p:cNvGraphicFramePr>
            <a:graphicFrameLocks noGrp="1"/>
          </p:cNvGraphicFramePr>
          <p:nvPr>
            <p:ph idx="1"/>
            <p:extLst>
              <p:ext uri="{D42A27DB-BD31-4B8C-83A1-F6EECF244321}">
                <p14:modId xmlns:p14="http://schemas.microsoft.com/office/powerpoint/2010/main" val="3259066707"/>
              </p:ext>
            </p:extLst>
          </p:nvPr>
        </p:nvGraphicFramePr>
        <p:xfrm>
          <a:off x="179512" y="1556791"/>
          <a:ext cx="8784977" cy="4536504"/>
        </p:xfrm>
        <a:graphic>
          <a:graphicData uri="http://schemas.openxmlformats.org/drawingml/2006/table">
            <a:tbl>
              <a:tblPr>
                <a:tableStyleId>{5C22544A-7EE6-4342-B048-85BDC9FD1C3A}</a:tableStyleId>
              </a:tblPr>
              <a:tblGrid>
                <a:gridCol w="4392013"/>
                <a:gridCol w="4392964"/>
              </a:tblGrid>
              <a:tr h="648072">
                <a:tc>
                  <a:txBody>
                    <a:bodyPr/>
                    <a:lstStyle/>
                    <a:p>
                      <a:pPr algn="ctr">
                        <a:lnSpc>
                          <a:spcPct val="150000"/>
                        </a:lnSpc>
                        <a:spcAft>
                          <a:spcPts val="0"/>
                        </a:spcAft>
                      </a:pPr>
                      <a:r>
                        <a:rPr lang="pt-BR" sz="2400" dirty="0">
                          <a:effectLst/>
                        </a:rPr>
                        <a:t>Operador</a:t>
                      </a:r>
                      <a:endParaRPr lang="pt-BR" sz="2400" dirty="0">
                        <a:effectLst/>
                        <a:latin typeface="Arial"/>
                        <a:ea typeface="Times New Roman"/>
                        <a:cs typeface="Times New Roman"/>
                      </a:endParaRPr>
                    </a:p>
                  </a:txBody>
                  <a:tcPr marL="44450" marR="44450" marT="0" marB="0">
                    <a:solidFill>
                      <a:schemeClr val="accent5"/>
                    </a:solidFill>
                  </a:tcPr>
                </a:tc>
                <a:tc>
                  <a:txBody>
                    <a:bodyPr/>
                    <a:lstStyle/>
                    <a:p>
                      <a:pPr algn="just">
                        <a:lnSpc>
                          <a:spcPct val="150000"/>
                        </a:lnSpc>
                        <a:spcAft>
                          <a:spcPts val="0"/>
                        </a:spcAft>
                      </a:pPr>
                      <a:r>
                        <a:rPr lang="pt-BR" sz="2400" dirty="0">
                          <a:effectLst/>
                        </a:rPr>
                        <a:t>Referência do operador</a:t>
                      </a:r>
                      <a:endParaRPr lang="pt-BR" sz="2400" dirty="0">
                        <a:effectLst/>
                        <a:latin typeface="Arial"/>
                        <a:ea typeface="Times New Roman"/>
                        <a:cs typeface="Times New Roman"/>
                      </a:endParaRPr>
                    </a:p>
                  </a:txBody>
                  <a:tcPr marL="44450" marR="44450" marT="0" marB="0">
                    <a:solidFill>
                      <a:schemeClr val="accent5"/>
                    </a:solidFill>
                  </a:tcPr>
                </a:tc>
              </a:tr>
              <a:tr h="648072">
                <a:tc>
                  <a:txBody>
                    <a:bodyPr/>
                    <a:lstStyle/>
                    <a:p>
                      <a:pPr algn="ctr">
                        <a:lnSpc>
                          <a:spcPct val="150000"/>
                        </a:lnSpc>
                        <a:spcAft>
                          <a:spcPts val="0"/>
                        </a:spcAft>
                      </a:pPr>
                      <a:r>
                        <a:rPr lang="pt-BR" sz="2400">
                          <a:effectLst/>
                        </a:rPr>
                        <a:t>=</a:t>
                      </a:r>
                      <a:endParaRPr lang="pt-BR" sz="2400">
                        <a:effectLst/>
                        <a:latin typeface="Arial"/>
                        <a:ea typeface="Times New Roman"/>
                        <a:cs typeface="Times New Roman"/>
                      </a:endParaRPr>
                    </a:p>
                  </a:txBody>
                  <a:tcPr marL="44450" marR="44450" marT="0" marB="0"/>
                </a:tc>
                <a:tc>
                  <a:txBody>
                    <a:bodyPr/>
                    <a:lstStyle/>
                    <a:p>
                      <a:pPr algn="just">
                        <a:lnSpc>
                          <a:spcPct val="150000"/>
                        </a:lnSpc>
                        <a:spcAft>
                          <a:spcPts val="0"/>
                        </a:spcAft>
                      </a:pPr>
                      <a:r>
                        <a:rPr lang="pt-BR" sz="2400">
                          <a:effectLst/>
                        </a:rPr>
                        <a:t>Igual</a:t>
                      </a:r>
                      <a:endParaRPr lang="pt-BR" sz="2400">
                        <a:effectLst/>
                        <a:latin typeface="Arial"/>
                        <a:ea typeface="Times New Roman"/>
                        <a:cs typeface="Times New Roman"/>
                      </a:endParaRPr>
                    </a:p>
                  </a:txBody>
                  <a:tcPr marL="44450" marR="44450" marT="0" marB="0"/>
                </a:tc>
              </a:tr>
              <a:tr h="648072">
                <a:tc>
                  <a:txBody>
                    <a:bodyPr/>
                    <a:lstStyle/>
                    <a:p>
                      <a:pPr algn="ctr">
                        <a:lnSpc>
                          <a:spcPct val="150000"/>
                        </a:lnSpc>
                        <a:spcAft>
                          <a:spcPts val="0"/>
                        </a:spcAft>
                      </a:pPr>
                      <a:r>
                        <a:rPr lang="pt-BR" sz="2400">
                          <a:effectLst/>
                        </a:rPr>
                        <a:t>&lt;&gt; </a:t>
                      </a:r>
                      <a:endParaRPr lang="pt-BR" sz="2400">
                        <a:effectLst/>
                        <a:latin typeface="Arial"/>
                        <a:ea typeface="Times New Roman"/>
                        <a:cs typeface="Times New Roman"/>
                      </a:endParaRPr>
                    </a:p>
                  </a:txBody>
                  <a:tcPr marL="44450" marR="44450" marT="0" marB="0"/>
                </a:tc>
                <a:tc>
                  <a:txBody>
                    <a:bodyPr/>
                    <a:lstStyle/>
                    <a:p>
                      <a:pPr algn="just">
                        <a:lnSpc>
                          <a:spcPct val="150000"/>
                        </a:lnSpc>
                        <a:spcAft>
                          <a:spcPts val="0"/>
                        </a:spcAft>
                      </a:pPr>
                      <a:r>
                        <a:rPr lang="pt-BR" sz="2400">
                          <a:effectLst/>
                        </a:rPr>
                        <a:t>Diferente</a:t>
                      </a:r>
                      <a:endParaRPr lang="pt-BR" sz="2400">
                        <a:effectLst/>
                        <a:latin typeface="Arial"/>
                        <a:ea typeface="Times New Roman"/>
                        <a:cs typeface="Times New Roman"/>
                      </a:endParaRPr>
                    </a:p>
                  </a:txBody>
                  <a:tcPr marL="44450" marR="44450" marT="0" marB="0"/>
                </a:tc>
              </a:tr>
              <a:tr h="648072">
                <a:tc>
                  <a:txBody>
                    <a:bodyPr/>
                    <a:lstStyle/>
                    <a:p>
                      <a:pPr algn="ctr">
                        <a:lnSpc>
                          <a:spcPct val="150000"/>
                        </a:lnSpc>
                        <a:spcAft>
                          <a:spcPts val="0"/>
                        </a:spcAft>
                      </a:pPr>
                      <a:r>
                        <a:rPr lang="pt-BR" sz="2400">
                          <a:effectLst/>
                        </a:rPr>
                        <a:t>&gt;=</a:t>
                      </a:r>
                      <a:endParaRPr lang="pt-BR" sz="2400">
                        <a:effectLst/>
                        <a:latin typeface="Arial"/>
                        <a:ea typeface="Times New Roman"/>
                        <a:cs typeface="Times New Roman"/>
                      </a:endParaRPr>
                    </a:p>
                  </a:txBody>
                  <a:tcPr marL="44450" marR="44450" marT="0" marB="0"/>
                </a:tc>
                <a:tc>
                  <a:txBody>
                    <a:bodyPr/>
                    <a:lstStyle/>
                    <a:p>
                      <a:pPr algn="just">
                        <a:lnSpc>
                          <a:spcPct val="150000"/>
                        </a:lnSpc>
                        <a:spcAft>
                          <a:spcPts val="0"/>
                        </a:spcAft>
                      </a:pPr>
                      <a:r>
                        <a:rPr lang="pt-BR" sz="2400">
                          <a:effectLst/>
                        </a:rPr>
                        <a:t>Maior ou igual</a:t>
                      </a:r>
                      <a:endParaRPr lang="pt-BR" sz="2400">
                        <a:effectLst/>
                        <a:latin typeface="Arial"/>
                        <a:ea typeface="Times New Roman"/>
                        <a:cs typeface="Times New Roman"/>
                      </a:endParaRPr>
                    </a:p>
                  </a:txBody>
                  <a:tcPr marL="44450" marR="44450" marT="0" marB="0"/>
                </a:tc>
              </a:tr>
              <a:tr h="648072">
                <a:tc>
                  <a:txBody>
                    <a:bodyPr/>
                    <a:lstStyle/>
                    <a:p>
                      <a:pPr algn="ctr">
                        <a:lnSpc>
                          <a:spcPct val="150000"/>
                        </a:lnSpc>
                        <a:spcAft>
                          <a:spcPts val="0"/>
                        </a:spcAft>
                      </a:pPr>
                      <a:r>
                        <a:rPr lang="pt-BR" sz="2400" dirty="0">
                          <a:effectLst/>
                        </a:rPr>
                        <a:t>&lt;= </a:t>
                      </a:r>
                      <a:endParaRPr lang="pt-BR" sz="2400" dirty="0">
                        <a:effectLst/>
                        <a:latin typeface="Arial"/>
                        <a:ea typeface="Times New Roman"/>
                        <a:cs typeface="Times New Roman"/>
                      </a:endParaRPr>
                    </a:p>
                  </a:txBody>
                  <a:tcPr marL="44450" marR="44450" marT="0" marB="0"/>
                </a:tc>
                <a:tc>
                  <a:txBody>
                    <a:bodyPr/>
                    <a:lstStyle/>
                    <a:p>
                      <a:pPr algn="just">
                        <a:lnSpc>
                          <a:spcPct val="150000"/>
                        </a:lnSpc>
                        <a:spcAft>
                          <a:spcPts val="0"/>
                        </a:spcAft>
                      </a:pPr>
                      <a:r>
                        <a:rPr lang="pt-BR" sz="2400">
                          <a:effectLst/>
                        </a:rPr>
                        <a:t>Menor ou igual</a:t>
                      </a:r>
                      <a:endParaRPr lang="pt-BR" sz="2400">
                        <a:effectLst/>
                        <a:latin typeface="Arial"/>
                        <a:ea typeface="Times New Roman"/>
                        <a:cs typeface="Times New Roman"/>
                      </a:endParaRPr>
                    </a:p>
                  </a:txBody>
                  <a:tcPr marL="44450" marR="44450" marT="0" marB="0"/>
                </a:tc>
              </a:tr>
              <a:tr h="648072">
                <a:tc>
                  <a:txBody>
                    <a:bodyPr/>
                    <a:lstStyle/>
                    <a:p>
                      <a:pPr algn="ctr">
                        <a:lnSpc>
                          <a:spcPct val="150000"/>
                        </a:lnSpc>
                        <a:spcAft>
                          <a:spcPts val="0"/>
                        </a:spcAft>
                      </a:pPr>
                      <a:r>
                        <a:rPr lang="pt-BR" sz="2400">
                          <a:effectLst/>
                        </a:rPr>
                        <a:t>&gt; </a:t>
                      </a:r>
                      <a:endParaRPr lang="pt-BR" sz="2400">
                        <a:effectLst/>
                        <a:latin typeface="Arial"/>
                        <a:ea typeface="Times New Roman"/>
                        <a:cs typeface="Times New Roman"/>
                      </a:endParaRPr>
                    </a:p>
                  </a:txBody>
                  <a:tcPr marL="44450" marR="44450" marT="0" marB="0"/>
                </a:tc>
                <a:tc>
                  <a:txBody>
                    <a:bodyPr/>
                    <a:lstStyle/>
                    <a:p>
                      <a:pPr algn="just">
                        <a:lnSpc>
                          <a:spcPct val="150000"/>
                        </a:lnSpc>
                        <a:spcAft>
                          <a:spcPts val="0"/>
                        </a:spcAft>
                      </a:pPr>
                      <a:r>
                        <a:rPr lang="pt-BR" sz="2400">
                          <a:effectLst/>
                        </a:rPr>
                        <a:t>Maior </a:t>
                      </a:r>
                      <a:endParaRPr lang="pt-BR" sz="2400">
                        <a:effectLst/>
                        <a:latin typeface="Arial"/>
                        <a:ea typeface="Times New Roman"/>
                        <a:cs typeface="Times New Roman"/>
                      </a:endParaRPr>
                    </a:p>
                  </a:txBody>
                  <a:tcPr marL="44450" marR="44450" marT="0" marB="0"/>
                </a:tc>
              </a:tr>
              <a:tr h="648072">
                <a:tc>
                  <a:txBody>
                    <a:bodyPr/>
                    <a:lstStyle/>
                    <a:p>
                      <a:pPr algn="ctr">
                        <a:lnSpc>
                          <a:spcPct val="150000"/>
                        </a:lnSpc>
                        <a:spcAft>
                          <a:spcPts val="0"/>
                        </a:spcAft>
                      </a:pPr>
                      <a:r>
                        <a:rPr lang="pt-BR" sz="2400">
                          <a:effectLst/>
                        </a:rPr>
                        <a:t>&lt; </a:t>
                      </a:r>
                      <a:endParaRPr lang="pt-BR" sz="2400">
                        <a:effectLst/>
                        <a:latin typeface="Arial"/>
                        <a:ea typeface="Times New Roman"/>
                        <a:cs typeface="Times New Roman"/>
                      </a:endParaRPr>
                    </a:p>
                  </a:txBody>
                  <a:tcPr marL="44450" marR="44450" marT="0" marB="0"/>
                </a:tc>
                <a:tc>
                  <a:txBody>
                    <a:bodyPr/>
                    <a:lstStyle/>
                    <a:p>
                      <a:pPr algn="just">
                        <a:lnSpc>
                          <a:spcPct val="150000"/>
                        </a:lnSpc>
                        <a:spcAft>
                          <a:spcPts val="0"/>
                        </a:spcAft>
                      </a:pPr>
                      <a:r>
                        <a:rPr lang="pt-BR" sz="2400" dirty="0">
                          <a:effectLst/>
                        </a:rPr>
                        <a:t>Menor</a:t>
                      </a:r>
                      <a:endParaRPr lang="pt-BR" sz="2400" dirty="0">
                        <a:effectLst/>
                        <a:latin typeface="Arial"/>
                        <a:ea typeface="Times New Roman"/>
                        <a:cs typeface="Times New Roman"/>
                      </a:endParaRPr>
                    </a:p>
                  </a:txBody>
                  <a:tcPr marL="44450" marR="44450" marT="0" marB="0"/>
                </a:tc>
              </a:tr>
            </a:tbl>
          </a:graphicData>
        </a:graphic>
      </p:graphicFrame>
    </p:spTree>
    <p:extLst>
      <p:ext uri="{BB962C8B-B14F-4D97-AF65-F5344CB8AC3E}">
        <p14:creationId xmlns:p14="http://schemas.microsoft.com/office/powerpoint/2010/main" val="24616966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Operadores Lógicos</a:t>
            </a:r>
            <a:endParaRPr lang="pt-BR" dirty="0"/>
          </a:p>
        </p:txBody>
      </p:sp>
      <p:graphicFrame>
        <p:nvGraphicFramePr>
          <p:cNvPr id="4" name="Espaço Reservado para Conteúdo 3"/>
          <p:cNvGraphicFramePr>
            <a:graphicFrameLocks noGrp="1"/>
          </p:cNvGraphicFramePr>
          <p:nvPr>
            <p:ph idx="1"/>
            <p:extLst>
              <p:ext uri="{D42A27DB-BD31-4B8C-83A1-F6EECF244321}">
                <p14:modId xmlns:p14="http://schemas.microsoft.com/office/powerpoint/2010/main" val="187185418"/>
              </p:ext>
            </p:extLst>
          </p:nvPr>
        </p:nvGraphicFramePr>
        <p:xfrm>
          <a:off x="323529" y="1873628"/>
          <a:ext cx="8568951" cy="2707500"/>
        </p:xfrm>
        <a:graphic>
          <a:graphicData uri="http://schemas.openxmlformats.org/drawingml/2006/table">
            <a:tbl>
              <a:tblPr>
                <a:tableStyleId>{5C22544A-7EE6-4342-B048-85BDC9FD1C3A}</a:tableStyleId>
              </a:tblPr>
              <a:tblGrid>
                <a:gridCol w="4284011"/>
                <a:gridCol w="4284940"/>
              </a:tblGrid>
              <a:tr h="676875">
                <a:tc>
                  <a:txBody>
                    <a:bodyPr/>
                    <a:lstStyle/>
                    <a:p>
                      <a:pPr algn="ctr">
                        <a:lnSpc>
                          <a:spcPct val="150000"/>
                        </a:lnSpc>
                        <a:spcAft>
                          <a:spcPts val="0"/>
                        </a:spcAft>
                      </a:pPr>
                      <a:r>
                        <a:rPr lang="pt-BR" sz="2400" dirty="0">
                          <a:effectLst/>
                        </a:rPr>
                        <a:t>Operador</a:t>
                      </a:r>
                      <a:endParaRPr lang="pt-BR" sz="2400" dirty="0">
                        <a:effectLst/>
                        <a:latin typeface="Arial"/>
                        <a:ea typeface="Times New Roman"/>
                        <a:cs typeface="Times New Roman"/>
                      </a:endParaRPr>
                    </a:p>
                  </a:txBody>
                  <a:tcPr marL="44450" marR="44450" marT="0" marB="0">
                    <a:solidFill>
                      <a:schemeClr val="accent5"/>
                    </a:solidFill>
                  </a:tcPr>
                </a:tc>
                <a:tc>
                  <a:txBody>
                    <a:bodyPr/>
                    <a:lstStyle/>
                    <a:p>
                      <a:pPr algn="just">
                        <a:lnSpc>
                          <a:spcPct val="150000"/>
                        </a:lnSpc>
                        <a:spcAft>
                          <a:spcPts val="0"/>
                        </a:spcAft>
                      </a:pPr>
                      <a:r>
                        <a:rPr lang="pt-BR" sz="2400" dirty="0">
                          <a:effectLst/>
                        </a:rPr>
                        <a:t>Referência do operador</a:t>
                      </a:r>
                      <a:endParaRPr lang="pt-BR" sz="2400" dirty="0">
                        <a:effectLst/>
                        <a:latin typeface="Arial"/>
                        <a:ea typeface="Times New Roman"/>
                        <a:cs typeface="Times New Roman"/>
                      </a:endParaRPr>
                    </a:p>
                  </a:txBody>
                  <a:tcPr marL="44450" marR="44450" marT="0" marB="0">
                    <a:solidFill>
                      <a:schemeClr val="accent5"/>
                    </a:solidFill>
                  </a:tcPr>
                </a:tc>
              </a:tr>
              <a:tr h="676875">
                <a:tc>
                  <a:txBody>
                    <a:bodyPr/>
                    <a:lstStyle/>
                    <a:p>
                      <a:pPr algn="ctr">
                        <a:lnSpc>
                          <a:spcPct val="150000"/>
                        </a:lnSpc>
                        <a:spcAft>
                          <a:spcPts val="0"/>
                        </a:spcAft>
                      </a:pPr>
                      <a:r>
                        <a:rPr lang="pt-BR" sz="2400" dirty="0">
                          <a:effectLst/>
                        </a:rPr>
                        <a:t>AND</a:t>
                      </a:r>
                      <a:endParaRPr lang="pt-BR" sz="2400" dirty="0">
                        <a:effectLst/>
                        <a:latin typeface="Arial"/>
                        <a:ea typeface="Times New Roman"/>
                        <a:cs typeface="Times New Roman"/>
                      </a:endParaRPr>
                    </a:p>
                  </a:txBody>
                  <a:tcPr marL="44450" marR="44450" marT="0" marB="0"/>
                </a:tc>
                <a:tc>
                  <a:txBody>
                    <a:bodyPr/>
                    <a:lstStyle/>
                    <a:p>
                      <a:pPr algn="just">
                        <a:lnSpc>
                          <a:spcPct val="150000"/>
                        </a:lnSpc>
                        <a:spcAft>
                          <a:spcPts val="0"/>
                        </a:spcAft>
                      </a:pPr>
                      <a:r>
                        <a:rPr lang="pt-BR" sz="2400">
                          <a:effectLst/>
                        </a:rPr>
                        <a:t>E</a:t>
                      </a:r>
                      <a:endParaRPr lang="pt-BR" sz="2400">
                        <a:effectLst/>
                        <a:latin typeface="Arial"/>
                        <a:ea typeface="Times New Roman"/>
                        <a:cs typeface="Times New Roman"/>
                      </a:endParaRPr>
                    </a:p>
                  </a:txBody>
                  <a:tcPr marL="44450" marR="44450" marT="0" marB="0"/>
                </a:tc>
              </a:tr>
              <a:tr h="676875">
                <a:tc>
                  <a:txBody>
                    <a:bodyPr/>
                    <a:lstStyle/>
                    <a:p>
                      <a:pPr algn="ctr">
                        <a:lnSpc>
                          <a:spcPct val="150000"/>
                        </a:lnSpc>
                        <a:spcAft>
                          <a:spcPts val="0"/>
                        </a:spcAft>
                      </a:pPr>
                      <a:r>
                        <a:rPr lang="pt-BR" sz="2400" dirty="0">
                          <a:effectLst/>
                        </a:rPr>
                        <a:t>OR</a:t>
                      </a:r>
                      <a:endParaRPr lang="pt-BR" sz="2400" dirty="0">
                        <a:effectLst/>
                        <a:latin typeface="Arial"/>
                        <a:ea typeface="Times New Roman"/>
                        <a:cs typeface="Times New Roman"/>
                      </a:endParaRPr>
                    </a:p>
                  </a:txBody>
                  <a:tcPr marL="44450" marR="44450" marT="0" marB="0"/>
                </a:tc>
                <a:tc>
                  <a:txBody>
                    <a:bodyPr/>
                    <a:lstStyle/>
                    <a:p>
                      <a:pPr algn="just">
                        <a:lnSpc>
                          <a:spcPct val="150000"/>
                        </a:lnSpc>
                        <a:spcAft>
                          <a:spcPts val="0"/>
                        </a:spcAft>
                      </a:pPr>
                      <a:r>
                        <a:rPr lang="pt-BR" sz="2400" dirty="0">
                          <a:effectLst/>
                        </a:rPr>
                        <a:t>OU</a:t>
                      </a:r>
                      <a:endParaRPr lang="pt-BR" sz="2400" dirty="0">
                        <a:effectLst/>
                        <a:latin typeface="Arial"/>
                        <a:ea typeface="Times New Roman"/>
                        <a:cs typeface="Times New Roman"/>
                      </a:endParaRPr>
                    </a:p>
                  </a:txBody>
                  <a:tcPr marL="44450" marR="44450" marT="0" marB="0"/>
                </a:tc>
              </a:tr>
              <a:tr h="676875">
                <a:tc>
                  <a:txBody>
                    <a:bodyPr/>
                    <a:lstStyle/>
                    <a:p>
                      <a:pPr algn="ctr">
                        <a:lnSpc>
                          <a:spcPct val="150000"/>
                        </a:lnSpc>
                        <a:spcAft>
                          <a:spcPts val="0"/>
                        </a:spcAft>
                      </a:pPr>
                      <a:r>
                        <a:rPr lang="pt-BR" sz="2400" dirty="0">
                          <a:effectLst/>
                        </a:rPr>
                        <a:t>NOT </a:t>
                      </a:r>
                      <a:endParaRPr lang="pt-BR" sz="2400" dirty="0">
                        <a:effectLst/>
                        <a:latin typeface="Arial"/>
                        <a:ea typeface="Times New Roman"/>
                        <a:cs typeface="Times New Roman"/>
                      </a:endParaRPr>
                    </a:p>
                  </a:txBody>
                  <a:tcPr marL="44450" marR="44450" marT="0" marB="0"/>
                </a:tc>
                <a:tc>
                  <a:txBody>
                    <a:bodyPr/>
                    <a:lstStyle/>
                    <a:p>
                      <a:pPr algn="just">
                        <a:lnSpc>
                          <a:spcPct val="150000"/>
                        </a:lnSpc>
                        <a:spcAft>
                          <a:spcPts val="0"/>
                        </a:spcAft>
                      </a:pPr>
                      <a:r>
                        <a:rPr lang="pt-BR" sz="2400" dirty="0">
                          <a:effectLst/>
                        </a:rPr>
                        <a:t>NÃO</a:t>
                      </a:r>
                      <a:endParaRPr lang="pt-BR" sz="2400" dirty="0">
                        <a:effectLst/>
                        <a:latin typeface="Arial"/>
                        <a:ea typeface="Times New Roman"/>
                        <a:cs typeface="Times New Roman"/>
                      </a:endParaRPr>
                    </a:p>
                  </a:txBody>
                  <a:tcPr marL="44450" marR="44450" marT="0" marB="0"/>
                </a:tc>
              </a:tr>
            </a:tbl>
          </a:graphicData>
        </a:graphic>
      </p:graphicFrame>
    </p:spTree>
    <p:extLst>
      <p:ext uri="{BB962C8B-B14F-4D97-AF65-F5344CB8AC3E}">
        <p14:creationId xmlns:p14="http://schemas.microsoft.com/office/powerpoint/2010/main" val="8081429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u="sng" dirty="0"/>
              <a:t>Operador</a:t>
            </a:r>
            <a:r>
              <a:rPr lang="pt-BR" dirty="0"/>
              <a:t> </a:t>
            </a:r>
            <a:r>
              <a:rPr lang="pt-BR" b="1" dirty="0"/>
              <a:t>AND</a:t>
            </a:r>
            <a:r>
              <a:rPr lang="pt-BR" dirty="0"/>
              <a:t>: </a:t>
            </a:r>
          </a:p>
        </p:txBody>
      </p:sp>
      <p:graphicFrame>
        <p:nvGraphicFramePr>
          <p:cNvPr id="5" name="Espaço Reservado para Conteúdo 4"/>
          <p:cNvGraphicFramePr>
            <a:graphicFrameLocks noGrp="1"/>
          </p:cNvGraphicFramePr>
          <p:nvPr>
            <p:ph idx="1"/>
            <p:extLst>
              <p:ext uri="{D42A27DB-BD31-4B8C-83A1-F6EECF244321}">
                <p14:modId xmlns:p14="http://schemas.microsoft.com/office/powerpoint/2010/main" val="1846183556"/>
              </p:ext>
            </p:extLst>
          </p:nvPr>
        </p:nvGraphicFramePr>
        <p:xfrm>
          <a:off x="611560" y="1988839"/>
          <a:ext cx="7704855" cy="2880320"/>
        </p:xfrm>
        <a:graphic>
          <a:graphicData uri="http://schemas.openxmlformats.org/drawingml/2006/table">
            <a:tbl>
              <a:tblPr firstRow="1" firstCol="1" lastRow="1" lastCol="1" bandRow="1" bandCol="1">
                <a:tableStyleId>{5C22544A-7EE6-4342-B048-85BDC9FD1C3A}</a:tableStyleId>
              </a:tblPr>
              <a:tblGrid>
                <a:gridCol w="1728733"/>
                <a:gridCol w="1348246"/>
                <a:gridCol w="1729560"/>
                <a:gridCol w="1168756"/>
                <a:gridCol w="1729560"/>
              </a:tblGrid>
              <a:tr h="720080">
                <a:tc>
                  <a:txBody>
                    <a:bodyPr/>
                    <a:lstStyle/>
                    <a:p>
                      <a:pPr>
                        <a:lnSpc>
                          <a:spcPct val="150000"/>
                        </a:lnSpc>
                        <a:spcAft>
                          <a:spcPts val="0"/>
                        </a:spcAft>
                      </a:pPr>
                      <a:r>
                        <a:rPr lang="pt-BR" sz="2000" dirty="0">
                          <a:effectLst/>
                        </a:rPr>
                        <a:t>VERDADEIRO</a:t>
                      </a:r>
                      <a:endParaRPr lang="pt-BR" sz="2000" dirty="0">
                        <a:effectLst/>
                        <a:latin typeface="Arial"/>
                        <a:ea typeface="Times New Roman"/>
                        <a:cs typeface="Times New Roman"/>
                      </a:endParaRPr>
                    </a:p>
                  </a:txBody>
                  <a:tcPr marL="68580" marR="68580" marT="0" marB="0">
                    <a:solidFill>
                      <a:schemeClr val="accent5">
                        <a:lumMod val="75000"/>
                      </a:schemeClr>
                    </a:solidFill>
                  </a:tcPr>
                </a:tc>
                <a:tc>
                  <a:txBody>
                    <a:bodyPr/>
                    <a:lstStyle/>
                    <a:p>
                      <a:pPr algn="ctr">
                        <a:lnSpc>
                          <a:spcPct val="150000"/>
                        </a:lnSpc>
                        <a:spcAft>
                          <a:spcPts val="0"/>
                        </a:spcAft>
                      </a:pPr>
                      <a:r>
                        <a:rPr lang="pt-BR" sz="2000" b="1" dirty="0">
                          <a:solidFill>
                            <a:schemeClr val="tx1"/>
                          </a:solidFill>
                          <a:effectLst/>
                        </a:rPr>
                        <a:t>AND</a:t>
                      </a:r>
                      <a:endParaRPr lang="pt-BR" sz="2000" b="1" dirty="0">
                        <a:solidFill>
                          <a:schemeClr val="tx1"/>
                        </a:solidFill>
                        <a:effectLst/>
                        <a:latin typeface="Arial"/>
                        <a:ea typeface="Times New Roman"/>
                        <a:cs typeface="Times New Roman"/>
                      </a:endParaRPr>
                    </a:p>
                  </a:txBody>
                  <a:tcPr marL="68580" marR="68580" marT="0" marB="0">
                    <a:solidFill>
                      <a:schemeClr val="accent5">
                        <a:lumMod val="75000"/>
                      </a:schemeClr>
                    </a:solidFill>
                  </a:tcPr>
                </a:tc>
                <a:tc>
                  <a:txBody>
                    <a:bodyPr/>
                    <a:lstStyle/>
                    <a:p>
                      <a:pPr>
                        <a:lnSpc>
                          <a:spcPct val="150000"/>
                        </a:lnSpc>
                        <a:spcAft>
                          <a:spcPts val="0"/>
                        </a:spcAft>
                      </a:pPr>
                      <a:r>
                        <a:rPr lang="pt-BR" sz="2000" dirty="0">
                          <a:effectLst/>
                        </a:rPr>
                        <a:t>VERDADEIRO </a:t>
                      </a:r>
                      <a:endParaRPr lang="pt-BR" sz="2000" dirty="0">
                        <a:effectLst/>
                        <a:latin typeface="Arial"/>
                        <a:ea typeface="Times New Roman"/>
                        <a:cs typeface="Times New Roman"/>
                      </a:endParaRPr>
                    </a:p>
                  </a:txBody>
                  <a:tcPr marL="68580" marR="68580" marT="0" marB="0">
                    <a:solidFill>
                      <a:schemeClr val="accent5">
                        <a:lumMod val="75000"/>
                      </a:schemeClr>
                    </a:solidFill>
                  </a:tcPr>
                </a:tc>
                <a:tc>
                  <a:txBody>
                    <a:bodyPr/>
                    <a:lstStyle/>
                    <a:p>
                      <a:pPr algn="ctr">
                        <a:lnSpc>
                          <a:spcPct val="150000"/>
                        </a:lnSpc>
                        <a:spcAft>
                          <a:spcPts val="0"/>
                        </a:spcAft>
                      </a:pPr>
                      <a:r>
                        <a:rPr lang="pt-BR" sz="2000" dirty="0">
                          <a:solidFill>
                            <a:schemeClr val="tx1"/>
                          </a:solidFill>
                          <a:effectLst/>
                          <a:sym typeface="Wingdings"/>
                        </a:rPr>
                        <a:t></a:t>
                      </a:r>
                      <a:endParaRPr lang="pt-BR" sz="2000" dirty="0">
                        <a:solidFill>
                          <a:schemeClr val="tx1"/>
                        </a:solidFill>
                        <a:effectLst/>
                        <a:latin typeface="Arial"/>
                        <a:ea typeface="Times New Roman"/>
                        <a:cs typeface="Times New Roman"/>
                      </a:endParaRPr>
                    </a:p>
                  </a:txBody>
                  <a:tcPr marL="68580" marR="68580" marT="0" marB="0">
                    <a:solidFill>
                      <a:schemeClr val="accent5">
                        <a:lumMod val="75000"/>
                      </a:schemeClr>
                    </a:solidFill>
                  </a:tcPr>
                </a:tc>
                <a:tc>
                  <a:txBody>
                    <a:bodyPr/>
                    <a:lstStyle/>
                    <a:p>
                      <a:pPr>
                        <a:lnSpc>
                          <a:spcPct val="150000"/>
                        </a:lnSpc>
                        <a:spcAft>
                          <a:spcPts val="0"/>
                        </a:spcAft>
                      </a:pPr>
                      <a:r>
                        <a:rPr lang="pt-BR" sz="2000" dirty="0">
                          <a:effectLst/>
                        </a:rPr>
                        <a:t>VERDADEIRO</a:t>
                      </a:r>
                      <a:endParaRPr lang="pt-BR" sz="2000" dirty="0">
                        <a:effectLst/>
                        <a:latin typeface="Arial"/>
                        <a:ea typeface="Times New Roman"/>
                        <a:cs typeface="Times New Roman"/>
                      </a:endParaRPr>
                    </a:p>
                  </a:txBody>
                  <a:tcPr marL="68580" marR="68580" marT="0" marB="0">
                    <a:solidFill>
                      <a:srgbClr val="FF0000"/>
                    </a:solidFill>
                  </a:tcPr>
                </a:tc>
              </a:tr>
              <a:tr h="720080">
                <a:tc>
                  <a:txBody>
                    <a:bodyPr/>
                    <a:lstStyle/>
                    <a:p>
                      <a:pPr>
                        <a:lnSpc>
                          <a:spcPct val="150000"/>
                        </a:lnSpc>
                        <a:spcAft>
                          <a:spcPts val="0"/>
                        </a:spcAft>
                      </a:pPr>
                      <a:r>
                        <a:rPr lang="pt-BR" sz="2000" dirty="0">
                          <a:effectLst/>
                        </a:rPr>
                        <a:t>VERDADEIRO</a:t>
                      </a:r>
                      <a:endParaRPr lang="pt-BR" sz="2000" dirty="0">
                        <a:effectLst/>
                        <a:latin typeface="Arial"/>
                        <a:ea typeface="Times New Roman"/>
                        <a:cs typeface="Times New Roman"/>
                      </a:endParaRPr>
                    </a:p>
                  </a:txBody>
                  <a:tcPr marL="68580" marR="68580" marT="0" marB="0">
                    <a:solidFill>
                      <a:schemeClr val="accent5">
                        <a:lumMod val="75000"/>
                      </a:schemeClr>
                    </a:solidFill>
                  </a:tcPr>
                </a:tc>
                <a:tc>
                  <a:txBody>
                    <a:bodyPr/>
                    <a:lstStyle/>
                    <a:p>
                      <a:pPr algn="ctr">
                        <a:lnSpc>
                          <a:spcPct val="150000"/>
                        </a:lnSpc>
                        <a:spcAft>
                          <a:spcPts val="0"/>
                        </a:spcAft>
                      </a:pPr>
                      <a:r>
                        <a:rPr lang="pt-BR" sz="2000" b="1" dirty="0">
                          <a:solidFill>
                            <a:schemeClr val="tx1"/>
                          </a:solidFill>
                          <a:effectLst/>
                        </a:rPr>
                        <a:t>AND</a:t>
                      </a:r>
                      <a:endParaRPr lang="pt-BR" sz="2000" b="1" dirty="0">
                        <a:solidFill>
                          <a:schemeClr val="tx1"/>
                        </a:solidFill>
                        <a:effectLst/>
                        <a:latin typeface="Arial"/>
                        <a:ea typeface="Times New Roman"/>
                        <a:cs typeface="Times New Roman"/>
                      </a:endParaRPr>
                    </a:p>
                  </a:txBody>
                  <a:tcPr marL="68580" marR="68580" marT="0" marB="0">
                    <a:solidFill>
                      <a:schemeClr val="accent5">
                        <a:lumMod val="75000"/>
                      </a:schemeClr>
                    </a:solidFill>
                  </a:tcPr>
                </a:tc>
                <a:tc>
                  <a:txBody>
                    <a:bodyPr/>
                    <a:lstStyle/>
                    <a:p>
                      <a:pPr>
                        <a:lnSpc>
                          <a:spcPct val="150000"/>
                        </a:lnSpc>
                        <a:spcAft>
                          <a:spcPts val="0"/>
                        </a:spcAft>
                      </a:pPr>
                      <a:endParaRPr lang="pt-BR" sz="2000" b="0" dirty="0">
                        <a:effectLst/>
                        <a:latin typeface="Arial"/>
                        <a:ea typeface="Times New Roman"/>
                        <a:cs typeface="Times New Roman"/>
                      </a:endParaRPr>
                    </a:p>
                  </a:txBody>
                  <a:tcPr marL="68580" marR="68580" marT="0" marB="0">
                    <a:solidFill>
                      <a:schemeClr val="accent5">
                        <a:lumMod val="75000"/>
                      </a:schemeClr>
                    </a:solidFill>
                  </a:tcPr>
                </a:tc>
                <a:tc>
                  <a:txBody>
                    <a:bodyPr/>
                    <a:lstStyle/>
                    <a:p>
                      <a:pPr algn="ctr">
                        <a:lnSpc>
                          <a:spcPct val="150000"/>
                        </a:lnSpc>
                        <a:spcAft>
                          <a:spcPts val="0"/>
                        </a:spcAft>
                      </a:pPr>
                      <a:r>
                        <a:rPr lang="pt-BR" sz="2000" b="0" dirty="0">
                          <a:solidFill>
                            <a:schemeClr val="tx1"/>
                          </a:solidFill>
                          <a:effectLst/>
                          <a:sym typeface="Wingdings"/>
                        </a:rPr>
                        <a:t></a:t>
                      </a:r>
                      <a:endParaRPr lang="pt-BR" sz="2000" b="0" dirty="0">
                        <a:solidFill>
                          <a:schemeClr val="tx1"/>
                        </a:solidFill>
                        <a:effectLst/>
                        <a:latin typeface="Arial"/>
                        <a:ea typeface="Times New Roman"/>
                        <a:cs typeface="Times New Roman"/>
                      </a:endParaRPr>
                    </a:p>
                  </a:txBody>
                  <a:tcPr marL="68580" marR="68580" marT="0" marB="0">
                    <a:solidFill>
                      <a:schemeClr val="accent5">
                        <a:lumMod val="75000"/>
                      </a:schemeClr>
                    </a:solidFill>
                  </a:tcPr>
                </a:tc>
                <a:tc>
                  <a:txBody>
                    <a:bodyPr/>
                    <a:lstStyle/>
                    <a:p>
                      <a:pPr>
                        <a:lnSpc>
                          <a:spcPct val="150000"/>
                        </a:lnSpc>
                        <a:spcAft>
                          <a:spcPts val="0"/>
                        </a:spcAft>
                      </a:pPr>
                      <a:r>
                        <a:rPr lang="pt-BR" sz="2000" dirty="0">
                          <a:effectLst/>
                        </a:rPr>
                        <a:t>FALSO</a:t>
                      </a:r>
                      <a:endParaRPr lang="pt-BR" sz="2000" dirty="0">
                        <a:effectLst/>
                        <a:latin typeface="Arial"/>
                        <a:ea typeface="Times New Roman"/>
                        <a:cs typeface="Times New Roman"/>
                      </a:endParaRPr>
                    </a:p>
                  </a:txBody>
                  <a:tcPr marL="68580" marR="68580" marT="0" marB="0">
                    <a:solidFill>
                      <a:srgbClr val="FF0000"/>
                    </a:solidFill>
                  </a:tcPr>
                </a:tc>
              </a:tr>
              <a:tr h="720080">
                <a:tc>
                  <a:txBody>
                    <a:bodyPr/>
                    <a:lstStyle/>
                    <a:p>
                      <a:pPr>
                        <a:lnSpc>
                          <a:spcPct val="150000"/>
                        </a:lnSpc>
                        <a:spcAft>
                          <a:spcPts val="0"/>
                        </a:spcAft>
                      </a:pPr>
                      <a:r>
                        <a:rPr lang="pt-BR" sz="2000" dirty="0">
                          <a:effectLst/>
                        </a:rPr>
                        <a:t>FALSO</a:t>
                      </a:r>
                      <a:endParaRPr lang="pt-BR" sz="2000" dirty="0">
                        <a:effectLst/>
                        <a:latin typeface="Arial"/>
                        <a:ea typeface="Times New Roman"/>
                        <a:cs typeface="Times New Roman"/>
                      </a:endParaRPr>
                    </a:p>
                  </a:txBody>
                  <a:tcPr marL="68580" marR="68580" marT="0" marB="0">
                    <a:solidFill>
                      <a:schemeClr val="accent5">
                        <a:lumMod val="75000"/>
                      </a:schemeClr>
                    </a:solidFill>
                  </a:tcPr>
                </a:tc>
                <a:tc>
                  <a:txBody>
                    <a:bodyPr/>
                    <a:lstStyle/>
                    <a:p>
                      <a:pPr algn="ctr">
                        <a:lnSpc>
                          <a:spcPct val="150000"/>
                        </a:lnSpc>
                        <a:spcAft>
                          <a:spcPts val="0"/>
                        </a:spcAft>
                      </a:pPr>
                      <a:r>
                        <a:rPr lang="pt-BR" sz="2000" b="1" dirty="0">
                          <a:solidFill>
                            <a:schemeClr val="tx1"/>
                          </a:solidFill>
                          <a:effectLst/>
                        </a:rPr>
                        <a:t>AND</a:t>
                      </a:r>
                      <a:endParaRPr lang="pt-BR" sz="2000" b="1" dirty="0">
                        <a:solidFill>
                          <a:schemeClr val="tx1"/>
                        </a:solidFill>
                        <a:effectLst/>
                        <a:latin typeface="Arial"/>
                        <a:ea typeface="Times New Roman"/>
                        <a:cs typeface="Times New Roman"/>
                      </a:endParaRPr>
                    </a:p>
                  </a:txBody>
                  <a:tcPr marL="68580" marR="68580" marT="0" marB="0">
                    <a:solidFill>
                      <a:schemeClr val="accent5">
                        <a:lumMod val="75000"/>
                      </a:schemeClr>
                    </a:solidFill>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pt-BR" sz="2000" b="1" i="0" u="none" strike="noStrike" kern="1200" cap="none" spc="0" normalizeH="0" baseline="0" noProof="0" dirty="0" smtClean="0">
                          <a:ln>
                            <a:noFill/>
                          </a:ln>
                          <a:solidFill>
                            <a:prstClr val="white"/>
                          </a:solidFill>
                          <a:effectLst/>
                          <a:uLnTx/>
                          <a:uFillTx/>
                          <a:latin typeface="+mn-lt"/>
                          <a:ea typeface="+mn-ea"/>
                          <a:cs typeface="+mn-cs"/>
                        </a:rPr>
                        <a:t>VERDADEIRO</a:t>
                      </a:r>
                      <a:endParaRPr kumimoji="0" lang="pt-BR" sz="2000" b="1" i="0" u="none" strike="noStrike" kern="1200" cap="none" spc="0" normalizeH="0" baseline="0" noProof="0" dirty="0" smtClean="0">
                        <a:ln>
                          <a:noFill/>
                        </a:ln>
                        <a:solidFill>
                          <a:prstClr val="white"/>
                        </a:solidFill>
                        <a:effectLst/>
                        <a:uLnTx/>
                        <a:uFillTx/>
                        <a:latin typeface="Arial"/>
                        <a:ea typeface="Times New Roman"/>
                        <a:cs typeface="Times New Roman"/>
                      </a:endParaRPr>
                    </a:p>
                  </a:txBody>
                  <a:tcPr marL="68580" marR="68580" marT="0" marB="0">
                    <a:solidFill>
                      <a:schemeClr val="accent5">
                        <a:lumMod val="75000"/>
                      </a:schemeClr>
                    </a:solidFill>
                  </a:tcPr>
                </a:tc>
                <a:tc>
                  <a:txBody>
                    <a:bodyPr/>
                    <a:lstStyle/>
                    <a:p>
                      <a:pPr algn="ctr">
                        <a:lnSpc>
                          <a:spcPct val="150000"/>
                        </a:lnSpc>
                        <a:spcAft>
                          <a:spcPts val="0"/>
                        </a:spcAft>
                      </a:pPr>
                      <a:r>
                        <a:rPr lang="pt-BR" sz="2000" b="0" dirty="0">
                          <a:solidFill>
                            <a:schemeClr val="tx1"/>
                          </a:solidFill>
                          <a:effectLst/>
                          <a:sym typeface="Wingdings"/>
                        </a:rPr>
                        <a:t></a:t>
                      </a:r>
                      <a:endParaRPr lang="pt-BR" sz="2000" b="0" dirty="0">
                        <a:solidFill>
                          <a:schemeClr val="tx1"/>
                        </a:solidFill>
                        <a:effectLst/>
                        <a:latin typeface="Arial"/>
                        <a:ea typeface="Times New Roman"/>
                        <a:cs typeface="Times New Roman"/>
                      </a:endParaRPr>
                    </a:p>
                  </a:txBody>
                  <a:tcPr marL="68580" marR="68580" marT="0" marB="0">
                    <a:solidFill>
                      <a:schemeClr val="accent5">
                        <a:lumMod val="75000"/>
                      </a:schemeClr>
                    </a:solidFill>
                  </a:tcPr>
                </a:tc>
                <a:tc>
                  <a:txBody>
                    <a:bodyPr/>
                    <a:lstStyle/>
                    <a:p>
                      <a:pPr>
                        <a:lnSpc>
                          <a:spcPct val="150000"/>
                        </a:lnSpc>
                        <a:spcAft>
                          <a:spcPts val="0"/>
                        </a:spcAft>
                      </a:pPr>
                      <a:r>
                        <a:rPr lang="pt-BR" sz="2000" dirty="0">
                          <a:effectLst/>
                        </a:rPr>
                        <a:t>FALSO</a:t>
                      </a:r>
                      <a:endParaRPr lang="pt-BR" sz="2000" dirty="0">
                        <a:effectLst/>
                        <a:latin typeface="Arial"/>
                        <a:ea typeface="Times New Roman"/>
                        <a:cs typeface="Times New Roman"/>
                      </a:endParaRPr>
                    </a:p>
                  </a:txBody>
                  <a:tcPr marL="68580" marR="68580" marT="0" marB="0">
                    <a:solidFill>
                      <a:srgbClr val="FF0000"/>
                    </a:solidFill>
                  </a:tcPr>
                </a:tc>
              </a:tr>
              <a:tr h="720080">
                <a:tc>
                  <a:txBody>
                    <a:bodyPr/>
                    <a:lstStyle/>
                    <a:p>
                      <a:pPr>
                        <a:lnSpc>
                          <a:spcPct val="150000"/>
                        </a:lnSpc>
                        <a:spcAft>
                          <a:spcPts val="0"/>
                        </a:spcAft>
                      </a:pPr>
                      <a:r>
                        <a:rPr lang="en-US" sz="2000" dirty="0">
                          <a:effectLst/>
                        </a:rPr>
                        <a:t>FALSO</a:t>
                      </a:r>
                      <a:endParaRPr lang="pt-BR" sz="2000" dirty="0">
                        <a:effectLst/>
                        <a:latin typeface="Arial"/>
                        <a:ea typeface="Times New Roman"/>
                        <a:cs typeface="Times New Roman"/>
                      </a:endParaRPr>
                    </a:p>
                  </a:txBody>
                  <a:tcPr marL="68580" marR="68580" marT="0" marB="0">
                    <a:solidFill>
                      <a:schemeClr val="accent5">
                        <a:lumMod val="75000"/>
                      </a:schemeClr>
                    </a:solidFill>
                  </a:tcPr>
                </a:tc>
                <a:tc>
                  <a:txBody>
                    <a:bodyPr/>
                    <a:lstStyle/>
                    <a:p>
                      <a:pPr algn="ctr">
                        <a:lnSpc>
                          <a:spcPct val="150000"/>
                        </a:lnSpc>
                        <a:spcAft>
                          <a:spcPts val="0"/>
                        </a:spcAft>
                      </a:pPr>
                      <a:r>
                        <a:rPr lang="pt-BR" sz="2000" b="1" dirty="0">
                          <a:solidFill>
                            <a:schemeClr val="tx1"/>
                          </a:solidFill>
                          <a:effectLst/>
                        </a:rPr>
                        <a:t>AND</a:t>
                      </a:r>
                      <a:endParaRPr lang="pt-BR" sz="2000" b="1" dirty="0">
                        <a:solidFill>
                          <a:schemeClr val="tx1"/>
                        </a:solidFill>
                        <a:effectLst/>
                        <a:latin typeface="Arial"/>
                        <a:ea typeface="Times New Roman"/>
                        <a:cs typeface="Times New Roman"/>
                      </a:endParaRPr>
                    </a:p>
                  </a:txBody>
                  <a:tcPr marL="68580" marR="68580" marT="0" marB="0">
                    <a:solidFill>
                      <a:schemeClr val="accent5">
                        <a:lumMod val="75000"/>
                      </a:schemeClr>
                    </a:solidFill>
                  </a:tcPr>
                </a:tc>
                <a:tc>
                  <a:txBody>
                    <a:bodyPr/>
                    <a:lstStyle/>
                    <a:p>
                      <a:pPr>
                        <a:lnSpc>
                          <a:spcPct val="150000"/>
                        </a:lnSpc>
                        <a:spcAft>
                          <a:spcPts val="0"/>
                        </a:spcAft>
                      </a:pPr>
                      <a:r>
                        <a:rPr lang="en-US" sz="2000" dirty="0">
                          <a:effectLst/>
                        </a:rPr>
                        <a:t>FALSO</a:t>
                      </a:r>
                      <a:endParaRPr lang="pt-BR" sz="2000" dirty="0">
                        <a:effectLst/>
                        <a:latin typeface="Arial"/>
                        <a:ea typeface="Times New Roman"/>
                        <a:cs typeface="Times New Roman"/>
                      </a:endParaRPr>
                    </a:p>
                  </a:txBody>
                  <a:tcPr marL="68580" marR="68580" marT="0" marB="0">
                    <a:solidFill>
                      <a:schemeClr val="accent5">
                        <a:lumMod val="75000"/>
                      </a:schemeClr>
                    </a:solidFill>
                  </a:tcPr>
                </a:tc>
                <a:tc>
                  <a:txBody>
                    <a:bodyPr/>
                    <a:lstStyle/>
                    <a:p>
                      <a:pPr algn="ctr">
                        <a:lnSpc>
                          <a:spcPct val="150000"/>
                        </a:lnSpc>
                        <a:spcAft>
                          <a:spcPts val="0"/>
                        </a:spcAft>
                      </a:pPr>
                      <a:r>
                        <a:rPr lang="pt-BR" sz="2000" dirty="0">
                          <a:solidFill>
                            <a:schemeClr val="tx1"/>
                          </a:solidFill>
                          <a:effectLst/>
                          <a:sym typeface="Wingdings"/>
                        </a:rPr>
                        <a:t></a:t>
                      </a:r>
                      <a:endParaRPr lang="pt-BR" sz="2000" dirty="0">
                        <a:solidFill>
                          <a:schemeClr val="tx1"/>
                        </a:solidFill>
                        <a:effectLst/>
                        <a:latin typeface="Arial"/>
                        <a:ea typeface="Times New Roman"/>
                        <a:cs typeface="Times New Roman"/>
                      </a:endParaRPr>
                    </a:p>
                  </a:txBody>
                  <a:tcPr marL="68580" marR="68580" marT="0" marB="0">
                    <a:solidFill>
                      <a:schemeClr val="accent5">
                        <a:lumMod val="75000"/>
                      </a:schemeClr>
                    </a:solidFill>
                  </a:tcPr>
                </a:tc>
                <a:tc>
                  <a:txBody>
                    <a:bodyPr/>
                    <a:lstStyle/>
                    <a:p>
                      <a:pPr>
                        <a:lnSpc>
                          <a:spcPct val="150000"/>
                        </a:lnSpc>
                        <a:spcAft>
                          <a:spcPts val="0"/>
                        </a:spcAft>
                      </a:pPr>
                      <a:r>
                        <a:rPr lang="en-US" sz="2000" dirty="0">
                          <a:effectLst/>
                        </a:rPr>
                        <a:t>FALSO</a:t>
                      </a:r>
                      <a:endParaRPr lang="pt-BR" sz="2000" dirty="0">
                        <a:effectLst/>
                        <a:latin typeface="Arial"/>
                        <a:ea typeface="Times New Roman"/>
                        <a:cs typeface="Times New Roman"/>
                      </a:endParaRPr>
                    </a:p>
                  </a:txBody>
                  <a:tcPr marL="68580" marR="68580" marT="0" marB="0">
                    <a:solidFill>
                      <a:srgbClr val="FF0000"/>
                    </a:solidFill>
                  </a:tcPr>
                </a:tc>
              </a:tr>
            </a:tbl>
          </a:graphicData>
        </a:graphic>
      </p:graphicFrame>
      <p:pic>
        <p:nvPicPr>
          <p:cNvPr id="13313"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0395" y="2826767"/>
            <a:ext cx="963613"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086636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n-US" u="sng" dirty="0" err="1"/>
              <a:t>Operador</a:t>
            </a:r>
            <a:r>
              <a:rPr lang="en-US" dirty="0"/>
              <a:t> </a:t>
            </a:r>
            <a:r>
              <a:rPr lang="en-US" b="1" dirty="0"/>
              <a:t>OR</a:t>
            </a:r>
            <a:r>
              <a:rPr lang="en-US" dirty="0"/>
              <a:t>: </a:t>
            </a:r>
            <a:endParaRPr lang="pt-BR" dirty="0"/>
          </a:p>
        </p:txBody>
      </p:sp>
      <p:graphicFrame>
        <p:nvGraphicFramePr>
          <p:cNvPr id="4" name="Espaço Reservado para Conteúdo 3"/>
          <p:cNvGraphicFramePr>
            <a:graphicFrameLocks noGrp="1"/>
          </p:cNvGraphicFramePr>
          <p:nvPr>
            <p:ph idx="1"/>
            <p:extLst>
              <p:ext uri="{D42A27DB-BD31-4B8C-83A1-F6EECF244321}">
                <p14:modId xmlns:p14="http://schemas.microsoft.com/office/powerpoint/2010/main" val="1682437375"/>
              </p:ext>
            </p:extLst>
          </p:nvPr>
        </p:nvGraphicFramePr>
        <p:xfrm>
          <a:off x="539552" y="1988840"/>
          <a:ext cx="7704857" cy="3024336"/>
        </p:xfrm>
        <a:graphic>
          <a:graphicData uri="http://schemas.openxmlformats.org/drawingml/2006/table">
            <a:tbl>
              <a:tblPr firstRow="1" firstCol="1" lastRow="1" lastCol="1" bandRow="1" bandCol="1">
                <a:tableStyleId>{5C22544A-7EE6-4342-B048-85BDC9FD1C3A}</a:tableStyleId>
              </a:tblPr>
              <a:tblGrid>
                <a:gridCol w="1728733"/>
                <a:gridCol w="1348246"/>
                <a:gridCol w="1729561"/>
                <a:gridCol w="1168756"/>
                <a:gridCol w="1729561"/>
              </a:tblGrid>
              <a:tr h="756084">
                <a:tc>
                  <a:txBody>
                    <a:bodyPr/>
                    <a:lstStyle/>
                    <a:p>
                      <a:pPr>
                        <a:lnSpc>
                          <a:spcPct val="150000"/>
                        </a:lnSpc>
                        <a:spcAft>
                          <a:spcPts val="0"/>
                        </a:spcAft>
                      </a:pPr>
                      <a:r>
                        <a:rPr lang="pt-BR" sz="2000" dirty="0">
                          <a:effectLst/>
                        </a:rPr>
                        <a:t>VERDADEIRO</a:t>
                      </a:r>
                      <a:endParaRPr lang="pt-BR" sz="2000" dirty="0">
                        <a:effectLst/>
                        <a:latin typeface="Arial"/>
                        <a:ea typeface="Times New Roman"/>
                        <a:cs typeface="Times New Roman"/>
                      </a:endParaRPr>
                    </a:p>
                  </a:txBody>
                  <a:tcPr marL="68580" marR="68580" marT="0" marB="0">
                    <a:solidFill>
                      <a:schemeClr val="accent5">
                        <a:lumMod val="75000"/>
                      </a:schemeClr>
                    </a:solidFill>
                  </a:tcPr>
                </a:tc>
                <a:tc>
                  <a:txBody>
                    <a:bodyPr/>
                    <a:lstStyle/>
                    <a:p>
                      <a:pPr algn="ctr">
                        <a:lnSpc>
                          <a:spcPct val="150000"/>
                        </a:lnSpc>
                        <a:spcAft>
                          <a:spcPts val="0"/>
                        </a:spcAft>
                      </a:pPr>
                      <a:r>
                        <a:rPr lang="pt-BR" sz="2000" dirty="0">
                          <a:solidFill>
                            <a:schemeClr val="tx1"/>
                          </a:solidFill>
                          <a:effectLst/>
                        </a:rPr>
                        <a:t>OR</a:t>
                      </a:r>
                      <a:endParaRPr lang="pt-BR" sz="2000" dirty="0">
                        <a:solidFill>
                          <a:schemeClr val="tx1"/>
                        </a:solidFill>
                        <a:effectLst/>
                        <a:latin typeface="Arial"/>
                        <a:ea typeface="Times New Roman"/>
                        <a:cs typeface="Times New Roman"/>
                      </a:endParaRPr>
                    </a:p>
                  </a:txBody>
                  <a:tcPr marL="68580" marR="68580" marT="0" marB="0">
                    <a:solidFill>
                      <a:schemeClr val="accent5">
                        <a:lumMod val="75000"/>
                      </a:schemeClr>
                    </a:solidFill>
                  </a:tcPr>
                </a:tc>
                <a:tc>
                  <a:txBody>
                    <a:bodyPr/>
                    <a:lstStyle/>
                    <a:p>
                      <a:pPr>
                        <a:lnSpc>
                          <a:spcPct val="150000"/>
                        </a:lnSpc>
                        <a:spcAft>
                          <a:spcPts val="0"/>
                        </a:spcAft>
                      </a:pPr>
                      <a:r>
                        <a:rPr lang="pt-BR" sz="2000" dirty="0">
                          <a:effectLst/>
                        </a:rPr>
                        <a:t>VERDADEIRO </a:t>
                      </a:r>
                      <a:endParaRPr lang="pt-BR" sz="2000" dirty="0">
                        <a:effectLst/>
                        <a:latin typeface="Arial"/>
                        <a:ea typeface="Times New Roman"/>
                        <a:cs typeface="Times New Roman"/>
                      </a:endParaRPr>
                    </a:p>
                  </a:txBody>
                  <a:tcPr marL="68580" marR="68580" marT="0" marB="0">
                    <a:solidFill>
                      <a:schemeClr val="accent5">
                        <a:lumMod val="75000"/>
                      </a:schemeClr>
                    </a:solidFill>
                  </a:tcPr>
                </a:tc>
                <a:tc>
                  <a:txBody>
                    <a:bodyPr/>
                    <a:lstStyle/>
                    <a:p>
                      <a:pPr algn="ctr">
                        <a:lnSpc>
                          <a:spcPct val="150000"/>
                        </a:lnSpc>
                        <a:spcAft>
                          <a:spcPts val="0"/>
                        </a:spcAft>
                      </a:pPr>
                      <a:r>
                        <a:rPr lang="pt-BR" sz="2000" dirty="0">
                          <a:solidFill>
                            <a:schemeClr val="tx1"/>
                          </a:solidFill>
                          <a:effectLst/>
                          <a:sym typeface="Wingdings"/>
                        </a:rPr>
                        <a:t></a:t>
                      </a:r>
                      <a:endParaRPr lang="pt-BR" sz="2000" dirty="0">
                        <a:solidFill>
                          <a:schemeClr val="tx1"/>
                        </a:solidFill>
                        <a:effectLst/>
                        <a:latin typeface="Arial"/>
                        <a:ea typeface="Times New Roman"/>
                        <a:cs typeface="Times New Roman"/>
                      </a:endParaRPr>
                    </a:p>
                  </a:txBody>
                  <a:tcPr marL="68580" marR="68580" marT="0" marB="0">
                    <a:solidFill>
                      <a:schemeClr val="accent5">
                        <a:lumMod val="75000"/>
                      </a:schemeClr>
                    </a:solidFill>
                  </a:tcPr>
                </a:tc>
                <a:tc>
                  <a:txBody>
                    <a:bodyPr/>
                    <a:lstStyle/>
                    <a:p>
                      <a:pPr>
                        <a:lnSpc>
                          <a:spcPct val="150000"/>
                        </a:lnSpc>
                        <a:spcAft>
                          <a:spcPts val="0"/>
                        </a:spcAft>
                      </a:pPr>
                      <a:r>
                        <a:rPr lang="pt-BR" sz="2000">
                          <a:effectLst/>
                        </a:rPr>
                        <a:t>VERDADEIRO</a:t>
                      </a:r>
                      <a:endParaRPr lang="pt-BR" sz="2000">
                        <a:effectLst/>
                        <a:latin typeface="Arial"/>
                        <a:ea typeface="Times New Roman"/>
                        <a:cs typeface="Times New Roman"/>
                      </a:endParaRPr>
                    </a:p>
                  </a:txBody>
                  <a:tcPr marL="68580" marR="68580" marT="0" marB="0">
                    <a:solidFill>
                      <a:srgbClr val="FF0000"/>
                    </a:solidFill>
                  </a:tcPr>
                </a:tc>
              </a:tr>
              <a:tr h="756084">
                <a:tc>
                  <a:txBody>
                    <a:bodyPr/>
                    <a:lstStyle/>
                    <a:p>
                      <a:pPr>
                        <a:lnSpc>
                          <a:spcPct val="150000"/>
                        </a:lnSpc>
                        <a:spcAft>
                          <a:spcPts val="0"/>
                        </a:spcAft>
                      </a:pPr>
                      <a:r>
                        <a:rPr lang="pt-BR" sz="2000" dirty="0">
                          <a:effectLst/>
                        </a:rPr>
                        <a:t>VERDADEIRO</a:t>
                      </a:r>
                      <a:endParaRPr lang="pt-BR" sz="2000" dirty="0">
                        <a:effectLst/>
                        <a:latin typeface="Arial"/>
                        <a:ea typeface="Times New Roman"/>
                        <a:cs typeface="Times New Roman"/>
                      </a:endParaRPr>
                    </a:p>
                  </a:txBody>
                  <a:tcPr marL="68580" marR="68580" marT="0" marB="0">
                    <a:solidFill>
                      <a:schemeClr val="accent5">
                        <a:lumMod val="75000"/>
                      </a:schemeClr>
                    </a:solidFill>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pt-BR" sz="2000" b="1" i="0" u="none" strike="noStrike" kern="1200" cap="none" spc="0" normalizeH="0" baseline="0" noProof="0" dirty="0" smtClean="0">
                          <a:ln>
                            <a:noFill/>
                          </a:ln>
                          <a:solidFill>
                            <a:schemeClr val="tx1"/>
                          </a:solidFill>
                          <a:effectLst/>
                          <a:uLnTx/>
                          <a:uFillTx/>
                          <a:latin typeface="+mn-lt"/>
                          <a:ea typeface="+mn-ea"/>
                          <a:cs typeface="+mn-cs"/>
                        </a:rPr>
                        <a:t>OR</a:t>
                      </a:r>
                      <a:endParaRPr kumimoji="0" lang="pt-BR" sz="2000" b="1" i="0" u="none" strike="noStrike" kern="1200" cap="none" spc="0" normalizeH="0" baseline="0" noProof="0" dirty="0" smtClean="0">
                        <a:ln>
                          <a:noFill/>
                        </a:ln>
                        <a:solidFill>
                          <a:schemeClr val="tx1"/>
                        </a:solidFill>
                        <a:effectLst/>
                        <a:uLnTx/>
                        <a:uFillTx/>
                        <a:latin typeface="Arial"/>
                        <a:ea typeface="Times New Roman"/>
                        <a:cs typeface="Times New Roman"/>
                      </a:endParaRPr>
                    </a:p>
                  </a:txBody>
                  <a:tcPr marL="68580" marR="68580" marT="0" marB="0">
                    <a:solidFill>
                      <a:schemeClr val="accent5">
                        <a:lumMod val="75000"/>
                      </a:schemeClr>
                    </a:solidFill>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pt-BR" sz="2000" b="1" i="0" u="none" strike="noStrike" kern="1200" cap="none" spc="0" normalizeH="0" baseline="0" noProof="0" dirty="0" smtClean="0">
                          <a:ln>
                            <a:noFill/>
                          </a:ln>
                          <a:solidFill>
                            <a:prstClr val="white"/>
                          </a:solidFill>
                          <a:effectLst/>
                          <a:uLnTx/>
                          <a:uFillTx/>
                          <a:latin typeface="+mn-lt"/>
                          <a:ea typeface="+mn-ea"/>
                          <a:cs typeface="+mn-cs"/>
                        </a:rPr>
                        <a:t>FALSO</a:t>
                      </a:r>
                      <a:endParaRPr kumimoji="0" lang="pt-BR" sz="2000" b="1" i="0" u="none" strike="noStrike" kern="1200" cap="none" spc="0" normalizeH="0" baseline="0" noProof="0" dirty="0" smtClean="0">
                        <a:ln>
                          <a:noFill/>
                        </a:ln>
                        <a:solidFill>
                          <a:prstClr val="white"/>
                        </a:solidFill>
                        <a:effectLst/>
                        <a:uLnTx/>
                        <a:uFillTx/>
                        <a:latin typeface="Arial"/>
                        <a:ea typeface="Times New Roman"/>
                        <a:cs typeface="Times New Roman"/>
                      </a:endParaRPr>
                    </a:p>
                  </a:txBody>
                  <a:tcPr marL="68580" marR="68580" marT="0" marB="0">
                    <a:solidFill>
                      <a:schemeClr val="accent5">
                        <a:lumMod val="75000"/>
                      </a:schemeClr>
                    </a:solidFill>
                  </a:tcPr>
                </a:tc>
                <a:tc>
                  <a:txBody>
                    <a:bodyPr/>
                    <a:lstStyle/>
                    <a:p>
                      <a:pPr algn="ctr">
                        <a:lnSpc>
                          <a:spcPct val="150000"/>
                        </a:lnSpc>
                        <a:spcAft>
                          <a:spcPts val="0"/>
                        </a:spcAft>
                      </a:pPr>
                      <a:r>
                        <a:rPr lang="pt-BR" sz="2000" dirty="0">
                          <a:solidFill>
                            <a:schemeClr val="tx1"/>
                          </a:solidFill>
                          <a:effectLst/>
                          <a:sym typeface="Wingdings"/>
                        </a:rPr>
                        <a:t></a:t>
                      </a:r>
                      <a:endParaRPr lang="pt-BR" sz="2000" dirty="0">
                        <a:solidFill>
                          <a:schemeClr val="tx1"/>
                        </a:solidFill>
                        <a:effectLst/>
                        <a:latin typeface="Arial"/>
                        <a:ea typeface="Times New Roman"/>
                        <a:cs typeface="Times New Roman"/>
                      </a:endParaRPr>
                    </a:p>
                  </a:txBody>
                  <a:tcPr marL="68580" marR="68580" marT="0" marB="0">
                    <a:solidFill>
                      <a:schemeClr val="accent5">
                        <a:lumMod val="75000"/>
                      </a:schemeClr>
                    </a:solidFill>
                  </a:tcPr>
                </a:tc>
                <a:tc>
                  <a:txBody>
                    <a:bodyPr/>
                    <a:lstStyle/>
                    <a:p>
                      <a:pPr>
                        <a:lnSpc>
                          <a:spcPct val="150000"/>
                        </a:lnSpc>
                        <a:spcAft>
                          <a:spcPts val="0"/>
                        </a:spcAft>
                      </a:pPr>
                      <a:r>
                        <a:rPr lang="pt-BR" sz="2000">
                          <a:effectLst/>
                        </a:rPr>
                        <a:t>VERDADEIRO</a:t>
                      </a:r>
                      <a:endParaRPr lang="pt-BR" sz="2000">
                        <a:effectLst/>
                        <a:latin typeface="Arial"/>
                        <a:ea typeface="Times New Roman"/>
                        <a:cs typeface="Times New Roman"/>
                      </a:endParaRPr>
                    </a:p>
                  </a:txBody>
                  <a:tcPr marL="68580" marR="68580" marT="0" marB="0">
                    <a:solidFill>
                      <a:srgbClr val="FF0000"/>
                    </a:solidFill>
                  </a:tcPr>
                </a:tc>
              </a:tr>
              <a:tr h="756084">
                <a:tc>
                  <a:txBody>
                    <a:bodyPr/>
                    <a:lstStyle/>
                    <a:p>
                      <a:pPr>
                        <a:lnSpc>
                          <a:spcPct val="150000"/>
                        </a:lnSpc>
                        <a:spcAft>
                          <a:spcPts val="0"/>
                        </a:spcAft>
                      </a:pPr>
                      <a:r>
                        <a:rPr lang="pt-BR" sz="2000" dirty="0">
                          <a:effectLst/>
                        </a:rPr>
                        <a:t>FALSO</a:t>
                      </a:r>
                      <a:endParaRPr lang="pt-BR" sz="2000" dirty="0">
                        <a:effectLst/>
                        <a:latin typeface="Arial"/>
                        <a:ea typeface="Times New Roman"/>
                        <a:cs typeface="Times New Roman"/>
                      </a:endParaRPr>
                    </a:p>
                  </a:txBody>
                  <a:tcPr marL="68580" marR="68580" marT="0" marB="0">
                    <a:solidFill>
                      <a:schemeClr val="accent5">
                        <a:lumMod val="75000"/>
                      </a:schemeClr>
                    </a:solidFill>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pt-BR" sz="2000" b="1" i="0" u="none" strike="noStrike" kern="1200" cap="none" spc="0" normalizeH="0" baseline="0" noProof="0" dirty="0" smtClean="0">
                          <a:ln>
                            <a:noFill/>
                          </a:ln>
                          <a:solidFill>
                            <a:schemeClr val="tx1"/>
                          </a:solidFill>
                          <a:effectLst/>
                          <a:uLnTx/>
                          <a:uFillTx/>
                          <a:latin typeface="+mn-lt"/>
                          <a:ea typeface="+mn-ea"/>
                          <a:cs typeface="+mn-cs"/>
                        </a:rPr>
                        <a:t>OR</a:t>
                      </a:r>
                      <a:endParaRPr kumimoji="0" lang="pt-BR" sz="2000" b="1" i="0" u="none" strike="noStrike" kern="1200" cap="none" spc="0" normalizeH="0" baseline="0" noProof="0" dirty="0" smtClean="0">
                        <a:ln>
                          <a:noFill/>
                        </a:ln>
                        <a:solidFill>
                          <a:schemeClr val="tx1"/>
                        </a:solidFill>
                        <a:effectLst/>
                        <a:uLnTx/>
                        <a:uFillTx/>
                        <a:latin typeface="Arial"/>
                        <a:ea typeface="Times New Roman"/>
                        <a:cs typeface="Times New Roman"/>
                      </a:endParaRPr>
                    </a:p>
                  </a:txBody>
                  <a:tcPr marL="68580" marR="68580" marT="0" marB="0">
                    <a:solidFill>
                      <a:schemeClr val="accent5">
                        <a:lumMod val="75000"/>
                      </a:schemeClr>
                    </a:solidFill>
                  </a:tcPr>
                </a:tc>
                <a:tc>
                  <a:txBody>
                    <a:bodyPr/>
                    <a:lstStyle/>
                    <a:p>
                      <a:pPr>
                        <a:lnSpc>
                          <a:spcPct val="150000"/>
                        </a:lnSpc>
                        <a:spcAft>
                          <a:spcPts val="0"/>
                        </a:spcAft>
                      </a:pPr>
                      <a:r>
                        <a:rPr kumimoji="0" lang="pt-BR" sz="2000" b="1" i="0" u="none" strike="noStrike" kern="1200" cap="none" spc="0" normalizeH="0" baseline="0" noProof="0" dirty="0" smtClean="0">
                          <a:ln>
                            <a:noFill/>
                          </a:ln>
                          <a:solidFill>
                            <a:prstClr val="white"/>
                          </a:solidFill>
                          <a:effectLst/>
                          <a:uLnTx/>
                          <a:uFillTx/>
                          <a:latin typeface="+mn-lt"/>
                          <a:ea typeface="+mn-ea"/>
                          <a:cs typeface="+mn-cs"/>
                        </a:rPr>
                        <a:t>VERDADEIRO</a:t>
                      </a:r>
                      <a:endParaRPr lang="pt-BR" sz="2000" dirty="0">
                        <a:effectLst/>
                        <a:latin typeface="Arial"/>
                        <a:ea typeface="Times New Roman"/>
                        <a:cs typeface="Times New Roman"/>
                      </a:endParaRPr>
                    </a:p>
                  </a:txBody>
                  <a:tcPr marL="68580" marR="68580" marT="0" marB="0">
                    <a:solidFill>
                      <a:schemeClr val="accent5">
                        <a:lumMod val="75000"/>
                      </a:schemeClr>
                    </a:solidFill>
                  </a:tcPr>
                </a:tc>
                <a:tc>
                  <a:txBody>
                    <a:bodyPr/>
                    <a:lstStyle/>
                    <a:p>
                      <a:pPr algn="ctr">
                        <a:lnSpc>
                          <a:spcPct val="150000"/>
                        </a:lnSpc>
                        <a:spcAft>
                          <a:spcPts val="0"/>
                        </a:spcAft>
                      </a:pPr>
                      <a:r>
                        <a:rPr lang="pt-BR" sz="2000" dirty="0">
                          <a:solidFill>
                            <a:schemeClr val="tx1"/>
                          </a:solidFill>
                          <a:effectLst/>
                          <a:sym typeface="Wingdings"/>
                        </a:rPr>
                        <a:t></a:t>
                      </a:r>
                      <a:endParaRPr lang="pt-BR" sz="2000" dirty="0">
                        <a:solidFill>
                          <a:schemeClr val="tx1"/>
                        </a:solidFill>
                        <a:effectLst/>
                        <a:latin typeface="Arial"/>
                        <a:ea typeface="Times New Roman"/>
                        <a:cs typeface="Times New Roman"/>
                      </a:endParaRPr>
                    </a:p>
                  </a:txBody>
                  <a:tcPr marL="68580" marR="68580" marT="0" marB="0">
                    <a:solidFill>
                      <a:schemeClr val="accent5">
                        <a:lumMod val="75000"/>
                      </a:schemeClr>
                    </a:solidFill>
                  </a:tcPr>
                </a:tc>
                <a:tc>
                  <a:txBody>
                    <a:bodyPr/>
                    <a:lstStyle/>
                    <a:p>
                      <a:pPr>
                        <a:lnSpc>
                          <a:spcPct val="150000"/>
                        </a:lnSpc>
                        <a:spcAft>
                          <a:spcPts val="0"/>
                        </a:spcAft>
                      </a:pPr>
                      <a:r>
                        <a:rPr lang="pt-BR" sz="2000" dirty="0">
                          <a:effectLst/>
                        </a:rPr>
                        <a:t>VERDADEIRO</a:t>
                      </a:r>
                      <a:endParaRPr lang="pt-BR" sz="2000" dirty="0">
                        <a:effectLst/>
                        <a:latin typeface="Arial"/>
                        <a:ea typeface="Times New Roman"/>
                        <a:cs typeface="Times New Roman"/>
                      </a:endParaRPr>
                    </a:p>
                  </a:txBody>
                  <a:tcPr marL="68580" marR="68580" marT="0" marB="0">
                    <a:solidFill>
                      <a:srgbClr val="FF0000"/>
                    </a:solidFill>
                  </a:tcPr>
                </a:tc>
              </a:tr>
              <a:tr h="756084">
                <a:tc>
                  <a:txBody>
                    <a:bodyPr/>
                    <a:lstStyle/>
                    <a:p>
                      <a:pPr>
                        <a:lnSpc>
                          <a:spcPct val="150000"/>
                        </a:lnSpc>
                        <a:spcAft>
                          <a:spcPts val="0"/>
                        </a:spcAft>
                      </a:pPr>
                      <a:r>
                        <a:rPr lang="en-US" sz="2000" dirty="0">
                          <a:effectLst/>
                        </a:rPr>
                        <a:t>FALSO</a:t>
                      </a:r>
                      <a:endParaRPr lang="pt-BR" sz="2000" dirty="0">
                        <a:effectLst/>
                        <a:latin typeface="Arial"/>
                        <a:ea typeface="Times New Roman"/>
                        <a:cs typeface="Times New Roman"/>
                      </a:endParaRPr>
                    </a:p>
                  </a:txBody>
                  <a:tcPr marL="68580" marR="68580" marT="0" marB="0">
                    <a:solidFill>
                      <a:schemeClr val="accent5">
                        <a:lumMod val="75000"/>
                      </a:schemeClr>
                    </a:solidFill>
                  </a:tcPr>
                </a:tc>
                <a:tc>
                  <a:txBody>
                    <a:bodyPr/>
                    <a:lstStyle/>
                    <a:p>
                      <a:pPr algn="ctr">
                        <a:lnSpc>
                          <a:spcPct val="150000"/>
                        </a:lnSpc>
                        <a:spcAft>
                          <a:spcPts val="0"/>
                        </a:spcAft>
                      </a:pPr>
                      <a:r>
                        <a:rPr lang="pt-BR" sz="2000" dirty="0">
                          <a:solidFill>
                            <a:schemeClr val="tx1"/>
                          </a:solidFill>
                          <a:effectLst/>
                        </a:rPr>
                        <a:t>OR</a:t>
                      </a:r>
                      <a:endParaRPr lang="pt-BR" sz="2000" dirty="0">
                        <a:solidFill>
                          <a:schemeClr val="tx1"/>
                        </a:solidFill>
                        <a:effectLst/>
                        <a:latin typeface="Arial"/>
                        <a:ea typeface="Times New Roman"/>
                        <a:cs typeface="Times New Roman"/>
                      </a:endParaRPr>
                    </a:p>
                  </a:txBody>
                  <a:tcPr marL="68580" marR="68580" marT="0" marB="0">
                    <a:solidFill>
                      <a:schemeClr val="accent5">
                        <a:lumMod val="75000"/>
                      </a:schemeClr>
                    </a:solidFill>
                  </a:tcPr>
                </a:tc>
                <a:tc>
                  <a:txBody>
                    <a:bodyPr/>
                    <a:lstStyle/>
                    <a:p>
                      <a:pPr>
                        <a:lnSpc>
                          <a:spcPct val="150000"/>
                        </a:lnSpc>
                        <a:spcAft>
                          <a:spcPts val="0"/>
                        </a:spcAft>
                      </a:pPr>
                      <a:r>
                        <a:rPr lang="en-US" sz="2000" dirty="0">
                          <a:effectLst/>
                        </a:rPr>
                        <a:t>FALSO</a:t>
                      </a:r>
                      <a:endParaRPr lang="pt-BR" sz="2000" dirty="0">
                        <a:effectLst/>
                        <a:latin typeface="Arial"/>
                        <a:ea typeface="Times New Roman"/>
                        <a:cs typeface="Times New Roman"/>
                      </a:endParaRPr>
                    </a:p>
                  </a:txBody>
                  <a:tcPr marL="68580" marR="68580" marT="0" marB="0">
                    <a:solidFill>
                      <a:schemeClr val="accent5">
                        <a:lumMod val="75000"/>
                      </a:schemeClr>
                    </a:solidFill>
                  </a:tcPr>
                </a:tc>
                <a:tc>
                  <a:txBody>
                    <a:bodyPr/>
                    <a:lstStyle/>
                    <a:p>
                      <a:pPr algn="ctr">
                        <a:lnSpc>
                          <a:spcPct val="150000"/>
                        </a:lnSpc>
                        <a:spcAft>
                          <a:spcPts val="0"/>
                        </a:spcAft>
                      </a:pPr>
                      <a:r>
                        <a:rPr lang="pt-BR" sz="2000" dirty="0">
                          <a:solidFill>
                            <a:schemeClr val="tx1"/>
                          </a:solidFill>
                          <a:effectLst/>
                          <a:sym typeface="Wingdings"/>
                        </a:rPr>
                        <a:t></a:t>
                      </a:r>
                      <a:endParaRPr lang="pt-BR" sz="2000" dirty="0">
                        <a:solidFill>
                          <a:schemeClr val="tx1"/>
                        </a:solidFill>
                        <a:effectLst/>
                        <a:latin typeface="Arial"/>
                        <a:ea typeface="Times New Roman"/>
                        <a:cs typeface="Times New Roman"/>
                      </a:endParaRPr>
                    </a:p>
                  </a:txBody>
                  <a:tcPr marL="68580" marR="68580" marT="0" marB="0">
                    <a:solidFill>
                      <a:schemeClr val="accent5">
                        <a:lumMod val="75000"/>
                      </a:schemeClr>
                    </a:solidFill>
                  </a:tcPr>
                </a:tc>
                <a:tc>
                  <a:txBody>
                    <a:bodyPr/>
                    <a:lstStyle/>
                    <a:p>
                      <a:pPr>
                        <a:lnSpc>
                          <a:spcPct val="150000"/>
                        </a:lnSpc>
                        <a:spcAft>
                          <a:spcPts val="0"/>
                        </a:spcAft>
                      </a:pPr>
                      <a:r>
                        <a:rPr lang="en-US" sz="2000" dirty="0">
                          <a:effectLst/>
                        </a:rPr>
                        <a:t>FALSO</a:t>
                      </a:r>
                      <a:endParaRPr lang="pt-BR" sz="2000" dirty="0">
                        <a:effectLst/>
                        <a:latin typeface="Arial"/>
                        <a:ea typeface="Times New Roman"/>
                        <a:cs typeface="Times New Roman"/>
                      </a:endParaRPr>
                    </a:p>
                  </a:txBody>
                  <a:tcPr marL="68580" marR="68580" marT="0" marB="0">
                    <a:solidFill>
                      <a:srgbClr val="FF0000"/>
                    </a:solidFill>
                  </a:tcPr>
                </a:tc>
              </a:tr>
            </a:tbl>
          </a:graphicData>
        </a:graphic>
      </p:graphicFrame>
    </p:spTree>
    <p:extLst>
      <p:ext uri="{BB962C8B-B14F-4D97-AF65-F5344CB8AC3E}">
        <p14:creationId xmlns:p14="http://schemas.microsoft.com/office/powerpoint/2010/main" val="15573603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n-US" u="sng" dirty="0" err="1"/>
              <a:t>Operador</a:t>
            </a:r>
            <a:r>
              <a:rPr lang="en-US" dirty="0"/>
              <a:t> </a:t>
            </a:r>
            <a:r>
              <a:rPr lang="en-US" b="1" dirty="0"/>
              <a:t>NOT</a:t>
            </a:r>
            <a:r>
              <a:rPr lang="en-US" dirty="0"/>
              <a:t>: </a:t>
            </a:r>
            <a:endParaRPr lang="pt-BR" dirty="0"/>
          </a:p>
        </p:txBody>
      </p:sp>
      <p:graphicFrame>
        <p:nvGraphicFramePr>
          <p:cNvPr id="4" name="Espaço Reservado para Conteúdo 3"/>
          <p:cNvGraphicFramePr>
            <a:graphicFrameLocks noGrp="1"/>
          </p:cNvGraphicFramePr>
          <p:nvPr>
            <p:ph idx="1"/>
            <p:extLst>
              <p:ext uri="{D42A27DB-BD31-4B8C-83A1-F6EECF244321}">
                <p14:modId xmlns:p14="http://schemas.microsoft.com/office/powerpoint/2010/main" val="4121812878"/>
              </p:ext>
            </p:extLst>
          </p:nvPr>
        </p:nvGraphicFramePr>
        <p:xfrm>
          <a:off x="2123728" y="2780927"/>
          <a:ext cx="4224367" cy="1297520"/>
        </p:xfrm>
        <a:graphic>
          <a:graphicData uri="http://schemas.openxmlformats.org/drawingml/2006/table">
            <a:tbl>
              <a:tblPr firstRow="1" firstCol="1" lastRow="1" lastCol="1" bandRow="1" bandCol="1">
                <a:tableStyleId>{5C22544A-7EE6-4342-B048-85BDC9FD1C3A}</a:tableStyleId>
              </a:tblPr>
              <a:tblGrid>
                <a:gridCol w="2075181"/>
                <a:gridCol w="570146"/>
                <a:gridCol w="1579040"/>
              </a:tblGrid>
              <a:tr h="648760">
                <a:tc>
                  <a:txBody>
                    <a:bodyPr/>
                    <a:lstStyle/>
                    <a:p>
                      <a:pPr>
                        <a:lnSpc>
                          <a:spcPct val="150000"/>
                        </a:lnSpc>
                        <a:spcAft>
                          <a:spcPts val="0"/>
                        </a:spcAft>
                      </a:pPr>
                      <a:r>
                        <a:rPr lang="pt-BR" sz="2000" dirty="0">
                          <a:effectLst/>
                        </a:rPr>
                        <a:t>NOT VERDADEIRO</a:t>
                      </a:r>
                      <a:endParaRPr lang="pt-BR" sz="2000" dirty="0">
                        <a:effectLst/>
                        <a:latin typeface="Arial"/>
                        <a:ea typeface="Times New Roman"/>
                        <a:cs typeface="Times New Roman"/>
                      </a:endParaRPr>
                    </a:p>
                  </a:txBody>
                  <a:tcPr marL="68580" marR="68580" marT="0" marB="0"/>
                </a:tc>
                <a:tc>
                  <a:txBody>
                    <a:bodyPr/>
                    <a:lstStyle/>
                    <a:p>
                      <a:pPr algn="ctr">
                        <a:lnSpc>
                          <a:spcPct val="150000"/>
                        </a:lnSpc>
                        <a:spcAft>
                          <a:spcPts val="0"/>
                        </a:spcAft>
                      </a:pPr>
                      <a:r>
                        <a:rPr lang="pt-BR" sz="2000" dirty="0">
                          <a:solidFill>
                            <a:schemeClr val="tx1"/>
                          </a:solidFill>
                          <a:effectLst/>
                          <a:sym typeface="Wingdings"/>
                        </a:rPr>
                        <a:t></a:t>
                      </a:r>
                      <a:endParaRPr lang="pt-BR" sz="2000" dirty="0">
                        <a:solidFill>
                          <a:schemeClr val="tx1"/>
                        </a:solidFill>
                        <a:effectLst/>
                        <a:latin typeface="Arial"/>
                        <a:ea typeface="Times New Roman"/>
                        <a:cs typeface="Times New Roman"/>
                      </a:endParaRPr>
                    </a:p>
                  </a:txBody>
                  <a:tcPr marL="68580" marR="68580" marT="0" marB="0"/>
                </a:tc>
                <a:tc>
                  <a:txBody>
                    <a:bodyPr/>
                    <a:lstStyle/>
                    <a:p>
                      <a:pPr>
                        <a:lnSpc>
                          <a:spcPct val="150000"/>
                        </a:lnSpc>
                        <a:spcAft>
                          <a:spcPts val="0"/>
                        </a:spcAft>
                      </a:pPr>
                      <a:r>
                        <a:rPr lang="pt-BR" sz="2000" dirty="0">
                          <a:effectLst/>
                        </a:rPr>
                        <a:t>FALSO</a:t>
                      </a:r>
                      <a:endParaRPr lang="pt-BR" sz="2000" dirty="0">
                        <a:effectLst/>
                        <a:latin typeface="Arial"/>
                        <a:ea typeface="Times New Roman"/>
                        <a:cs typeface="Times New Roman"/>
                      </a:endParaRPr>
                    </a:p>
                  </a:txBody>
                  <a:tcPr marL="68580" marR="68580" marT="0" marB="0">
                    <a:solidFill>
                      <a:srgbClr val="FF0000"/>
                    </a:solidFill>
                  </a:tcPr>
                </a:tc>
              </a:tr>
              <a:tr h="648760">
                <a:tc>
                  <a:txBody>
                    <a:bodyPr/>
                    <a:lstStyle/>
                    <a:p>
                      <a:pPr>
                        <a:lnSpc>
                          <a:spcPct val="150000"/>
                        </a:lnSpc>
                        <a:spcAft>
                          <a:spcPts val="0"/>
                        </a:spcAft>
                      </a:pPr>
                      <a:r>
                        <a:rPr lang="pt-BR" sz="2000" dirty="0">
                          <a:effectLst/>
                        </a:rPr>
                        <a:t>NOT FALSO</a:t>
                      </a:r>
                      <a:endParaRPr lang="pt-BR" sz="2000" dirty="0">
                        <a:effectLst/>
                        <a:latin typeface="Arial"/>
                        <a:ea typeface="Times New Roman"/>
                        <a:cs typeface="Times New Roman"/>
                      </a:endParaRPr>
                    </a:p>
                  </a:txBody>
                  <a:tcPr marL="68580" marR="68580" marT="0" marB="0"/>
                </a:tc>
                <a:tc>
                  <a:txBody>
                    <a:bodyPr/>
                    <a:lstStyle/>
                    <a:p>
                      <a:pPr algn="ctr">
                        <a:lnSpc>
                          <a:spcPct val="150000"/>
                        </a:lnSpc>
                        <a:spcAft>
                          <a:spcPts val="0"/>
                        </a:spcAft>
                      </a:pPr>
                      <a:r>
                        <a:rPr lang="pt-BR" sz="2000" dirty="0">
                          <a:solidFill>
                            <a:schemeClr val="tx1"/>
                          </a:solidFill>
                          <a:effectLst/>
                          <a:sym typeface="Wingdings"/>
                        </a:rPr>
                        <a:t></a:t>
                      </a:r>
                      <a:endParaRPr lang="pt-BR" sz="2000" dirty="0">
                        <a:solidFill>
                          <a:schemeClr val="tx1"/>
                        </a:solidFill>
                        <a:effectLst/>
                        <a:latin typeface="Arial"/>
                        <a:ea typeface="Times New Roman"/>
                        <a:cs typeface="Times New Roman"/>
                      </a:endParaRPr>
                    </a:p>
                  </a:txBody>
                  <a:tcPr marL="68580" marR="68580" marT="0" marB="0"/>
                </a:tc>
                <a:tc>
                  <a:txBody>
                    <a:bodyPr/>
                    <a:lstStyle/>
                    <a:p>
                      <a:pPr>
                        <a:lnSpc>
                          <a:spcPct val="150000"/>
                        </a:lnSpc>
                        <a:spcAft>
                          <a:spcPts val="0"/>
                        </a:spcAft>
                      </a:pPr>
                      <a:r>
                        <a:rPr lang="pt-BR" sz="2000" dirty="0">
                          <a:effectLst/>
                        </a:rPr>
                        <a:t>VERDADEIRO</a:t>
                      </a:r>
                      <a:endParaRPr lang="pt-BR" sz="2000" dirty="0">
                        <a:effectLst/>
                        <a:latin typeface="Arial"/>
                        <a:ea typeface="Times New Roman"/>
                        <a:cs typeface="Times New Roman"/>
                      </a:endParaRPr>
                    </a:p>
                  </a:txBody>
                  <a:tcPr marL="68580" marR="68580" marT="0" marB="0">
                    <a:solidFill>
                      <a:srgbClr val="FF0000"/>
                    </a:solidFill>
                  </a:tcPr>
                </a:tc>
              </a:tr>
            </a:tbl>
          </a:graphicData>
        </a:graphic>
      </p:graphicFrame>
    </p:spTree>
    <p:extLst>
      <p:ext uri="{BB962C8B-B14F-4D97-AF65-F5344CB8AC3E}">
        <p14:creationId xmlns:p14="http://schemas.microsoft.com/office/powerpoint/2010/main" val="41886746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a:t>Prioridade na Avaliação de Expressões</a:t>
            </a:r>
          </a:p>
        </p:txBody>
      </p:sp>
      <p:sp>
        <p:nvSpPr>
          <p:cNvPr id="3" name="Espaço Reservado para Conteúdo 2"/>
          <p:cNvSpPr>
            <a:spLocks noGrp="1"/>
          </p:cNvSpPr>
          <p:nvPr>
            <p:ph idx="1"/>
          </p:nvPr>
        </p:nvSpPr>
        <p:spPr/>
        <p:txBody>
          <a:bodyPr>
            <a:normAutofit fontScale="92500" lnSpcReduction="10000"/>
          </a:bodyPr>
          <a:lstStyle/>
          <a:p>
            <a:pPr marL="0" indent="0">
              <a:buNone/>
            </a:pPr>
            <a:r>
              <a:rPr lang="pt-BR" dirty="0"/>
              <a:t>1º	Parênteses e funções (resolvidos da esquerda para a direita)</a:t>
            </a:r>
          </a:p>
          <a:p>
            <a:pPr marL="0" indent="0">
              <a:buNone/>
            </a:pPr>
            <a:r>
              <a:rPr lang="pt-BR" dirty="0"/>
              <a:t>2º	Multiplicação (*), Divisão ( / e </a:t>
            </a:r>
            <a:r>
              <a:rPr lang="pt-BR" dirty="0" err="1"/>
              <a:t>div</a:t>
            </a:r>
            <a:r>
              <a:rPr lang="pt-BR" dirty="0"/>
              <a:t> ) e Resto ( </a:t>
            </a:r>
            <a:r>
              <a:rPr lang="pt-BR" dirty="0" err="1"/>
              <a:t>Mod</a:t>
            </a:r>
            <a:r>
              <a:rPr lang="pt-BR" dirty="0"/>
              <a:t> </a:t>
            </a:r>
            <a:r>
              <a:rPr lang="pt-BR" dirty="0" smtClean="0"/>
              <a:t>)(</a:t>
            </a:r>
            <a:r>
              <a:rPr lang="pt-BR" dirty="0"/>
              <a:t>resolvidos da esquerda para a direita)</a:t>
            </a:r>
          </a:p>
          <a:p>
            <a:pPr marL="0" indent="0">
              <a:buNone/>
            </a:pPr>
            <a:r>
              <a:rPr lang="pt-BR" dirty="0"/>
              <a:t>3º	soma e subtração</a:t>
            </a:r>
          </a:p>
          <a:p>
            <a:pPr marL="0" indent="0">
              <a:buNone/>
            </a:pPr>
            <a:r>
              <a:rPr lang="pt-BR" dirty="0"/>
              <a:t>4º	Operadores relacionais: &gt;,  &lt;,   </a:t>
            </a:r>
            <a:r>
              <a:rPr lang="pt-BR" b="1" dirty="0">
                <a:sym typeface="Symbol"/>
              </a:rPr>
              <a:t></a:t>
            </a:r>
            <a:r>
              <a:rPr lang="pt-BR" b="1" dirty="0"/>
              <a:t>,  </a:t>
            </a:r>
            <a:r>
              <a:rPr lang="pt-BR" b="1" dirty="0">
                <a:sym typeface="Symbol"/>
              </a:rPr>
              <a:t></a:t>
            </a:r>
            <a:r>
              <a:rPr lang="pt-BR" b="1" dirty="0"/>
              <a:t>, =,  </a:t>
            </a:r>
            <a:r>
              <a:rPr lang="pt-BR" b="1" dirty="0">
                <a:sym typeface="Symbol"/>
              </a:rPr>
              <a:t></a:t>
            </a:r>
            <a:endParaRPr lang="pt-BR" dirty="0"/>
          </a:p>
          <a:p>
            <a:pPr marL="0" indent="0">
              <a:buNone/>
            </a:pPr>
            <a:r>
              <a:rPr lang="pt-BR" dirty="0"/>
              <a:t>5º	Operador Lógico Não</a:t>
            </a:r>
          </a:p>
          <a:p>
            <a:pPr marL="0" indent="0">
              <a:buNone/>
            </a:pPr>
            <a:r>
              <a:rPr lang="pt-BR" dirty="0"/>
              <a:t>6º	Operador Lógico E</a:t>
            </a:r>
          </a:p>
          <a:p>
            <a:pPr marL="0" indent="0">
              <a:buNone/>
            </a:pPr>
            <a:r>
              <a:rPr lang="pt-BR" dirty="0"/>
              <a:t>7º	Operador Lógico Ou</a:t>
            </a:r>
          </a:p>
          <a:p>
            <a:pPr marL="0" indent="0">
              <a:buNone/>
            </a:pPr>
            <a:endParaRPr lang="pt-BR" dirty="0"/>
          </a:p>
        </p:txBody>
      </p:sp>
    </p:spTree>
    <p:extLst>
      <p:ext uri="{BB962C8B-B14F-4D97-AF65-F5344CB8AC3E}">
        <p14:creationId xmlns:p14="http://schemas.microsoft.com/office/powerpoint/2010/main" val="12861723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Exercícios propostos</a:t>
            </a:r>
            <a:endParaRPr lang="pt-BR" dirty="0"/>
          </a:p>
        </p:txBody>
      </p:sp>
      <p:sp>
        <p:nvSpPr>
          <p:cNvPr id="3" name="Espaço Reservado para Conteúdo 2"/>
          <p:cNvSpPr>
            <a:spLocks noGrp="1"/>
          </p:cNvSpPr>
          <p:nvPr>
            <p:ph idx="1"/>
          </p:nvPr>
        </p:nvSpPr>
        <p:spPr>
          <a:xfrm>
            <a:off x="0" y="1196752"/>
            <a:ext cx="9144000" cy="5661248"/>
          </a:xfrm>
        </p:spPr>
        <p:txBody>
          <a:bodyPr>
            <a:normAutofit lnSpcReduction="10000"/>
          </a:bodyPr>
          <a:lstStyle/>
          <a:p>
            <a:pPr marL="0" indent="0">
              <a:buNone/>
            </a:pPr>
            <a:r>
              <a:rPr lang="da-DK" dirty="0" smtClean="0"/>
              <a:t>a)	3 / 5</a:t>
            </a:r>
          </a:p>
          <a:p>
            <a:pPr marL="0" indent="0">
              <a:buNone/>
            </a:pPr>
            <a:r>
              <a:rPr lang="da-DK" dirty="0" smtClean="0"/>
              <a:t>b)	4 DIV 3</a:t>
            </a:r>
          </a:p>
          <a:p>
            <a:pPr marL="0" indent="0">
              <a:buNone/>
            </a:pPr>
            <a:r>
              <a:rPr lang="da-DK" dirty="0" smtClean="0"/>
              <a:t>c)	4 MOD 1</a:t>
            </a:r>
          </a:p>
          <a:p>
            <a:pPr marL="0" indent="0">
              <a:buNone/>
            </a:pPr>
            <a:r>
              <a:rPr lang="da-DK" dirty="0" smtClean="0"/>
              <a:t>d)	( 400 DIV 10 ) MOD 4</a:t>
            </a:r>
          </a:p>
          <a:p>
            <a:pPr marL="0" indent="0">
              <a:buNone/>
            </a:pPr>
            <a:r>
              <a:rPr lang="da-DK" dirty="0" smtClean="0"/>
              <a:t>e)	7**2 + 5 *2</a:t>
            </a:r>
          </a:p>
          <a:p>
            <a:pPr marL="0" indent="0">
              <a:buNone/>
            </a:pPr>
            <a:r>
              <a:rPr lang="da-DK" dirty="0" smtClean="0"/>
              <a:t>f)	5 *19+25</a:t>
            </a:r>
          </a:p>
          <a:p>
            <a:pPr marL="0" indent="0">
              <a:buNone/>
            </a:pPr>
            <a:r>
              <a:rPr lang="da-DK" dirty="0" smtClean="0"/>
              <a:t>g)	6,5* 5,0 +(3*3)</a:t>
            </a:r>
          </a:p>
          <a:p>
            <a:pPr marL="0" indent="0">
              <a:buNone/>
            </a:pPr>
            <a:r>
              <a:rPr lang="da-DK" dirty="0" smtClean="0"/>
              <a:t>h)	2/5+2.3</a:t>
            </a:r>
          </a:p>
          <a:p>
            <a:pPr marL="0" indent="0">
              <a:buNone/>
            </a:pPr>
            <a:r>
              <a:rPr lang="da-DK" dirty="0" smtClean="0"/>
              <a:t>i)	29,0/7+4</a:t>
            </a:r>
          </a:p>
          <a:p>
            <a:pPr marL="0" indent="0">
              <a:buNone/>
            </a:pPr>
            <a:r>
              <a:rPr lang="da-DK" dirty="0" smtClean="0"/>
              <a:t>j)	3/6,0-7</a:t>
            </a:r>
          </a:p>
          <a:p>
            <a:pPr marL="0" indent="0">
              <a:buNone/>
            </a:pPr>
            <a:endParaRPr lang="pt-BR" dirty="0"/>
          </a:p>
        </p:txBody>
      </p:sp>
    </p:spTree>
    <p:extLst>
      <p:ext uri="{BB962C8B-B14F-4D97-AF65-F5344CB8AC3E}">
        <p14:creationId xmlns:p14="http://schemas.microsoft.com/office/powerpoint/2010/main" val="11798717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a:t>Qual o resultado de cada expressão abaixo</a:t>
            </a:r>
            <a:r>
              <a:rPr lang="pt-BR" dirty="0" smtClean="0"/>
              <a:t>:</a:t>
            </a:r>
            <a:endParaRPr lang="pt-BR" dirty="0"/>
          </a:p>
        </p:txBody>
      </p:sp>
      <p:sp>
        <p:nvSpPr>
          <p:cNvPr id="3" name="Espaço Reservado para Conteúdo 2"/>
          <p:cNvSpPr>
            <a:spLocks noGrp="1"/>
          </p:cNvSpPr>
          <p:nvPr>
            <p:ph idx="1"/>
          </p:nvPr>
        </p:nvSpPr>
        <p:spPr>
          <a:xfrm>
            <a:off x="107504" y="1556792"/>
            <a:ext cx="8928992" cy="5040560"/>
          </a:xfrm>
        </p:spPr>
        <p:txBody>
          <a:bodyPr/>
          <a:lstStyle/>
          <a:p>
            <a:pPr marL="0" indent="0">
              <a:buNone/>
            </a:pPr>
            <a:endParaRPr lang="pt-BR" sz="2800" dirty="0" smtClean="0"/>
          </a:p>
          <a:p>
            <a:pPr marL="0" indent="0">
              <a:buNone/>
            </a:pPr>
            <a:r>
              <a:rPr lang="pt-BR" sz="2800" dirty="0" smtClean="0"/>
              <a:t>a)	2 &gt; 3</a:t>
            </a:r>
          </a:p>
          <a:p>
            <a:pPr marL="0" indent="0">
              <a:buNone/>
            </a:pPr>
            <a:r>
              <a:rPr lang="pt-BR" sz="2800" dirty="0" smtClean="0"/>
              <a:t>b)	( 6 &lt; 8 ) OR ( 3 &gt; 7 )</a:t>
            </a:r>
          </a:p>
          <a:p>
            <a:pPr marL="0" indent="0">
              <a:buNone/>
            </a:pPr>
            <a:r>
              <a:rPr lang="pt-BR" sz="2800" dirty="0" smtClean="0"/>
              <a:t>c)	((( 10 DIV 2 ) MOD 6 ) &gt; 5 ) OR ( 3 &lt; ( 2  MOD 2 ) )</a:t>
            </a:r>
          </a:p>
          <a:p>
            <a:pPr marL="0" indent="0">
              <a:buNone/>
            </a:pPr>
            <a:r>
              <a:rPr lang="pt-BR" sz="2800" dirty="0" smtClean="0"/>
              <a:t>d)	NOT ( 2 &lt; 3 )</a:t>
            </a:r>
          </a:p>
          <a:p>
            <a:pPr marL="0" indent="0">
              <a:buNone/>
            </a:pPr>
            <a:endParaRPr lang="pt-BR" dirty="0"/>
          </a:p>
        </p:txBody>
      </p:sp>
    </p:spTree>
    <p:extLst>
      <p:ext uri="{BB962C8B-B14F-4D97-AF65-F5344CB8AC3E}">
        <p14:creationId xmlns:p14="http://schemas.microsoft.com/office/powerpoint/2010/main" val="16498319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Autofit/>
          </a:bodyPr>
          <a:lstStyle/>
          <a:p>
            <a:r>
              <a:rPr lang="pt-BR" sz="3200" dirty="0" smtClean="0"/>
              <a:t>Sabendo que A=3, B=7 e C=4, informe se as expressões abaixo são verdadeiras ou falsas.</a:t>
            </a:r>
            <a:endParaRPr lang="pt-BR" sz="3200" dirty="0"/>
          </a:p>
        </p:txBody>
      </p:sp>
      <p:sp>
        <p:nvSpPr>
          <p:cNvPr id="3" name="Espaço Reservado para Conteúdo 2"/>
          <p:cNvSpPr>
            <a:spLocks noGrp="1"/>
          </p:cNvSpPr>
          <p:nvPr>
            <p:ph idx="1"/>
          </p:nvPr>
        </p:nvSpPr>
        <p:spPr/>
        <p:txBody>
          <a:bodyPr/>
          <a:lstStyle/>
          <a:p>
            <a:pPr marL="0" indent="0">
              <a:buNone/>
            </a:pPr>
            <a:r>
              <a:rPr lang="pt-BR" dirty="0" smtClean="0"/>
              <a:t>a) (A+C) &gt; B 	(   )</a:t>
            </a:r>
          </a:p>
          <a:p>
            <a:pPr marL="0" indent="0">
              <a:buNone/>
            </a:pPr>
            <a:r>
              <a:rPr lang="pt-BR" dirty="0" smtClean="0"/>
              <a:t>b) B &gt;= (A + 2) 	(   )</a:t>
            </a:r>
          </a:p>
          <a:p>
            <a:pPr marL="0" indent="0">
              <a:buNone/>
            </a:pPr>
            <a:r>
              <a:rPr lang="pt-BR" dirty="0" smtClean="0"/>
              <a:t>c) C = (B –A) 	(   )</a:t>
            </a:r>
          </a:p>
          <a:p>
            <a:pPr marL="0" indent="0">
              <a:buNone/>
            </a:pPr>
            <a:r>
              <a:rPr lang="pt-BR" dirty="0" smtClean="0"/>
              <a:t>d) (B + A) &lt;= C 	(   )</a:t>
            </a:r>
          </a:p>
          <a:p>
            <a:pPr marL="0" indent="0">
              <a:buNone/>
            </a:pPr>
            <a:r>
              <a:rPr lang="pt-BR" dirty="0" smtClean="0"/>
              <a:t>e) (C+A) &gt; B 	(   )</a:t>
            </a:r>
          </a:p>
          <a:p>
            <a:pPr marL="0" indent="0">
              <a:buNone/>
            </a:pPr>
            <a:endParaRPr lang="pt-BR" dirty="0"/>
          </a:p>
        </p:txBody>
      </p:sp>
    </p:spTree>
    <p:extLst>
      <p:ext uri="{BB962C8B-B14F-4D97-AF65-F5344CB8AC3E}">
        <p14:creationId xmlns:p14="http://schemas.microsoft.com/office/powerpoint/2010/main" val="19001501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smtClean="0"/>
              <a:t> </a:t>
            </a:r>
            <a:r>
              <a:rPr lang="pt-BR" sz="3600" dirty="0" smtClean="0"/>
              <a:t>Sabendo que A=5, B=4 e C=3 e D=6, informe se as expressões abaixo são verdadeiras ou falsas.</a:t>
            </a:r>
            <a:endParaRPr lang="pt-BR" sz="3600" dirty="0"/>
          </a:p>
        </p:txBody>
      </p:sp>
      <p:sp>
        <p:nvSpPr>
          <p:cNvPr id="3" name="Espaço Reservado para Conteúdo 2"/>
          <p:cNvSpPr>
            <a:spLocks noGrp="1"/>
          </p:cNvSpPr>
          <p:nvPr>
            <p:ph idx="1"/>
          </p:nvPr>
        </p:nvSpPr>
        <p:spPr/>
        <p:txBody>
          <a:bodyPr/>
          <a:lstStyle/>
          <a:p>
            <a:pPr marL="0" indent="0">
              <a:buNone/>
            </a:pPr>
            <a:endParaRPr lang="en-US" dirty="0" smtClean="0"/>
          </a:p>
          <a:p>
            <a:pPr marL="0" indent="0">
              <a:buNone/>
            </a:pPr>
            <a:r>
              <a:rPr lang="en-US" dirty="0" smtClean="0"/>
              <a:t>a) (A &gt; C) AND (C &lt;= D) 		(  )</a:t>
            </a:r>
          </a:p>
          <a:p>
            <a:pPr marL="0" indent="0">
              <a:buNone/>
            </a:pPr>
            <a:r>
              <a:rPr lang="en-US" dirty="0" smtClean="0"/>
              <a:t>b) (A+B) &gt; 10 OR (A+B) = (C+D)     (  )</a:t>
            </a:r>
          </a:p>
          <a:p>
            <a:pPr marL="0" indent="0">
              <a:buNone/>
            </a:pPr>
            <a:r>
              <a:rPr lang="en-US" dirty="0" smtClean="0"/>
              <a:t>c) (A&gt;=C) AND (D &gt;= C) 		(  )</a:t>
            </a:r>
          </a:p>
          <a:p>
            <a:pPr marL="0" indent="0">
              <a:buNone/>
            </a:pPr>
            <a:r>
              <a:rPr lang="en-US" dirty="0" smtClean="0"/>
              <a:t> </a:t>
            </a:r>
          </a:p>
          <a:p>
            <a:pPr marL="0" indent="0">
              <a:buNone/>
            </a:pPr>
            <a:endParaRPr lang="pt-BR" dirty="0"/>
          </a:p>
        </p:txBody>
      </p:sp>
    </p:spTree>
    <p:extLst>
      <p:ext uri="{BB962C8B-B14F-4D97-AF65-F5344CB8AC3E}">
        <p14:creationId xmlns:p14="http://schemas.microsoft.com/office/powerpoint/2010/main" val="4278024944"/>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2497</TotalTime>
  <Words>1517</Words>
  <Application>Microsoft Office PowerPoint</Application>
  <PresentationFormat>Apresentação na tela (4:3)</PresentationFormat>
  <Paragraphs>300</Paragraphs>
  <Slides>56</Slides>
  <Notes>0</Notes>
  <HiddenSlides>0</HiddenSlides>
  <MMClips>0</MMClips>
  <ScaleCrop>false</ScaleCrop>
  <HeadingPairs>
    <vt:vector size="6" baseType="variant">
      <vt:variant>
        <vt:lpstr>Tema</vt:lpstr>
      </vt:variant>
      <vt:variant>
        <vt:i4>1</vt:i4>
      </vt:variant>
      <vt:variant>
        <vt:lpstr>Servidores OLE incorporados</vt:lpstr>
      </vt:variant>
      <vt:variant>
        <vt:i4>1</vt:i4>
      </vt:variant>
      <vt:variant>
        <vt:lpstr>Títulos de slides</vt:lpstr>
      </vt:variant>
      <vt:variant>
        <vt:i4>56</vt:i4>
      </vt:variant>
    </vt:vector>
  </HeadingPairs>
  <TitlesOfParts>
    <vt:vector size="58" baseType="lpstr">
      <vt:lpstr>Tema do Office</vt:lpstr>
      <vt:lpstr>Documento</vt:lpstr>
      <vt:lpstr>Introdução à Programação</vt:lpstr>
      <vt:lpstr>Introdução</vt:lpstr>
      <vt:lpstr>Introdução</vt:lpstr>
      <vt:lpstr>Introdução</vt:lpstr>
      <vt:lpstr>Introdução</vt:lpstr>
      <vt:lpstr>O que é?</vt:lpstr>
      <vt:lpstr>Apresentação do PowerPoint</vt:lpstr>
      <vt:lpstr>Apresentação do PowerPoint</vt:lpstr>
      <vt:lpstr>Programas</vt:lpstr>
      <vt:lpstr>Representação da lógica</vt:lpstr>
      <vt:lpstr>Algoritmo</vt:lpstr>
      <vt:lpstr>Regras para construção do Algoritmo</vt:lpstr>
      <vt:lpstr>Fases de um Algoritmo</vt:lpstr>
      <vt:lpstr>Por isso, diante de um problema devemos agir da seguinte maneira: </vt:lpstr>
      <vt:lpstr>Apresentação do PowerPoint</vt:lpstr>
      <vt:lpstr>Apresentação do PowerPoint</vt:lpstr>
      <vt:lpstr>Apresentação do PowerPoint</vt:lpstr>
      <vt:lpstr>Apresentação do PowerPoint</vt:lpstr>
      <vt:lpstr>Agora tente sozinho:</vt:lpstr>
      <vt:lpstr>Apresentação do PowerPoint</vt:lpstr>
      <vt:lpstr>Apresentação do PowerPoint</vt:lpstr>
      <vt:lpstr>Apresentação do PowerPoint</vt:lpstr>
      <vt:lpstr>Portanto, temos que ficar atentos a três passos básicos:</vt:lpstr>
      <vt:lpstr>Fazendo uma analogia com o homem tem-se:</vt:lpstr>
      <vt:lpstr>Tipos de Algoritmos</vt:lpstr>
      <vt:lpstr>Apresentação do PowerPoint</vt:lpstr>
      <vt:lpstr>Apresentação do PowerPoint</vt:lpstr>
      <vt:lpstr>Pseudocódigo ou Portugol</vt:lpstr>
      <vt:lpstr>Exemplo</vt:lpstr>
      <vt:lpstr>Estrutura Sequencial</vt:lpstr>
      <vt:lpstr>Exemplo</vt:lpstr>
      <vt:lpstr>Estrutura Sequencial em algoritmos</vt:lpstr>
      <vt:lpstr>Pseudocódigo (Algoritmo)</vt:lpstr>
      <vt:lpstr>Sua vez: encontre a Entrada, o Processamento e a Saída:</vt:lpstr>
      <vt:lpstr>Entendendo cada linha:</vt:lpstr>
      <vt:lpstr>Variáveis</vt:lpstr>
      <vt:lpstr>Variáveis</vt:lpstr>
      <vt:lpstr>As variáveis e as constantes podem ser basicamente de quatro tipos: Inteiro, real, caracteres e lógicas.</vt:lpstr>
      <vt:lpstr>Fluxograma</vt:lpstr>
      <vt:lpstr>Apresentação do PowerPoint</vt:lpstr>
      <vt:lpstr>Algoritmo (Pseudocódigo)</vt:lpstr>
      <vt:lpstr>Fluxograma:</vt:lpstr>
      <vt:lpstr>Sua vez: encontre a Entrada, o Processamento e a Saída:</vt:lpstr>
      <vt:lpstr>Apresentação do PowerPoint</vt:lpstr>
      <vt:lpstr>Operadores</vt:lpstr>
      <vt:lpstr>Operadores Aritméticos</vt:lpstr>
      <vt:lpstr>Operadores Relacionais</vt:lpstr>
      <vt:lpstr>Operadores Lógicos</vt:lpstr>
      <vt:lpstr>Operador AND: </vt:lpstr>
      <vt:lpstr>Operador OR: </vt:lpstr>
      <vt:lpstr>Operador NOT: </vt:lpstr>
      <vt:lpstr>Prioridade na Avaliação de Expressões</vt:lpstr>
      <vt:lpstr>Exercícios propostos</vt:lpstr>
      <vt:lpstr>Qual o resultado de cada expressão abaixo:</vt:lpstr>
      <vt:lpstr>Sabendo que A=3, B=7 e C=4, informe se as expressões abaixo são verdadeiras ou falsas.</vt:lpstr>
      <vt:lpstr> Sabendo que A=5, B=4 e C=3 e D=6, informe se as expressões abaixo são verdadeiras ou falsas.</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Introdução à Programação</dc:title>
  <dc:creator>wmalvezzi</dc:creator>
  <cp:lastModifiedBy>wmalvezzi</cp:lastModifiedBy>
  <cp:revision>24</cp:revision>
  <dcterms:created xsi:type="dcterms:W3CDTF">2012-01-31T19:54:10Z</dcterms:created>
  <dcterms:modified xsi:type="dcterms:W3CDTF">2012-02-10T10:46:43Z</dcterms:modified>
</cp:coreProperties>
</file>