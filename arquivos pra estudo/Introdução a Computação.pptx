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30A18"/>
                </a:solidFill>
                <a:latin typeface="Arial"/>
              </a:rPr>
              <a:t>Participação de mercado de SO (Set. 2024)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 de Mercado</c:v>
                </c:pt>
              </c:strCache>
            </c:strRef>
          </c:tx>
          <c:spPr>
            <a:solidFill>
              <a:srgbClr val="303A9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Android</c:v>
                </c:pt>
                <c:pt idx="1">
                  <c:v>Windows</c:v>
                </c:pt>
                <c:pt idx="2">
                  <c:v>iOS/iPadOS</c:v>
                </c:pt>
                <c:pt idx="3">
                  <c:v>macOS</c:v>
                </c:pt>
                <c:pt idx="4">
                  <c:v>Linux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26</c:v>
                </c:pt>
                <c:pt idx="2">
                  <c:v>18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4E-8944-9308-AB02F1A491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030A1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BR" b="0" i="0" u="none" strike="noStrike">
                    <a:solidFill>
                      <a:srgbClr val="000000"/>
                    </a:solidFill>
                    <a:latin typeface="Arial"/>
                  </a:rPr>
                  <a:t>Percentual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030A1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940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amg.com/it-asset/hardware/computer/#:~:text=Computer%20hardware%20is%20a%20type,and%20other%20related%20devic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Operating_system#:~:text=An%20operating%20system%20,241%20for%20computer%20program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amg.com/it-asset/hardware/computer/#:~:text=A%20CPU%20is%20a%20type,input%20into%20meaningful%20information%20outpu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apu.apus.edu/area-of-study/information-technology/resources/basic-components-of-a-computer/#:~:text=Peripherals%20are%20usually%20output%20or,are%20either%20hardwired%20or%20wireless" TargetMode="External"/><Relationship Id="rId4" Type="http://schemas.openxmlformats.org/officeDocument/2006/relationships/hyperlink" Target="https://www.itamg.com/it-asset/hardware/computer/#:~:text=3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tamg.com/it-asset/hardware/computer/#:~:text=A%20CPU%20is%20a%20type,input%20into%20meaningful%20information%20output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s://www.apu.apus.edu/area-of-study/information-technology/resources/basic-components-of-a-computer/#:~:text=Peripherals%20are%20usually%20output%20or,are%20either%20hardwired%20or%20wireless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itamg.com/it-asset/hardware/computer/#:~:text=3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tamg.com/it-asset/hardware/computer/#:~:text=3" TargetMode="External"/><Relationship Id="rId5" Type="http://schemas.openxmlformats.org/officeDocument/2006/relationships/hyperlink" Target="https://www.itamg.com/it-asset/hardware/computer/#:~:text=A%20CPU%20is%20a%20type,input%20into%20meaningful%20information%20output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tamg.com/it-asset/hardware/computer/#:~:text=Computer%20hardware%20is%20a%20type,and%20other%20related%20devices" TargetMode="External"/><Relationship Id="rId5" Type="http://schemas.openxmlformats.org/officeDocument/2006/relationships/hyperlink" Target="https://www.apu.apus.edu/area-of-study/information-technology/resources/basic-components-of-a-computer/#:~:text=Peripherals%20are%20usually%20output%20or,are%20either%20hardwired%20or%20wireless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Operating_system#:~:text=An%20operating%20system%20,241%20for%20computer%20programs" TargetMode="External"/><Relationship Id="rId3" Type="http://schemas.openxmlformats.org/officeDocument/2006/relationships/image" Target="../media/image7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hyperlink" Target="https://en.wikipedia.org/wiki/Operating_system#:~:text=As%20of%20September%C2%A02024,systems%2C%20while%20Windows%2C%20macOS%2C%20an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what-is-high-level-language/#:~:text=High,level%20languag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techtarget.com/whatis/definition/machine-code-machine-language#:~:text=Machine%20code%2C%20also%20known%20as,that%20computer%20hardware%20can%20understand" TargetMode="External"/><Relationship Id="rId4" Type="http://schemas.openxmlformats.org/officeDocument/2006/relationships/hyperlink" Target="https://www.investopedia.com/terms/a/assembly-language.asp#:~:text=Defini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target.com/whatis/definition/machine-code-machine-language#:~:text=Machine%20code%2C%20also%20known%20as,that%20computer%20hardware%20can%20understan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a/assembly-language.asp#:~:text=Definitio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what-is-high-level-language/#:~:text=High,level%20languag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lgorithm#:~:text=In%20mathematics%20%20and%20,referred%20to%20as%20automated%20reason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Algorithm#:~:text=One%20informal%20definition%20is%20,19%20%5D%E2%80%94even%20though" TargetMode="External"/><Relationship Id="rId5" Type="http://schemas.openxmlformats.org/officeDocument/2006/relationships/hyperlink" Target="https://en.wikipedia.org/wiki/Algorithm#:~:text=In%20mathematics%20%20and%20,referred%20to%20as%20automated%20reasoning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03A92"/>
                </a:solidFill>
              </a:rPr>
              <a:t>Introdução à Programação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03A92"/>
                </a:solidFill>
              </a:rPr>
              <a:t>Prof. William Malvezzi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Computadores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 lIns="1270" tIns="1270" rIns="1270" bIns="1270" rtlCol="0" anchor="ctr"/>
          <a:lstStyle/>
          <a:p>
            <a:pPr marL="2540" indent="-254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303A92"/>
                </a:solidFill>
              </a:rPr>
              <a:t>Hardware: </a:t>
            </a:r>
            <a:r>
              <a:rPr lang="en-US" sz="1800" dirty="0">
                <a:solidFill>
                  <a:srgbClr val="030A18"/>
                </a:solidFill>
              </a:rPr>
              <a:t>Componentes físicos de um sistema de computação, como CPU, memória, placa‑mãe, dispositivos de armazenamento e periféricos.
</a:t>
            </a:r>
            <a:r>
              <a:rPr lang="en-US" sz="1800" b="1" dirty="0">
                <a:solidFill>
                  <a:srgbClr val="303A92"/>
                </a:solidFill>
              </a:rPr>
              <a:t>Software: </a:t>
            </a:r>
            <a:r>
              <a:rPr lang="en-US" sz="1800" dirty="0">
                <a:solidFill>
                  <a:srgbClr val="030A18"/>
                </a:solidFill>
              </a:rPr>
              <a:t>Sequência de instruções executadas pelo hardware para realizar tarefas; inclui sistemas operacionais e aplicativos.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3"/>
              </a:rPr>
              <a:t>[1]</a:t>
            </a:r>
            <a:r>
              <a:rPr lang="en-US" sz="700" u="sng" dirty="0">
                <a:solidFill>
                  <a:srgbClr val="303A92"/>
                </a:solidFill>
                <a:hlinkClick r:id="rId4"/>
              </a:rPr>
              <a:t> [2]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Básica de Hardware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0" y="20116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FF3B0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6576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30A18"/>
                </a:solidFill>
              </a:rPr>
              <a:t>CPU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30A18"/>
                </a:solidFill>
              </a:rPr>
              <a:t>ULA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0" y="10972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657600" y="1097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Memória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Principal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FE0B3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Entrada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20116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8D5EF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Saída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29260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D6F5D6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65760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Memória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Secundária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64592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0" y="2194560"/>
            <a:ext cx="457200" cy="182880"/>
          </a:xfrm>
          <a:prstGeom prst="right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0" y="2217420"/>
            <a:ext cx="457200" cy="160020"/>
          </a:xfrm>
          <a:prstGeom prst="right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114800" y="256032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84422" y="2560320"/>
            <a:ext cx="182880" cy="365760"/>
          </a:xfrm>
          <a:prstGeom prst="up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3"/>
              </a:rPr>
              <a:t>[3]</a:t>
            </a:r>
            <a:r>
              <a:rPr lang="en-US" sz="700" u="sng" dirty="0">
                <a:solidFill>
                  <a:srgbClr val="303A92"/>
                </a:solidFill>
                <a:hlinkClick r:id="rId4"/>
              </a:rPr>
              <a:t> [4]</a:t>
            </a:r>
            <a:r>
              <a:rPr lang="en-US" sz="700" u="sng" dirty="0">
                <a:solidFill>
                  <a:srgbClr val="303A92"/>
                </a:solidFill>
                <a:hlinkClick r:id="rId5"/>
              </a:rPr>
              <a:t> [5]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Exemplos de Hardware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0" y="20116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FF3B0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1031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8912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30A18"/>
                </a:solidFill>
              </a:rPr>
              <a:t>CPU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0" y="10972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3320" y="1143000"/>
            <a:ext cx="73152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9120" y="1143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30A18"/>
                </a:solidFill>
              </a:rPr>
              <a:t>Memória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371600" y="20116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FE0B3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417320" y="2057400"/>
            <a:ext cx="64008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103120" y="2057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30A18"/>
                </a:solidFill>
              </a:rPr>
              <a:t>Entrada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943600" y="20116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F8D5EF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10312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7512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30A18"/>
                </a:solidFill>
              </a:rPr>
              <a:t>Saída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3657600" y="29260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D6F5D6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301752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9120" y="2971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30A18"/>
                </a:solidFill>
              </a:rPr>
              <a:t>Memória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30A18"/>
                </a:solidFill>
              </a:rPr>
              <a:t>Secundária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480560" y="164592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2"/>
          <p:cNvSpPr/>
          <p:nvPr/>
        </p:nvSpPr>
        <p:spPr>
          <a:xfrm>
            <a:off x="3200400" y="2194560"/>
            <a:ext cx="457200" cy="182880"/>
          </a:xfrm>
          <a:prstGeom prst="right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3"/>
          <p:cNvSpPr/>
          <p:nvPr/>
        </p:nvSpPr>
        <p:spPr>
          <a:xfrm>
            <a:off x="5486400" y="2217420"/>
            <a:ext cx="457200" cy="160020"/>
          </a:xfrm>
          <a:prstGeom prst="right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4"/>
          <p:cNvSpPr/>
          <p:nvPr/>
        </p:nvSpPr>
        <p:spPr>
          <a:xfrm>
            <a:off x="4084320" y="256032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/>
          <p:cNvSpPr/>
          <p:nvPr/>
        </p:nvSpPr>
        <p:spPr>
          <a:xfrm>
            <a:off x="4876802" y="2571750"/>
            <a:ext cx="182880" cy="365760"/>
          </a:xfrm>
          <a:prstGeom prst="up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8"/>
              </a:rPr>
              <a:t>[3]</a:t>
            </a:r>
            <a:r>
              <a:rPr lang="en-US" sz="700" u="sng" dirty="0">
                <a:solidFill>
                  <a:srgbClr val="303A92"/>
                </a:solidFill>
                <a:hlinkClick r:id="rId9"/>
              </a:rPr>
              <a:t> [4]</a:t>
            </a:r>
            <a:r>
              <a:rPr lang="en-US" sz="700" u="sng" dirty="0">
                <a:solidFill>
                  <a:srgbClr val="303A92"/>
                </a:solidFill>
                <a:hlinkClick r:id="rId10"/>
              </a:rPr>
              <a:t> [5]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 de Processamento e Memória Principal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3A92"/>
                </a:solidFill>
              </a:rPr>
              <a:t>CPU</a:t>
            </a:r>
            <a:r>
              <a:rPr lang="en-US" sz="1600" dirty="0">
                <a:solidFill>
                  <a:srgbClr val="030A18"/>
                </a:solidFill>
              </a:rPr>
              <a:t> – Centro de controle que interpreta e executa instruções, realizando cálculos e tomadas de decisão.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945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2194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3A92"/>
                </a:solidFill>
              </a:rPr>
              <a:t>Memória Principal</a:t>
            </a:r>
            <a:r>
              <a:rPr lang="en-US" sz="1600" dirty="0">
                <a:solidFill>
                  <a:srgbClr val="030A18"/>
                </a:solidFill>
              </a:rPr>
              <a:t> – Armazena dados temporariamente para a CPU; permite acesso rápido, mas seu conteúdo é perdido quando o computador é desligado.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5"/>
              </a:rPr>
              <a:t>[3]</a:t>
            </a:r>
            <a:r>
              <a:rPr lang="en-US" sz="700" u="sng" dirty="0">
                <a:solidFill>
                  <a:srgbClr val="303A92"/>
                </a:solidFill>
                <a:hlinkClick r:id="rId6"/>
              </a:rPr>
              <a:t> [4]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Entrada/Saída e Memória Secundária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146304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4630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3A92"/>
                </a:solidFill>
              </a:rPr>
              <a:t>Entrada/Saída</a:t>
            </a:r>
            <a:r>
              <a:rPr lang="en-US" sz="1500" dirty="0">
                <a:solidFill>
                  <a:srgbClr val="030A18"/>
                </a:solidFill>
              </a:rPr>
              <a:t> – Meios de comunicação entre o computador e os usuários ou outras máquinas: teclado, mouse, câmeras, scanners, monitores, impressoras e alto‑falantes.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432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03A92"/>
                </a:solidFill>
              </a:rPr>
              <a:t>Memória Secundária</a:t>
            </a:r>
            <a:r>
              <a:rPr lang="en-US" sz="1500" dirty="0">
                <a:solidFill>
                  <a:srgbClr val="030A18"/>
                </a:solidFill>
              </a:rPr>
              <a:t> – Armazena dados permanentemente: discos rígidos, SSDs, discos ópticos e dispositivos flash. Diferentemente da RAM, não perde seu conteúdo quando o computador é desligado.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5"/>
              </a:rPr>
              <a:t>[5]</a:t>
            </a:r>
            <a:r>
              <a:rPr lang="en-US" sz="700" u="sng" dirty="0">
                <a:solidFill>
                  <a:srgbClr val="303A92"/>
                </a:solidFill>
                <a:hlinkClick r:id="rId6"/>
              </a:rPr>
              <a:t> [1]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Operacional (SO)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O sistema operacional atua como intermediário entre aplicações e hardware.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Gerencia recursos do sistema: define quais processos executam, quando e como a CPU, a memória e os dispositivos são compartilhados.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Windows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5603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4028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macOS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256032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1188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Linux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56032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98348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Android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5669280" y="1371600"/>
          <a:ext cx="3017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" name="Text 6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8"/>
              </a:rPr>
              <a:t>[2]</a:t>
            </a:r>
            <a:r>
              <a:rPr lang="en-US" sz="700" u="sng" dirty="0">
                <a:solidFill>
                  <a:srgbClr val="303A92"/>
                </a:solidFill>
                <a:hlinkClick r:id="rId9"/>
              </a:rPr>
              <a:t> [6]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Linguagens de Programação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" indent="-2540">
              <a:buSzPct val="100000"/>
              <a:buChar char="•"/>
            </a:pPr>
            <a:r>
              <a:rPr lang="en-US" sz="1600" dirty="0">
                <a:solidFill>
                  <a:srgbClr val="030A18"/>
                </a:solidFill>
              </a:rPr>
              <a:t>Cada linguagem de programação possui uma sintaxe que define como as instruções são expressas e executadas.
</a:t>
            </a:r>
            <a:r>
              <a:rPr lang="en-US" sz="1600" b="1" dirty="0">
                <a:solidFill>
                  <a:srgbClr val="303A92"/>
                </a:solidFill>
              </a:rPr>
              <a:t>Linguagens de Alto Nível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030A18"/>
                </a:solidFill>
              </a:rPr>
              <a:t> – Próximas da linguagem humana; portáveis entre plataformas; fornecem bibliotecas e gerenciamento de memória; exigem compiladores ou interpretadores.
</a:t>
            </a:r>
            <a:r>
              <a:rPr lang="en-US" sz="1600" b="1" dirty="0">
                <a:solidFill>
                  <a:srgbClr val="303A92"/>
                </a:solidFill>
              </a:rPr>
              <a:t>Linguagens de Baixo Nível (Assembly)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030A18"/>
                </a:solidFill>
              </a:rPr>
              <a:t> – Baseadas em mnemônicos; dependentes de arquitetura; traduzidas para código de máquina.
</a:t>
            </a:r>
            <a:r>
              <a:rPr lang="en-US" sz="1600" b="1" dirty="0">
                <a:solidFill>
                  <a:srgbClr val="303A92"/>
                </a:solidFill>
              </a:rPr>
              <a:t>Linguagem de Máquina</a:t>
            </a:r>
            <a:endParaRPr lang="en-US" sz="1600" dirty="0"/>
          </a:p>
          <a:p>
            <a:pPr marL="0" indent="0">
              <a:buNone/>
            </a:pPr>
            <a:r>
              <a:rPr lang="en-US" sz="1500" dirty="0">
                <a:solidFill>
                  <a:srgbClr val="030A18"/>
                </a:solidFill>
              </a:rPr>
              <a:t> – Códigos binários compreendidos diretamente pela CPU.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3"/>
              </a:rPr>
              <a:t>[7]</a:t>
            </a:r>
            <a:r>
              <a:rPr lang="en-US" sz="700" u="sng" dirty="0">
                <a:solidFill>
                  <a:srgbClr val="303A92"/>
                </a:solidFill>
                <a:hlinkClick r:id="rId4"/>
              </a:rPr>
              <a:t> [8]</a:t>
            </a:r>
            <a:r>
              <a:rPr lang="en-US" sz="700" u="sng" dirty="0">
                <a:solidFill>
                  <a:srgbClr val="303A92"/>
                </a:solidFill>
                <a:hlinkClick r:id="rId5"/>
              </a:rPr>
              <a:t> [9]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de Máquina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03A92"/>
                </a:solidFill>
              </a:rPr>
              <a:t>0011</a:t>
            </a:r>
            <a:r>
              <a:rPr lang="en-US" sz="3200" dirty="0">
                <a:solidFill>
                  <a:srgbClr val="000000"/>
                </a:solidFill>
              </a:rPr>
              <a:t>  </a:t>
            </a:r>
            <a:r>
              <a:rPr lang="en-US" sz="3200" b="1" dirty="0">
                <a:solidFill>
                  <a:srgbClr val="303A92"/>
                </a:solidFill>
              </a:rPr>
              <a:t>001010</a:t>
            </a:r>
            <a:r>
              <a:rPr lang="en-US" sz="3200" dirty="0">
                <a:solidFill>
                  <a:srgbClr val="000000"/>
                </a:solidFill>
              </a:rPr>
              <a:t>  </a:t>
            </a:r>
            <a:r>
              <a:rPr lang="en-US" sz="3200" b="1" dirty="0">
                <a:solidFill>
                  <a:srgbClr val="303A92"/>
                </a:solidFill>
              </a:rPr>
              <a:t>001111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51460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0" y="251460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943600" y="251460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Código da instrução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Endereço do 1° operando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Endereço do 2° operando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Conjunto de códigos binários compreendidos diretamente pela CPU.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3"/>
              </a:rPr>
              <a:t>[9]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Assembly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Linguagens de baixo nível baseadas em mnemônicos; dependem da arquitetura e são traduzidas para código de máquina.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194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03A92"/>
                </a:solidFill>
              </a:rPr>
              <a:t>ADD</a:t>
            </a:r>
            <a:r>
              <a:rPr lang="en-US" sz="3200" dirty="0">
                <a:solidFill>
                  <a:srgbClr val="000000"/>
                </a:solidFill>
              </a:rPr>
              <a:t>  </a:t>
            </a:r>
            <a:r>
              <a:rPr lang="en-US" sz="3200" b="1" dirty="0">
                <a:solidFill>
                  <a:srgbClr val="303A92"/>
                </a:solidFill>
              </a:rPr>
              <a:t>A,</a:t>
            </a:r>
            <a:r>
              <a:rPr lang="en-US" sz="3200" dirty="0">
                <a:solidFill>
                  <a:srgbClr val="000000"/>
                </a:solidFill>
              </a:rPr>
              <a:t>  </a:t>
            </a:r>
            <a:r>
              <a:rPr lang="en-US" sz="3200" b="1" dirty="0">
                <a:solidFill>
                  <a:srgbClr val="303A92"/>
                </a:solidFill>
              </a:rPr>
              <a:t>B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011680" y="292608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566160" y="292608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029200" y="2926080"/>
            <a:ext cx="182880" cy="365760"/>
          </a:xfrm>
          <a:prstGeom prst="down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Código da instrução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Endereço simbólico 1° operando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Endereço simbólico 2° operando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3"/>
              </a:rPr>
              <a:t>[8]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de Alto Nível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30A18"/>
                </a:solidFill>
              </a:rPr>
              <a:t>Linguagens de alto nível aproximam a programação da linguagem humana. São independentes de arquitetura e necessitam de tradutores (compiladores ou interpretadores).
</a:t>
            </a:r>
            <a:r>
              <a:rPr lang="en-US" sz="1600" b="1" dirty="0">
                <a:solidFill>
                  <a:srgbClr val="303A92"/>
                </a:solidFill>
              </a:rPr>
              <a:t>Exemplo:</a:t>
            </a:r>
            <a:endParaRPr lang="en-US" sz="1600" dirty="0"/>
          </a:p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</a:rPr>
              <a:t>liquido = salario + comissoes - impostos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3"/>
              </a:rPr>
              <a:t>[7]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 de Solução de Problemas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8D5EF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Definição do problema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011680" y="2240280"/>
            <a:ext cx="274320" cy="91440"/>
          </a:xfrm>
          <a:prstGeom prst="right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103120" y="20116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FE0B3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10312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Elaboração do algoritmo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0" y="2240280"/>
            <a:ext cx="274320" cy="91440"/>
          </a:xfrm>
          <a:prstGeom prst="right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749040" y="20116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FF3B0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74904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Programação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240280"/>
            <a:ext cx="274320" cy="91440"/>
          </a:xfrm>
          <a:prstGeom prst="right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394960" y="20116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D6F5D6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39496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Compilação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2240280"/>
            <a:ext cx="274320" cy="91440"/>
          </a:xfrm>
          <a:prstGeom prst="rightArrow">
            <a:avLst/>
          </a:prstGeom>
          <a:solidFill>
            <a:srgbClr val="303A92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040880" y="20116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 w="12700">
            <a:solidFill>
              <a:srgbClr val="303A9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040880" y="2011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Execução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0" y="1645920"/>
            <a:ext cx="0" cy="1463040"/>
          </a:xfrm>
          <a:prstGeom prst="line">
            <a:avLst/>
          </a:prstGeom>
          <a:noFill/>
          <a:ln w="12700">
            <a:solidFill>
              <a:srgbClr val="303A9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Ser Humano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30A18"/>
                </a:solidFill>
              </a:rPr>
              <a:t>Computador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30A18"/>
                </a:solidFill>
              </a:rPr>
              <a:t>Etapas da resolução de problemas usando um computador.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3"/>
              </a:rPr>
              <a:t>[10]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03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Algoritmos e Lógica de Programação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03A92"/>
                </a:solidFill>
              </a:rPr>
              <a:t>Algoritmo</a:t>
            </a:r>
            <a:r>
              <a:rPr lang="en-US" sz="1600" dirty="0">
                <a:solidFill>
                  <a:srgbClr val="030A18"/>
                </a:solidFill>
              </a:rPr>
              <a:t> – Uma sequência finita de instruções bem definidas que produz um resultado e termina.
Nem todo algoritmo é um programa – receitas de culinária e instruções do dia a dia também são algoritmos.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01752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30A18"/>
                </a:solidFill>
              </a:rPr>
              <a:t>Exemplo: receita de bolo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48234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u="sng" dirty="0">
                <a:solidFill>
                  <a:srgbClr val="303A92"/>
                </a:solidFill>
                <a:hlinkClick r:id="rId5"/>
              </a:rPr>
              <a:t>[10]</a:t>
            </a:r>
            <a:r>
              <a:rPr lang="en-US" sz="700" u="sng" dirty="0">
                <a:solidFill>
                  <a:srgbClr val="303A92"/>
                </a:solidFill>
                <a:hlinkClick r:id="rId6"/>
              </a:rPr>
              <a:t> [11]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595</Words>
  <Application>Microsoft Macintosh PowerPoint</Application>
  <PresentationFormat>Apresentação na tela (16:9)</PresentationFormat>
  <Paragraphs>92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William Roberto Malvezzi</cp:lastModifiedBy>
  <cp:revision>2</cp:revision>
  <dcterms:created xsi:type="dcterms:W3CDTF">2025-07-26T21:36:45Z</dcterms:created>
  <dcterms:modified xsi:type="dcterms:W3CDTF">2025-07-26T21:41:27Z</dcterms:modified>
</cp:coreProperties>
</file>