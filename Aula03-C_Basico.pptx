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69"/>
  </p:notesMasterIdLst>
  <p:sldIdLst>
    <p:sldId id="256" r:id="rId2"/>
    <p:sldId id="260" r:id="rId3"/>
    <p:sldId id="396" r:id="rId4"/>
    <p:sldId id="264" r:id="rId5"/>
    <p:sldId id="266" r:id="rId6"/>
    <p:sldId id="397" r:id="rId7"/>
    <p:sldId id="267" r:id="rId8"/>
    <p:sldId id="257" r:id="rId9"/>
    <p:sldId id="326" r:id="rId10"/>
    <p:sldId id="330" r:id="rId11"/>
    <p:sldId id="286" r:id="rId12"/>
    <p:sldId id="346" r:id="rId13"/>
    <p:sldId id="331" r:id="rId14"/>
    <p:sldId id="332" r:id="rId15"/>
    <p:sldId id="354" r:id="rId16"/>
    <p:sldId id="333" r:id="rId17"/>
    <p:sldId id="334" r:id="rId18"/>
    <p:sldId id="355" r:id="rId19"/>
    <p:sldId id="335" r:id="rId20"/>
    <p:sldId id="336" r:id="rId21"/>
    <p:sldId id="337" r:id="rId22"/>
    <p:sldId id="338" r:id="rId23"/>
    <p:sldId id="339" r:id="rId24"/>
    <p:sldId id="340" r:id="rId25"/>
    <p:sldId id="356" r:id="rId26"/>
    <p:sldId id="341" r:id="rId27"/>
    <p:sldId id="359" r:id="rId28"/>
    <p:sldId id="342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44" r:id="rId37"/>
    <p:sldId id="276" r:id="rId38"/>
    <p:sldId id="368" r:id="rId39"/>
    <p:sldId id="345" r:id="rId40"/>
    <p:sldId id="279" r:id="rId41"/>
    <p:sldId id="369" r:id="rId42"/>
    <p:sldId id="370" r:id="rId43"/>
    <p:sldId id="395" r:id="rId44"/>
    <p:sldId id="371" r:id="rId45"/>
    <p:sldId id="296" r:id="rId46"/>
    <p:sldId id="373" r:id="rId47"/>
    <p:sldId id="374" r:id="rId48"/>
    <p:sldId id="375" r:id="rId49"/>
    <p:sldId id="376" r:id="rId50"/>
    <p:sldId id="377" r:id="rId51"/>
    <p:sldId id="378" r:id="rId52"/>
    <p:sldId id="379" r:id="rId53"/>
    <p:sldId id="380" r:id="rId54"/>
    <p:sldId id="381" r:id="rId55"/>
    <p:sldId id="384" r:id="rId56"/>
    <p:sldId id="385" r:id="rId57"/>
    <p:sldId id="386" r:id="rId58"/>
    <p:sldId id="387" r:id="rId59"/>
    <p:sldId id="388" r:id="rId60"/>
    <p:sldId id="389" r:id="rId61"/>
    <p:sldId id="390" r:id="rId62"/>
    <p:sldId id="303" r:id="rId63"/>
    <p:sldId id="391" r:id="rId64"/>
    <p:sldId id="392" r:id="rId65"/>
    <p:sldId id="394" r:id="rId66"/>
    <p:sldId id="313" r:id="rId67"/>
    <p:sldId id="315" r:id="rId6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97E5922-7565-4478-AF06-9180B70C6F19}" type="datetimeFigureOut">
              <a:rPr lang="pt-BR"/>
              <a:pPr>
                <a:defRPr/>
              </a:pPr>
              <a:t>27/02/2020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B90B304-0278-4D40-9D5C-3494D91FC5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9405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578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08A1574-F18F-496D-88DC-376D742A7FB6}" type="slidenum">
              <a:rPr lang="pt-BR" smtClean="0"/>
              <a:pPr eaLnBrk="1" hangingPunct="1"/>
              <a:t>9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6" name="Retângulo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7" name="Elipse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8" name="Elipse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Elipse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22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3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4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88038-ED53-4DE0-8DA0-E5E1412EE65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364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8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8B46D09-0365-445B-8A4B-4F94B79773E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6" name="Espaço Reservado para Rodapé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90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Retângulo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Elipse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5" name="Elipse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6" name="Elipse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7" name="Elipse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8" name="Elipse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1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2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E4774-E10C-48A8-8CA2-A73B7EEE305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731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E5BEA-2E69-4B5B-BE57-E4DC20EEB80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89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22C03-9070-4ABA-AE48-E436DD3481F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048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CFE975B-B39E-44A5-937C-3A26627C247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5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44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EBD78-9744-4488-8C89-518F23F3ED7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04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ector reto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6" name="Conector reto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7" name="Conector reto 17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Conector reto 1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tângulo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Conector reto 2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Elipse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Espaço Reservado para Data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Espaço Reservado para Número de Slide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83CB32E-CB32-482C-BAEF-F6D049D44F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4" name="Espaço Reservado para Rodapé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82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ector reto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Conector reto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tângulo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Conector reto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11" name="Conector reto 23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2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20182CA-EC4F-4D28-96C9-F2FBE548D68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4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679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1A9FD-C102-48D1-82A3-152CB8B74D1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275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E4F47-238E-486F-800D-4529CC5FE10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11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028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032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34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Elipse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 smtClean="0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fld id="{9B8F8665-3215-4633-A941-3C5428703A5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63" r:id="rId4"/>
    <p:sldLayoutId id="2147483764" r:id="rId5"/>
    <p:sldLayoutId id="2147483771" r:id="rId6"/>
    <p:sldLayoutId id="2147483765" r:id="rId7"/>
    <p:sldLayoutId id="2147483772" r:id="rId8"/>
    <p:sldLayoutId id="2147483773" r:id="rId9"/>
    <p:sldLayoutId id="2147483766" r:id="rId10"/>
    <p:sldLayoutId id="214748376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2pPr>
      <a:lvl3pPr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3pPr>
      <a:lvl4pPr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4pPr>
      <a:lvl5pPr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9pPr>
    </p:titleStyle>
    <p:bodyStyle>
      <a:lvl1pPr marL="273050" indent="-273050" algn="l" rtl="0" fontAlgn="base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fontAlgn="base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fontAlgn="base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fontAlgn="base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Linguagem C:</a:t>
            </a:r>
            <a:br>
              <a:rPr lang="pt-BR" dirty="0"/>
            </a:br>
            <a:r>
              <a:rPr lang="pt-BR" dirty="0"/>
              <a:t>Variáveis e expressões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Linguagens de programação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/>
              <a:t>Linguagem de Máquina</a:t>
            </a:r>
          </a:p>
          <a:p>
            <a:pPr lvl="1"/>
            <a:r>
              <a:rPr lang="pt-BR"/>
              <a:t>Computador entende apenas pulsos elétricos</a:t>
            </a:r>
          </a:p>
          <a:p>
            <a:pPr lvl="1"/>
            <a:r>
              <a:rPr lang="pt-BR"/>
              <a:t>Presença ou não de pulso</a:t>
            </a:r>
          </a:p>
          <a:p>
            <a:pPr lvl="1"/>
            <a:r>
              <a:rPr lang="pt-BR"/>
              <a:t>1 ou 0</a:t>
            </a:r>
          </a:p>
          <a:p>
            <a:r>
              <a:rPr lang="pt-BR"/>
              <a:t>Tudo no computador deve ser descrito em termos de 1’s ou 0’s (binário)</a:t>
            </a:r>
          </a:p>
          <a:p>
            <a:pPr lvl="1"/>
            <a:r>
              <a:rPr lang="pt-BR"/>
              <a:t>Difícil para humanos ler ou escrever</a:t>
            </a:r>
          </a:p>
          <a:p>
            <a:pPr lvl="1"/>
            <a:r>
              <a:rPr lang="pt-BR"/>
              <a:t>00011110 =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Linguagens de programação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Linguagem </a:t>
            </a:r>
            <a:r>
              <a:rPr lang="pt-BR" i="1" dirty="0" err="1"/>
              <a:t>Assembly</a:t>
            </a:r>
            <a:endParaRPr lang="pt-BR" i="1" dirty="0"/>
          </a:p>
          <a:p>
            <a:pPr lvl="1"/>
            <a:r>
              <a:rPr lang="pt-BR" dirty="0"/>
              <a:t>Uso de mnemônicos</a:t>
            </a:r>
          </a:p>
          <a:p>
            <a:pPr lvl="1"/>
            <a:r>
              <a:rPr lang="pt-BR" dirty="0"/>
              <a:t>Conjunto de 0’s e 1’s é agora representado por um código</a:t>
            </a:r>
          </a:p>
          <a:p>
            <a:pPr lvl="1"/>
            <a:r>
              <a:rPr lang="pt-BR" dirty="0"/>
              <a:t>10011011 -&gt; ADD</a:t>
            </a:r>
          </a:p>
          <a:p>
            <a:endParaRPr lang="pt-BR" dirty="0"/>
          </a:p>
          <a:p>
            <a:r>
              <a:rPr lang="pt-BR" dirty="0"/>
              <a:t>Linguagem </a:t>
            </a:r>
            <a:r>
              <a:rPr lang="pt-BR" i="1" dirty="0" err="1"/>
              <a:t>Assembly</a:t>
            </a:r>
            <a:r>
              <a:rPr lang="pt-BR" i="1" dirty="0"/>
              <a:t> </a:t>
            </a:r>
            <a:r>
              <a:rPr lang="pt-BR" dirty="0"/>
              <a:t>- Problemas</a:t>
            </a:r>
          </a:p>
          <a:p>
            <a:pPr lvl="1"/>
            <a:r>
              <a:rPr lang="pt-BR" dirty="0"/>
              <a:t>Requer programação especial (</a:t>
            </a:r>
            <a:r>
              <a:rPr lang="pt-BR" i="1" dirty="0" err="1"/>
              <a:t>Assembly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Conjunto de instruções varia com o computador (processador)</a:t>
            </a:r>
          </a:p>
          <a:p>
            <a:pPr lvl="1"/>
            <a:r>
              <a:rPr lang="pt-BR" dirty="0"/>
              <a:t>Ainda é muito difícil programar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Linguagens de programação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/>
              <a:t>Linguagens de Alto Nível</a:t>
            </a:r>
          </a:p>
          <a:p>
            <a:pPr lvl="1"/>
            <a:r>
              <a:rPr lang="pt-BR"/>
              <a:t>Programas são escritos utilizando uma linguagem parecida com a linguagem humana</a:t>
            </a:r>
          </a:p>
          <a:p>
            <a:pPr lvl="1"/>
            <a:r>
              <a:rPr lang="pt-BR"/>
              <a:t>Independente da arquitetura do computador</a:t>
            </a:r>
          </a:p>
          <a:p>
            <a:pPr lvl="1"/>
            <a:r>
              <a:rPr lang="pt-BR"/>
              <a:t>Mais fácil programar</a:t>
            </a:r>
          </a:p>
          <a:p>
            <a:pPr lvl="1"/>
            <a:r>
              <a:rPr lang="pt-BR"/>
              <a:t>Uso de compiladores</a:t>
            </a:r>
          </a:p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Linguagens de programação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Primórdios</a:t>
            </a:r>
          </a:p>
          <a:p>
            <a:pPr lvl="1"/>
            <a:r>
              <a:rPr lang="pt-BR" dirty="0"/>
              <a:t>Uso da computação para cálculos de fórmulas</a:t>
            </a:r>
          </a:p>
          <a:p>
            <a:pPr lvl="1"/>
            <a:r>
              <a:rPr lang="pt-BR" dirty="0"/>
              <a:t>Fórmulas eram traduzidas para linguagem de máquinas</a:t>
            </a:r>
          </a:p>
          <a:p>
            <a:pPr lvl="1"/>
            <a:r>
              <a:rPr lang="pt-BR" dirty="0"/>
              <a:t>Por que não escrever programas parecidos com as fórmulas que se deseja computar?</a:t>
            </a: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Linguagens de programação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FORTRAN (</a:t>
            </a:r>
            <a:r>
              <a:rPr lang="pt-BR" dirty="0" err="1"/>
              <a:t>FORmula</a:t>
            </a:r>
            <a:r>
              <a:rPr lang="pt-BR" dirty="0"/>
              <a:t> </a:t>
            </a:r>
            <a:r>
              <a:rPr lang="pt-BR" dirty="0" err="1"/>
              <a:t>TRANsform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Em 1950, um grupo de programadores da IBM liderados por John </a:t>
            </a:r>
            <a:r>
              <a:rPr lang="pt-BR" dirty="0" err="1"/>
              <a:t>Backus</a:t>
            </a:r>
            <a:r>
              <a:rPr lang="pt-BR" dirty="0"/>
              <a:t> produz a versão inicial da linguagem; </a:t>
            </a:r>
          </a:p>
          <a:p>
            <a:pPr lvl="1"/>
            <a:r>
              <a:rPr lang="pt-BR" dirty="0"/>
              <a:t>Primeira linguagem de alto nível;</a:t>
            </a:r>
          </a:p>
          <a:p>
            <a:r>
              <a:rPr lang="pt-BR" dirty="0"/>
              <a:t>Várias outras linguagens de alto nível foram criadas</a:t>
            </a:r>
          </a:p>
          <a:p>
            <a:pPr lvl="1"/>
            <a:r>
              <a:rPr lang="pt-BR" dirty="0" err="1"/>
              <a:t>Algol</a:t>
            </a:r>
            <a:r>
              <a:rPr lang="pt-BR" dirty="0"/>
              <a:t>-60, </a:t>
            </a:r>
            <a:r>
              <a:rPr lang="pt-BR" dirty="0" err="1"/>
              <a:t>Cobol</a:t>
            </a:r>
            <a:r>
              <a:rPr lang="pt-BR" dirty="0"/>
              <a:t>, Pascal, </a:t>
            </a:r>
            <a:r>
              <a:rPr lang="pt-BR" dirty="0" err="1"/>
              <a:t>etc</a:t>
            </a:r>
            <a:endParaRPr lang="pt-BR" dirty="0"/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Linguagem C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Uma das mais bem sucedidas foi uma linguagem chamada C</a:t>
            </a:r>
          </a:p>
          <a:p>
            <a:pPr lvl="1"/>
            <a:r>
              <a:rPr lang="pt-BR" dirty="0"/>
              <a:t>Criada em 1972 nos laboratórios por Dennis Ritchie</a:t>
            </a:r>
          </a:p>
          <a:p>
            <a:pPr lvl="1"/>
            <a:r>
              <a:rPr lang="pt-BR" dirty="0"/>
              <a:t>Revisada e padronizada pela ANSI em 1989</a:t>
            </a:r>
          </a:p>
          <a:p>
            <a:pPr lvl="2"/>
            <a:r>
              <a:rPr lang="pt-BR" dirty="0"/>
              <a:t>ANSI: American </a:t>
            </a:r>
            <a:r>
              <a:rPr lang="pt-BR" dirty="0" err="1"/>
              <a:t>National</a:t>
            </a:r>
            <a:r>
              <a:rPr lang="pt-BR" dirty="0"/>
              <a:t> Standards </a:t>
            </a:r>
            <a:r>
              <a:rPr lang="pt-BR" dirty="0" err="1"/>
              <a:t>Institute</a:t>
            </a:r>
            <a:endParaRPr lang="pt-BR" dirty="0"/>
          </a:p>
          <a:p>
            <a:pPr lvl="2"/>
            <a:r>
              <a:rPr lang="pt-BR" dirty="0"/>
              <a:t>Padrão mais utilizado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Primeiro programa em C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2085975"/>
            <a:ext cx="3971925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Primeiro programa em C</a:t>
            </a:r>
          </a:p>
        </p:txBody>
      </p:sp>
      <p:grpSp>
        <p:nvGrpSpPr>
          <p:cNvPr id="27" name="Grupo 26"/>
          <p:cNvGrpSpPr/>
          <p:nvPr/>
        </p:nvGrpSpPr>
        <p:grpSpPr>
          <a:xfrm>
            <a:off x="2276475" y="2085975"/>
            <a:ext cx="3971925" cy="3629025"/>
            <a:chOff x="2276475" y="2085975"/>
            <a:chExt cx="3971925" cy="362902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6475" y="2085975"/>
              <a:ext cx="3971925" cy="3095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Elipse 3"/>
            <p:cNvSpPr/>
            <p:nvPr/>
          </p:nvSpPr>
          <p:spPr>
            <a:xfrm>
              <a:off x="3634200" y="2362200"/>
              <a:ext cx="1676400" cy="6096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3200" dirty="0"/>
                <a:t>Início</a:t>
              </a:r>
            </a:p>
          </p:txBody>
        </p:sp>
        <p:sp>
          <p:nvSpPr>
            <p:cNvPr id="6" name="Retângulo 5"/>
            <p:cNvSpPr/>
            <p:nvPr/>
          </p:nvSpPr>
          <p:spPr>
            <a:xfrm>
              <a:off x="2744400" y="3342000"/>
              <a:ext cx="3456000" cy="324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cxnSp>
          <p:nvCxnSpPr>
            <p:cNvPr id="10" name="Conector de seta reta 9"/>
            <p:cNvCxnSpPr>
              <a:stCxn id="4" idx="4"/>
              <a:endCxn id="6" idx="0"/>
            </p:cNvCxnSpPr>
            <p:nvPr/>
          </p:nvCxnSpPr>
          <p:spPr>
            <a:xfrm>
              <a:off x="4472400" y="2971800"/>
              <a:ext cx="0" cy="37020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e seta reta 11"/>
            <p:cNvCxnSpPr>
              <a:stCxn id="6" idx="2"/>
            </p:cNvCxnSpPr>
            <p:nvPr/>
          </p:nvCxnSpPr>
          <p:spPr>
            <a:xfrm>
              <a:off x="4472400" y="3666000"/>
              <a:ext cx="1588" cy="18630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/>
            <p:cNvCxnSpPr>
              <a:stCxn id="15" idx="2"/>
            </p:cNvCxnSpPr>
            <p:nvPr/>
          </p:nvCxnSpPr>
          <p:spPr>
            <a:xfrm flipH="1">
              <a:off x="4470813" y="4168068"/>
              <a:ext cx="1587" cy="214576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17" idx="2"/>
              <a:endCxn id="21" idx="0"/>
            </p:cNvCxnSpPr>
            <p:nvPr/>
          </p:nvCxnSpPr>
          <p:spPr>
            <a:xfrm>
              <a:off x="4472400" y="4706644"/>
              <a:ext cx="0" cy="398756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ângulo 14"/>
            <p:cNvSpPr/>
            <p:nvPr/>
          </p:nvSpPr>
          <p:spPr>
            <a:xfrm>
              <a:off x="2744400" y="3844068"/>
              <a:ext cx="3456000" cy="324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2744400" y="4382644"/>
              <a:ext cx="3456000" cy="324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21" name="Elipse 20"/>
            <p:cNvSpPr/>
            <p:nvPr/>
          </p:nvSpPr>
          <p:spPr>
            <a:xfrm>
              <a:off x="3634200" y="5105400"/>
              <a:ext cx="1676400" cy="6096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3200" dirty="0"/>
                <a:t>Fim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Primeiro programa em C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43050"/>
            <a:ext cx="721995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Primeiro programa em C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/>
              <a:t>Por que escrevemos programas?</a:t>
            </a:r>
          </a:p>
          <a:p>
            <a:pPr lvl="1"/>
            <a:r>
              <a:rPr lang="pt-BR"/>
              <a:t>Temos dados ou informações que precisam ser processados;</a:t>
            </a:r>
          </a:p>
          <a:p>
            <a:pPr lvl="1"/>
            <a:r>
              <a:rPr lang="pt-BR"/>
              <a:t>Esse processamento pode ser algum cálculo ou pesquisa sobre os dados de entrada;</a:t>
            </a:r>
          </a:p>
          <a:p>
            <a:pPr lvl="1"/>
            <a:r>
              <a:rPr lang="pt-BR"/>
              <a:t>Desse processamento, esperamos obter alguns resultados (Saídas);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Comentários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05800" cy="4267200"/>
          </a:xfrm>
        </p:spPr>
        <p:txBody>
          <a:bodyPr/>
          <a:lstStyle/>
          <a:p>
            <a:r>
              <a:rPr lang="pt-BR"/>
              <a:t>Permitem adicionar uma descrição sobre o programa. São ignorados pelo compilador.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2438400"/>
            <a:ext cx="4276725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Matemática</a:t>
            </a:r>
          </a:p>
          <a:p>
            <a:pPr lvl="1"/>
            <a:r>
              <a:rPr lang="pt-BR" dirty="0"/>
              <a:t>é uma entidade capaz de representar um valor ou expressão;</a:t>
            </a:r>
          </a:p>
          <a:p>
            <a:pPr lvl="1"/>
            <a:r>
              <a:rPr lang="pt-BR" dirty="0"/>
              <a:t>pode representar um número ou um conjunto de números</a:t>
            </a:r>
          </a:p>
          <a:p>
            <a:pPr lvl="1"/>
            <a:r>
              <a:rPr lang="pt-BR" dirty="0"/>
              <a:t>f(x) = x</a:t>
            </a:r>
            <a:r>
              <a:rPr lang="pt-BR" baseline="30000" dirty="0"/>
              <a:t>2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Computação</a:t>
            </a:r>
          </a:p>
          <a:p>
            <a:pPr lvl="1"/>
            <a:r>
              <a:rPr lang="pt-BR" dirty="0"/>
              <a:t>Posição  de memória que armazena uma  informação</a:t>
            </a:r>
          </a:p>
          <a:p>
            <a:pPr lvl="1"/>
            <a:r>
              <a:rPr lang="pt-BR" dirty="0"/>
              <a:t>Pode ser modificada pelo programa</a:t>
            </a:r>
          </a:p>
          <a:p>
            <a:pPr lvl="1"/>
            <a:r>
              <a:rPr lang="pt-BR" dirty="0"/>
              <a:t>Deve ser </a:t>
            </a:r>
            <a:r>
              <a:rPr lang="pt-BR" b="1" dirty="0"/>
              <a:t>definida</a:t>
            </a:r>
            <a:r>
              <a:rPr lang="pt-BR" dirty="0"/>
              <a:t> antes de ser usada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Declaração de variáveis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Precisamos informar ao programa quais dados queremos armazenar</a:t>
            </a:r>
          </a:p>
          <a:p>
            <a:r>
              <a:rPr lang="pt-BR" dirty="0"/>
              <a:t>Precisamos também informar o que são esses dados (qual o tipo de dado)</a:t>
            </a:r>
          </a:p>
          <a:p>
            <a:pPr lvl="1"/>
            <a:r>
              <a:rPr lang="pt-BR" dirty="0"/>
              <a:t>Um nome de uma pessoa</a:t>
            </a:r>
          </a:p>
          <a:p>
            <a:pPr lvl="2"/>
            <a:r>
              <a:rPr lang="pt-BR" dirty="0"/>
              <a:t>Uma cadeia de caracteres (“André” - 5 caracteres)</a:t>
            </a:r>
          </a:p>
          <a:p>
            <a:pPr lvl="1"/>
            <a:r>
              <a:rPr lang="pt-BR" dirty="0"/>
              <a:t>O valor da temperatura atual</a:t>
            </a:r>
          </a:p>
          <a:p>
            <a:pPr lvl="2"/>
            <a:r>
              <a:rPr lang="pt-BR" dirty="0"/>
              <a:t>Um valor numérico (com casas decimais)</a:t>
            </a:r>
          </a:p>
          <a:p>
            <a:pPr lvl="1"/>
            <a:r>
              <a:rPr lang="pt-BR" dirty="0"/>
              <a:t>A quantidade de alunos em uma sala de aula</a:t>
            </a:r>
          </a:p>
          <a:p>
            <a:pPr lvl="2"/>
            <a:r>
              <a:rPr lang="pt-BR" dirty="0"/>
              <a:t>Um valor numérico (número inteiro positivo ou zero)</a:t>
            </a:r>
          </a:p>
          <a:p>
            <a:pPr lvl="1"/>
            <a:r>
              <a:rPr lang="pt-BR" dirty="0"/>
              <a:t>Se um assento de uma aeronave está ocupado</a:t>
            </a:r>
          </a:p>
          <a:p>
            <a:pPr lvl="2"/>
            <a:r>
              <a:rPr lang="pt-BR" dirty="0"/>
              <a:t>Um valor lógico (ocupado: verdadeiro / desocupado: falso)</a:t>
            </a:r>
          </a:p>
        </p:txBody>
      </p:sp>
    </p:spTree>
    <p:extLst>
      <p:ext uri="{BB962C8B-B14F-4D97-AF65-F5344CB8AC3E}">
        <p14:creationId xmlns:p14="http://schemas.microsoft.com/office/powerpoint/2010/main" val="1155323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Declaração de variáveis em C </a:t>
            </a:r>
          </a:p>
          <a:p>
            <a:pPr lvl="1"/>
            <a:r>
              <a:rPr lang="pt-BR" dirty="0"/>
              <a:t>&lt;tipo de dado</a:t>
            </a:r>
            <a:r>
              <a:rPr lang="pt-BR"/>
              <a:t>&gt; nome-da-variável;</a:t>
            </a:r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Propriedades</a:t>
            </a:r>
          </a:p>
          <a:p>
            <a:pPr lvl="1"/>
            <a:r>
              <a:rPr lang="pt-BR" dirty="0"/>
              <a:t>Nome</a:t>
            </a:r>
          </a:p>
          <a:p>
            <a:pPr lvl="2"/>
            <a:r>
              <a:rPr lang="pt-BR" dirty="0"/>
              <a:t>Pode ter um ou mais caracteres</a:t>
            </a:r>
          </a:p>
          <a:p>
            <a:pPr lvl="2"/>
            <a:r>
              <a:rPr lang="pt-BR" dirty="0"/>
              <a:t>Nem tudo pode ser usado como nome</a:t>
            </a:r>
          </a:p>
          <a:p>
            <a:pPr lvl="1"/>
            <a:r>
              <a:rPr lang="pt-BR" dirty="0"/>
              <a:t>Tipo</a:t>
            </a:r>
          </a:p>
          <a:p>
            <a:pPr lvl="2"/>
            <a:r>
              <a:rPr lang="pt-BR" dirty="0"/>
              <a:t>Conjunto de valores aceitos</a:t>
            </a:r>
          </a:p>
          <a:p>
            <a:pPr lvl="1"/>
            <a:r>
              <a:rPr lang="pt-BR" dirty="0"/>
              <a:t>Escopo</a:t>
            </a:r>
          </a:p>
          <a:p>
            <a:pPr lvl="2"/>
            <a:r>
              <a:rPr lang="pt-BR" dirty="0"/>
              <a:t>global ou local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Nome</a:t>
            </a:r>
          </a:p>
          <a:p>
            <a:pPr lvl="1"/>
            <a:r>
              <a:rPr lang="pt-BR" dirty="0"/>
              <a:t>Deve iniciar com letras ou </a:t>
            </a:r>
            <a:r>
              <a:rPr lang="pt-BR" dirty="0" err="1"/>
              <a:t>underscore</a:t>
            </a:r>
            <a:r>
              <a:rPr lang="pt-BR" dirty="0"/>
              <a:t> ( _ );</a:t>
            </a:r>
          </a:p>
          <a:p>
            <a:pPr lvl="1"/>
            <a:r>
              <a:rPr lang="pt-BR" dirty="0"/>
              <a:t>Caracteres devem ser letras, números ou </a:t>
            </a:r>
            <a:r>
              <a:rPr lang="pt-BR" dirty="0" err="1"/>
              <a:t>underscores</a:t>
            </a:r>
            <a:r>
              <a:rPr lang="pt-BR" dirty="0"/>
              <a:t>; </a:t>
            </a:r>
          </a:p>
          <a:p>
            <a:pPr lvl="1"/>
            <a:r>
              <a:rPr lang="pt-BR" dirty="0"/>
              <a:t>Palavras chaves não podem ser usadas como nomes;</a:t>
            </a:r>
          </a:p>
          <a:p>
            <a:pPr lvl="1"/>
            <a:r>
              <a:rPr lang="pt-BR" dirty="0"/>
              <a:t>Letras maiúsculas e minúsculas são consideradas diferentes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Nome</a:t>
            </a:r>
          </a:p>
          <a:p>
            <a:pPr lvl="1"/>
            <a:r>
              <a:rPr lang="pt-BR" dirty="0"/>
              <a:t>Não utilizar espaços nos nomes</a:t>
            </a:r>
          </a:p>
          <a:p>
            <a:pPr lvl="2"/>
            <a:r>
              <a:rPr lang="pt-BR" dirty="0"/>
              <a:t>Exemplo: nome do aluno, temperatura do sensor,</a:t>
            </a:r>
          </a:p>
          <a:p>
            <a:pPr lvl="1"/>
            <a:r>
              <a:rPr lang="pt-BR" dirty="0"/>
              <a:t>Não utilizar acentos ou símbolos</a:t>
            </a:r>
          </a:p>
          <a:p>
            <a:pPr lvl="2"/>
            <a:r>
              <a:rPr lang="pt-BR" dirty="0"/>
              <a:t>Exemplos: garça, tripé, </a:t>
            </a:r>
            <a:r>
              <a:rPr lang="pt-BR" dirty="0" err="1"/>
              <a:t>o,Θ</a:t>
            </a:r>
            <a:endParaRPr lang="pt-BR" dirty="0"/>
          </a:p>
          <a:p>
            <a:pPr lvl="1"/>
            <a:r>
              <a:rPr lang="pt-BR" dirty="0"/>
              <a:t>Não inicializar o nome da variável com números</a:t>
            </a:r>
          </a:p>
          <a:p>
            <a:pPr lvl="2"/>
            <a:r>
              <a:rPr lang="pt-BR" dirty="0"/>
              <a:t>Exemplos: 1A, 52, 5ª</a:t>
            </a:r>
          </a:p>
          <a:p>
            <a:pPr lvl="1"/>
            <a:r>
              <a:rPr lang="pt-BR" dirty="0" err="1"/>
              <a:t>Underscore</a:t>
            </a:r>
            <a:r>
              <a:rPr lang="pt-BR" dirty="0"/>
              <a:t> pode ser usado</a:t>
            </a:r>
          </a:p>
          <a:p>
            <a:pPr lvl="2"/>
            <a:r>
              <a:rPr lang="pt-BR" dirty="0"/>
              <a:t>Exemplo: </a:t>
            </a:r>
            <a:r>
              <a:rPr lang="pt-BR" dirty="0" err="1"/>
              <a:t>nome_do_aluno</a:t>
            </a:r>
            <a:r>
              <a:rPr lang="pt-BR" dirty="0"/>
              <a:t> : </a:t>
            </a:r>
            <a:r>
              <a:rPr lang="pt-BR" dirty="0" err="1"/>
              <a:t>caracter</a:t>
            </a:r>
            <a:endParaRPr lang="pt-BR" dirty="0"/>
          </a:p>
          <a:p>
            <a:pPr lvl="1"/>
            <a:r>
              <a:rPr lang="pt-BR" dirty="0"/>
              <a:t>Não pode haver duas variáveis com o mesmo nome</a:t>
            </a:r>
          </a:p>
        </p:txBody>
      </p:sp>
    </p:spTree>
    <p:extLst>
      <p:ext uri="{BB962C8B-B14F-4D97-AF65-F5344CB8AC3E}">
        <p14:creationId xmlns:p14="http://schemas.microsoft.com/office/powerpoint/2010/main" val="2190694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Lista de palavras chaves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75039"/>
              </p:ext>
            </p:extLst>
          </p:nvPr>
        </p:nvGraphicFramePr>
        <p:xfrm>
          <a:off x="381002" y="2514600"/>
          <a:ext cx="8229598" cy="14833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31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auto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break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char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const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continue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double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else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for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union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static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default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void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return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enum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goto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long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unsigned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struct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extern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while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sizeof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float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if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short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volatile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switch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register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typeof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Quais nomes de variáveis estão corretos:</a:t>
            </a:r>
          </a:p>
          <a:p>
            <a:pPr lvl="1"/>
            <a:r>
              <a:rPr lang="pt-BR" dirty="0"/>
              <a:t>Contador	</a:t>
            </a:r>
          </a:p>
          <a:p>
            <a:pPr lvl="1"/>
            <a:r>
              <a:rPr lang="pt-BR" dirty="0"/>
              <a:t>contador1</a:t>
            </a:r>
          </a:p>
          <a:p>
            <a:pPr lvl="1"/>
            <a:r>
              <a:rPr lang="pt-BR" dirty="0" err="1"/>
              <a:t>comp</a:t>
            </a:r>
            <a:r>
              <a:rPr lang="pt-BR" dirty="0"/>
              <a:t>!		</a:t>
            </a:r>
          </a:p>
          <a:p>
            <a:pPr lvl="1"/>
            <a:r>
              <a:rPr lang="pt-BR" dirty="0"/>
              <a:t>.var	</a:t>
            </a:r>
          </a:p>
          <a:p>
            <a:pPr lvl="1"/>
            <a:r>
              <a:rPr lang="pt-BR" dirty="0"/>
              <a:t>Teste_123	</a:t>
            </a:r>
          </a:p>
          <a:p>
            <a:pPr lvl="1"/>
            <a:r>
              <a:rPr lang="pt-BR" dirty="0"/>
              <a:t>_teste</a:t>
            </a:r>
          </a:p>
          <a:p>
            <a:pPr lvl="1"/>
            <a:r>
              <a:rPr lang="pt-BR" dirty="0" err="1"/>
              <a:t>int</a:t>
            </a:r>
            <a:r>
              <a:rPr lang="pt-BR" dirty="0"/>
              <a:t>		</a:t>
            </a:r>
          </a:p>
          <a:p>
            <a:pPr lvl="1"/>
            <a:r>
              <a:rPr lang="pt-BR" dirty="0"/>
              <a:t>int1</a:t>
            </a:r>
          </a:p>
          <a:p>
            <a:pPr lvl="1"/>
            <a:r>
              <a:rPr lang="pt-BR" dirty="0"/>
              <a:t>1contador	</a:t>
            </a:r>
          </a:p>
          <a:p>
            <a:pPr lvl="1"/>
            <a:r>
              <a:rPr lang="pt-BR" dirty="0"/>
              <a:t>-x</a:t>
            </a:r>
          </a:p>
          <a:p>
            <a:pPr lvl="1"/>
            <a:r>
              <a:rPr lang="pt-BR" dirty="0"/>
              <a:t>Teste-123	</a:t>
            </a:r>
          </a:p>
          <a:p>
            <a:pPr lvl="1"/>
            <a:r>
              <a:rPr lang="pt-BR" dirty="0"/>
              <a:t>x&amp;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/>
              <a:t>Corretos: </a:t>
            </a:r>
          </a:p>
          <a:p>
            <a:pPr lvl="1"/>
            <a:r>
              <a:rPr lang="pt-BR"/>
              <a:t>Contador, contador1,Teste_123, _teste, int1</a:t>
            </a:r>
          </a:p>
          <a:p>
            <a:pPr lvl="1"/>
            <a:endParaRPr lang="pt-BR"/>
          </a:p>
          <a:p>
            <a:r>
              <a:rPr lang="pt-BR"/>
              <a:t>Errados</a:t>
            </a:r>
          </a:p>
          <a:p>
            <a:pPr lvl="1"/>
            <a:r>
              <a:rPr lang="pt-BR"/>
              <a:t>comp!, .var, int, 1contador, -x, Teste-123, x&amp;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/>
              <a:t>Tipo</a:t>
            </a:r>
          </a:p>
          <a:p>
            <a:pPr lvl="1"/>
            <a:r>
              <a:rPr lang="pt-BR"/>
              <a:t>Define os valores que ela pode assumir e as operações que podem ser realizadas com ela</a:t>
            </a:r>
          </a:p>
          <a:p>
            <a:r>
              <a:rPr lang="pt-BR"/>
              <a:t>Exemplo</a:t>
            </a:r>
          </a:p>
          <a:p>
            <a:pPr lvl="1"/>
            <a:r>
              <a:rPr lang="pt-BR"/>
              <a:t>tipo </a:t>
            </a:r>
            <a:r>
              <a:rPr lang="pt-BR" b="1"/>
              <a:t>int</a:t>
            </a:r>
            <a:r>
              <a:rPr lang="pt-BR"/>
              <a:t> recebe apenas valores inteiros</a:t>
            </a:r>
          </a:p>
          <a:p>
            <a:pPr lvl="1"/>
            <a:r>
              <a:rPr lang="pt-BR"/>
              <a:t>tipo </a:t>
            </a:r>
            <a:r>
              <a:rPr lang="pt-BR" b="1"/>
              <a:t>float</a:t>
            </a:r>
            <a:r>
              <a:rPr lang="pt-BR"/>
              <a:t> armazena apenas valores reais</a:t>
            </a:r>
          </a:p>
          <a:p>
            <a:pPr lvl="1"/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Tipos básicos em C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600200"/>
            <a:ext cx="8077200" cy="4495800"/>
          </a:xfrm>
        </p:spPr>
        <p:txBody>
          <a:bodyPr/>
          <a:lstStyle/>
          <a:p>
            <a:r>
              <a:rPr lang="pt-BR" b="1" dirty="0"/>
              <a:t>char</a:t>
            </a:r>
            <a:r>
              <a:rPr lang="pt-BR" dirty="0"/>
              <a:t>: um byte que armazena o código de um caractere do conjunto de caracteres local</a:t>
            </a:r>
          </a:p>
          <a:p>
            <a:pPr lvl="1"/>
            <a:r>
              <a:rPr lang="pt-BR" b="1" i="1" dirty="0"/>
              <a:t>caracteres sempre ficam entre </a:t>
            </a:r>
            <a:r>
              <a:rPr lang="pt-BR" b="1" i="1" dirty="0">
                <a:solidFill>
                  <a:srgbClr val="FF0000"/>
                </a:solidFill>
              </a:rPr>
              <a:t>‘</a:t>
            </a:r>
            <a:r>
              <a:rPr lang="pt-BR" b="1" i="1" dirty="0"/>
              <a:t>aspas simples</a:t>
            </a:r>
            <a:r>
              <a:rPr lang="pt-BR" b="1" i="1" dirty="0">
                <a:solidFill>
                  <a:srgbClr val="FF0000"/>
                </a:solidFill>
              </a:rPr>
              <a:t>’</a:t>
            </a:r>
            <a:r>
              <a:rPr lang="pt-BR" b="1" i="1" dirty="0"/>
              <a:t>!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b="1" dirty="0" err="1"/>
              <a:t>int</a:t>
            </a:r>
            <a:r>
              <a:rPr lang="pt-BR" dirty="0"/>
              <a:t>: um inteiro cujo tamanho depende do processador, tipicamente 16 ou 32 bits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2876550"/>
            <a:ext cx="7496175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6"/>
          <a:stretch/>
        </p:blipFill>
        <p:spPr bwMode="auto">
          <a:xfrm>
            <a:off x="790575" y="5076825"/>
            <a:ext cx="7128307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Tipos básicos em C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600200"/>
            <a:ext cx="8077200" cy="4419600"/>
          </a:xfrm>
        </p:spPr>
        <p:txBody>
          <a:bodyPr/>
          <a:lstStyle/>
          <a:p>
            <a:r>
              <a:rPr lang="pt-BR" dirty="0"/>
              <a:t>Números reais</a:t>
            </a:r>
          </a:p>
          <a:p>
            <a:pPr lvl="1"/>
            <a:r>
              <a:rPr lang="pt-BR" dirty="0"/>
              <a:t>Tipos: </a:t>
            </a:r>
            <a:r>
              <a:rPr lang="pt-BR" i="1" dirty="0" err="1"/>
              <a:t>float</a:t>
            </a:r>
            <a:r>
              <a:rPr lang="pt-BR" dirty="0"/>
              <a:t>, </a:t>
            </a:r>
            <a:r>
              <a:rPr lang="pt-BR" i="1" dirty="0" err="1"/>
              <a:t>double</a:t>
            </a:r>
            <a:r>
              <a:rPr lang="pt-BR" dirty="0"/>
              <a:t> e </a:t>
            </a:r>
            <a:r>
              <a:rPr lang="pt-BR" i="1" dirty="0" err="1"/>
              <a:t>long</a:t>
            </a:r>
            <a:r>
              <a:rPr lang="pt-BR" i="1" dirty="0"/>
              <a:t> </a:t>
            </a:r>
            <a:r>
              <a:rPr lang="pt-BR" i="1" dirty="0" err="1"/>
              <a:t>double</a:t>
            </a:r>
            <a:endParaRPr lang="pt-BR" i="1" dirty="0"/>
          </a:p>
          <a:p>
            <a:pPr lvl="1"/>
            <a:r>
              <a:rPr lang="pt-BR" dirty="0"/>
              <a:t>A parte decimal usa </a:t>
            </a:r>
            <a:r>
              <a:rPr lang="pt-BR" b="1" dirty="0"/>
              <a:t>ponto</a:t>
            </a:r>
            <a:r>
              <a:rPr lang="pt-BR" dirty="0"/>
              <a:t> e </a:t>
            </a:r>
            <a:r>
              <a:rPr lang="pt-BR" b="1" dirty="0"/>
              <a:t>não vírgula</a:t>
            </a:r>
            <a:r>
              <a:rPr lang="pt-BR" dirty="0"/>
              <a:t>!</a:t>
            </a:r>
          </a:p>
          <a:p>
            <a:pPr lvl="1"/>
            <a:r>
              <a:rPr lang="pt-BR" b="1" dirty="0" err="1"/>
              <a:t>float</a:t>
            </a:r>
            <a:r>
              <a:rPr lang="pt-BR" dirty="0"/>
              <a:t>: um número real com precisão simples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b="1" dirty="0"/>
          </a:p>
          <a:p>
            <a:pPr lvl="1"/>
            <a:r>
              <a:rPr lang="pt-BR" b="1" dirty="0" err="1"/>
              <a:t>double</a:t>
            </a:r>
            <a:r>
              <a:rPr lang="pt-BR" dirty="0"/>
              <a:t>: um número real com precisão dupla</a:t>
            </a:r>
          </a:p>
          <a:p>
            <a:pPr lvl="2"/>
            <a:r>
              <a:rPr lang="pt-BR" dirty="0"/>
              <a:t>Números muito grandes ou muito pequenos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33750"/>
            <a:ext cx="67437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248275"/>
            <a:ext cx="71437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Tipos básicos em C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600200"/>
            <a:ext cx="8077200" cy="4419600"/>
          </a:xfrm>
        </p:spPr>
        <p:txBody>
          <a:bodyPr/>
          <a:lstStyle/>
          <a:p>
            <a:r>
              <a:rPr lang="pt-BR" dirty="0"/>
              <a:t>Números reais</a:t>
            </a:r>
          </a:p>
          <a:p>
            <a:pPr lvl="1"/>
            <a:r>
              <a:rPr lang="pt-BR" dirty="0"/>
              <a:t>Pode-se escrever números reais usando notação científica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838200" y="2819400"/>
            <a:ext cx="7467600" cy="1101298"/>
            <a:chOff x="838200" y="2819400"/>
            <a:chExt cx="7467600" cy="1101298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2819400"/>
              <a:ext cx="4933950" cy="1095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CaixaDeTexto 1"/>
            <p:cNvSpPr txBox="1"/>
            <p:nvPr/>
          </p:nvSpPr>
          <p:spPr>
            <a:xfrm>
              <a:off x="5257800" y="3505200"/>
              <a:ext cx="30480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dirty="0" err="1">
                  <a:latin typeface="+mn-lt"/>
                </a:rPr>
                <a:t>equivale</a:t>
              </a:r>
              <a:r>
                <a:rPr lang="en-US" sz="2100" dirty="0">
                  <a:latin typeface="+mn-lt"/>
                </a:rPr>
                <a:t> à 3,295x10</a:t>
              </a:r>
              <a:r>
                <a:rPr lang="en-US" sz="2100" baseline="30000" dirty="0">
                  <a:latin typeface="+mn-lt"/>
                </a:rPr>
                <a:t>-9</a:t>
              </a:r>
              <a:r>
                <a:rPr lang="en-US" sz="2100" dirty="0">
                  <a:latin typeface="+mn-lt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8157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Variáveis</a:t>
            </a: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6753225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Atribuição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Operador de Atribuição:	=</a:t>
            </a:r>
          </a:p>
          <a:p>
            <a:pPr lvl="1"/>
            <a:r>
              <a:rPr lang="pt-BR" dirty="0" err="1"/>
              <a:t>nome_da_variável</a:t>
            </a:r>
            <a:r>
              <a:rPr lang="pt-BR" dirty="0"/>
              <a:t> = expressão, valor ou constante;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Ex.: 	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A linguagem C suporta múltiplas atribuições</a:t>
            </a:r>
          </a:p>
          <a:p>
            <a:pPr lvl="2"/>
            <a:r>
              <a:rPr lang="pt-BR" dirty="0"/>
              <a:t>x = y = z = 0;</a:t>
            </a:r>
            <a:endParaRPr lang="en-US" dirty="0"/>
          </a:p>
        </p:txBody>
      </p:sp>
      <p:grpSp>
        <p:nvGrpSpPr>
          <p:cNvPr id="7" name="Grupo 6"/>
          <p:cNvGrpSpPr/>
          <p:nvPr/>
        </p:nvGrpSpPr>
        <p:grpSpPr>
          <a:xfrm>
            <a:off x="647700" y="2590800"/>
            <a:ext cx="7848600" cy="2667000"/>
            <a:chOff x="647700" y="2590800"/>
            <a:chExt cx="7848600" cy="2667000"/>
          </a:xfrm>
        </p:grpSpPr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" y="2590800"/>
              <a:ext cx="7848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3457575"/>
              <a:ext cx="4733925" cy="180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88965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Comando de saída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pt-BR" b="1" dirty="0" err="1"/>
              <a:t>printf</a:t>
            </a:r>
            <a:r>
              <a:rPr lang="pt-BR" b="1" dirty="0"/>
              <a:t>()</a:t>
            </a:r>
          </a:p>
          <a:p>
            <a:pPr lvl="1">
              <a:defRPr/>
            </a:pPr>
            <a:r>
              <a:rPr lang="pt-BR" b="1" i="1" dirty="0" err="1"/>
              <a:t>print</a:t>
            </a:r>
            <a:r>
              <a:rPr lang="pt-BR" b="1" i="1" dirty="0"/>
              <a:t> </a:t>
            </a:r>
            <a:r>
              <a:rPr lang="pt-BR" b="1" i="1" dirty="0" err="1"/>
              <a:t>f</a:t>
            </a:r>
            <a:r>
              <a:rPr lang="pt-BR" i="1" dirty="0" err="1"/>
              <a:t>ormatted</a:t>
            </a:r>
            <a:endParaRPr lang="pt-BR" i="1" dirty="0"/>
          </a:p>
          <a:p>
            <a:pPr lvl="1">
              <a:defRPr/>
            </a:pPr>
            <a:r>
              <a:rPr lang="pt-BR" dirty="0"/>
              <a:t>Comando que realiza a impressão dos dados do programa na tela</a:t>
            </a:r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r>
              <a:rPr lang="pt-BR" dirty="0"/>
              <a:t>O texto a ser escrito deve ser sempre definido entre </a:t>
            </a:r>
            <a:r>
              <a:rPr lang="pt-BR" b="1" dirty="0"/>
              <a:t>“aspas duplas”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143000" y="3162889"/>
            <a:ext cx="6705600" cy="3617617"/>
            <a:chOff x="1143000" y="3162889"/>
            <a:chExt cx="6705600" cy="3617617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4589756"/>
              <a:ext cx="6219825" cy="2190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96" name="Picture 4" descr="D:\Pesquisa\Publicações\Livros\Livro Linguagem C Completa e Descomplicada\Texto do Livro\Versão Latex\latex\Figuras\printf1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8600" y="3162889"/>
              <a:ext cx="6400000" cy="647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Comando de saída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pt-BR" b="1" dirty="0" err="1"/>
              <a:t>printf</a:t>
            </a:r>
            <a:r>
              <a:rPr lang="pt-BR" b="1" dirty="0"/>
              <a:t>()</a:t>
            </a:r>
          </a:p>
          <a:p>
            <a:pPr lvl="1">
              <a:defRPr/>
            </a:pPr>
            <a:r>
              <a:rPr lang="pt-BR" dirty="0"/>
              <a:t>Quando queremos escrever dados formatados na tela usamos a forma geral da função, a qual possui os tipos de saída. </a:t>
            </a:r>
          </a:p>
          <a:p>
            <a:pPr lvl="1">
              <a:defRPr/>
            </a:pPr>
            <a:r>
              <a:rPr lang="pt-BR" dirty="0"/>
              <a:t>Eles especificam o formato de saída dos dados que serão escritos pela função </a:t>
            </a:r>
            <a:r>
              <a:rPr lang="pt-BR" b="1" dirty="0" err="1"/>
              <a:t>printf</a:t>
            </a:r>
            <a:r>
              <a:rPr lang="pt-BR" b="1" dirty="0"/>
              <a:t>()</a:t>
            </a:r>
            <a:r>
              <a:rPr lang="pt-BR" dirty="0"/>
              <a:t>.</a:t>
            </a:r>
          </a:p>
          <a:p>
            <a:pPr lvl="2">
              <a:defRPr/>
            </a:pPr>
            <a:endParaRPr lang="pt-BR" dirty="0"/>
          </a:p>
          <a:p>
            <a:pPr lvl="2">
              <a:defRPr/>
            </a:pPr>
            <a:endParaRPr lang="pt-BR" dirty="0"/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r>
              <a:rPr lang="pt-BR" dirty="0"/>
              <a:t>Podemos misturar o texto a ser mostrado com os especificadores de formato</a:t>
            </a:r>
          </a:p>
        </p:txBody>
      </p:sp>
      <p:pic>
        <p:nvPicPr>
          <p:cNvPr id="9218" name="Picture 2" descr="D:\Pesquisa\Publicações\Livros\Livro Linguagem C Completa e Descomplicada\Texto do Livro\Versão Latex\latex\Figuras\printf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986061"/>
            <a:ext cx="6362700" cy="64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D:\Pesquisa\Publicações\Livros\Livro Linguagem C Completa e Descomplicada\Texto do Livro\Versão Latex\latex\Figuras\printf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767365"/>
            <a:ext cx="6362700" cy="64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D:\Pesquisa\Publicações\Livros\Livro Linguagem C Completa e Descomplicada\Texto do Livro\Versão Latex\latex\Figuras\printf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343400"/>
            <a:ext cx="6362700" cy="64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903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Comando de saída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pt-BR" b="1" dirty="0" err="1"/>
              <a:t>printf</a:t>
            </a:r>
            <a:r>
              <a:rPr lang="pt-BR" b="1" dirty="0"/>
              <a:t>()</a:t>
            </a:r>
          </a:p>
          <a:p>
            <a:pPr lvl="1">
              <a:defRPr/>
            </a:pPr>
            <a:r>
              <a:rPr lang="pt-BR" dirty="0"/>
              <a:t>Especificadores de formato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524125"/>
            <a:ext cx="8115300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596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Comando de saída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pt-BR" b="1" dirty="0" err="1"/>
              <a:t>printf</a:t>
            </a:r>
            <a:r>
              <a:rPr lang="pt-BR" b="1" dirty="0"/>
              <a:t>()</a:t>
            </a:r>
          </a:p>
          <a:p>
            <a:pPr lvl="1">
              <a:defRPr/>
            </a:pPr>
            <a:r>
              <a:rPr lang="pt-BR" dirty="0"/>
              <a:t>Exemplos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2762250"/>
            <a:ext cx="6734175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5002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Comando de entrada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pt-BR" b="1" dirty="0" err="1"/>
              <a:t>scanf</a:t>
            </a:r>
            <a:r>
              <a:rPr lang="pt-BR" b="1" dirty="0"/>
              <a:t>()</a:t>
            </a:r>
          </a:p>
          <a:p>
            <a:pPr lvl="1">
              <a:defRPr/>
            </a:pPr>
            <a:r>
              <a:rPr lang="pt-BR" dirty="0"/>
              <a:t>Comando que realiza a leitura dos dados da entrada padrão (no caso o teclado)</a:t>
            </a:r>
          </a:p>
          <a:p>
            <a:pPr lvl="1">
              <a:defRPr/>
            </a:pPr>
            <a:r>
              <a:rPr lang="pt-BR" dirty="0" err="1"/>
              <a:t>scanf</a:t>
            </a:r>
            <a:r>
              <a:rPr lang="pt-BR" dirty="0"/>
              <a:t>(“tipo de entrada”, lista de variáveis)</a:t>
            </a:r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r>
              <a:rPr lang="pt-BR" dirty="0"/>
              <a:t>O tipo de entrada deve ser sempre definido entre </a:t>
            </a:r>
            <a:r>
              <a:rPr lang="pt-BR" b="1" dirty="0"/>
              <a:t>“aspas duplas”</a:t>
            </a:r>
          </a:p>
          <a:p>
            <a:pPr lvl="1">
              <a:defRPr/>
            </a:pPr>
            <a:r>
              <a:rPr lang="pt-BR" dirty="0"/>
              <a:t>Na linguagem C, é necessário colocar o símbolo &amp; antes do nome de cada variável a ser lida pelo comando </a:t>
            </a:r>
            <a:r>
              <a:rPr lang="pt-BR" b="1" dirty="0" err="1"/>
              <a:t>scanf</a:t>
            </a:r>
            <a:r>
              <a:rPr lang="pt-BR" b="1" dirty="0"/>
              <a:t>()</a:t>
            </a:r>
            <a:r>
              <a:rPr lang="pt-BR" dirty="0"/>
              <a:t>.</a:t>
            </a:r>
          </a:p>
          <a:p>
            <a:pPr lvl="2">
              <a:defRPr/>
            </a:pPr>
            <a:r>
              <a:rPr lang="pt-BR" dirty="0"/>
              <a:t>O símbolo &amp; indica qual é o endereço da variável que vai receber os dados lidos</a:t>
            </a:r>
          </a:p>
        </p:txBody>
      </p:sp>
      <p:pic>
        <p:nvPicPr>
          <p:cNvPr id="12290" name="Picture 2" descr="D:\Pesquisa\Publicações\Livros\Livro Linguagem C Completa e Descomplicada\Texto do Livro\Versão Latex\latex\Figuras\scanf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866" y="3239089"/>
            <a:ext cx="5333334" cy="647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763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Comando de entrada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pt-BR" b="1" dirty="0" err="1"/>
              <a:t>scanf</a:t>
            </a:r>
            <a:r>
              <a:rPr lang="pt-BR" b="1" dirty="0"/>
              <a:t>()</a:t>
            </a:r>
          </a:p>
          <a:p>
            <a:pPr lvl="1">
              <a:defRPr/>
            </a:pPr>
            <a:r>
              <a:rPr lang="pt-BR" dirty="0"/>
              <a:t>Comando que realiza a leitura dos dados da entrada padrão (no caso o teclado)</a:t>
            </a:r>
          </a:p>
          <a:p>
            <a:pPr lvl="1">
              <a:defRPr/>
            </a:pPr>
            <a:r>
              <a:rPr lang="pt-BR" dirty="0" err="1"/>
              <a:t>scanf</a:t>
            </a:r>
            <a:r>
              <a:rPr lang="pt-BR" dirty="0"/>
              <a:t>(“tipo de entrada”, lista de variáveis)</a:t>
            </a:r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r>
              <a:rPr lang="pt-BR" dirty="0"/>
              <a:t>O tipo de entrada deve ser sempre definido entre </a:t>
            </a:r>
            <a:r>
              <a:rPr lang="pt-BR" b="1" dirty="0"/>
              <a:t>“aspas duplas”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1600866" y="3239089"/>
            <a:ext cx="5333334" cy="3485561"/>
            <a:chOff x="1600866" y="3239089"/>
            <a:chExt cx="5333334" cy="3485561"/>
          </a:xfrm>
        </p:grpSpPr>
        <p:pic>
          <p:nvPicPr>
            <p:cNvPr id="12290" name="Picture 2" descr="D:\Pesquisa\Publicações\Livros\Livro Linguagem C Completa e Descomplicada\Texto do Livro\Versão Latex\latex\Figuras\scanf1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866" y="3239089"/>
              <a:ext cx="5333334" cy="647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5" y="4648200"/>
              <a:ext cx="4171950" cy="2076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82409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Comando de entrada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pt-BR" b="1" dirty="0" err="1"/>
              <a:t>scanf</a:t>
            </a:r>
            <a:r>
              <a:rPr lang="pt-BR" b="1" dirty="0"/>
              <a:t>()</a:t>
            </a:r>
          </a:p>
          <a:p>
            <a:pPr lvl="1">
              <a:defRPr/>
            </a:pPr>
            <a:r>
              <a:rPr lang="pt-BR" dirty="0"/>
              <a:t>Especificadores de formato do tipo de entrada</a:t>
            </a:r>
          </a:p>
          <a:p>
            <a:pPr lvl="1">
              <a:defRPr/>
            </a:pPr>
            <a:endParaRPr lang="pt-BR" b="1" dirty="0"/>
          </a:p>
          <a:p>
            <a:pPr lvl="1">
              <a:defRPr/>
            </a:pPr>
            <a:endParaRPr lang="pt-BR" b="1" dirty="0"/>
          </a:p>
          <a:p>
            <a:pPr lvl="1">
              <a:defRPr/>
            </a:pPr>
            <a:endParaRPr lang="pt-BR" b="1" dirty="0"/>
          </a:p>
          <a:p>
            <a:pPr lvl="1">
              <a:defRPr/>
            </a:pPr>
            <a:endParaRPr lang="pt-BR" b="1" dirty="0"/>
          </a:p>
          <a:p>
            <a:pPr lvl="1">
              <a:defRPr/>
            </a:pPr>
            <a:endParaRPr lang="pt-BR" b="1" dirty="0"/>
          </a:p>
          <a:p>
            <a:pPr lvl="1">
              <a:defRPr/>
            </a:pPr>
            <a:r>
              <a:rPr lang="pt-BR" dirty="0"/>
              <a:t>Podemos ler mais de um valor em um único comando</a:t>
            </a:r>
          </a:p>
          <a:p>
            <a:pPr lvl="2">
              <a:defRPr/>
            </a:pPr>
            <a:r>
              <a:rPr lang="pt-BR" dirty="0"/>
              <a:t>Quando digitar vários valores, separar com espaço, TAB, ou </a:t>
            </a:r>
            <a:r>
              <a:rPr lang="pt-BR" dirty="0" err="1"/>
              <a:t>Enter</a:t>
            </a:r>
            <a:endParaRPr lang="pt-B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2533650"/>
            <a:ext cx="8124825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 descr="D:\Pesquisa\Publicações\Livros\Livro Linguagem C Completa e Descomplicada\Texto do Livro\Versão Latex\latex\Figuras\scanf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333" y="5601289"/>
            <a:ext cx="5333334" cy="647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591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Comando de entrada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pt-BR" b="1" dirty="0" err="1"/>
              <a:t>scanf</a:t>
            </a:r>
            <a:r>
              <a:rPr lang="pt-BR" b="1" dirty="0"/>
              <a:t>()</a:t>
            </a:r>
          </a:p>
          <a:p>
            <a:pPr lvl="1">
              <a:defRPr/>
            </a:pPr>
            <a:endParaRPr lang="pt-B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2209800"/>
            <a:ext cx="6734175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0831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Comando de entrada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b="1" dirty="0" err="1"/>
              <a:t>getchar</a:t>
            </a:r>
            <a:r>
              <a:rPr lang="pt-BR" b="1" dirty="0"/>
              <a:t>()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Comando que realiza a leitura de um único caractere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2581275"/>
            <a:ext cx="505777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Escopo de variáveis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dirty="0"/>
              <a:t>Escopo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Define onde e quando a variável pode ser usada.</a:t>
            </a:r>
          </a:p>
          <a:p>
            <a:pPr>
              <a:lnSpc>
                <a:spcPct val="90000"/>
              </a:lnSpc>
            </a:pPr>
            <a:r>
              <a:rPr lang="pt-BR" dirty="0"/>
              <a:t>Escopo global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Fora de qualquer definição de função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Tempo de vida é o tempo de execução do programa</a:t>
            </a:r>
          </a:p>
          <a:p>
            <a:pPr>
              <a:lnSpc>
                <a:spcPct val="90000"/>
              </a:lnSpc>
            </a:pPr>
            <a:r>
              <a:rPr lang="pt-BR" dirty="0"/>
              <a:t>Escopo local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Bloco ou função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Escopo de variáveis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dirty="0"/>
              <a:t>Escopo local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Bloco: visível apenas no interior de um bloco de comandos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Função: declarada na lista de parâmetros da função ou definida dentro da função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3352800"/>
            <a:ext cx="3486150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97207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Escopo de variáveis</a:t>
            </a:r>
          </a:p>
        </p:txBody>
      </p:sp>
      <p:pic>
        <p:nvPicPr>
          <p:cNvPr id="430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1905000"/>
            <a:ext cx="6008688" cy="4800600"/>
          </a:xfr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Constantes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Como uma variável, uma constante também armazena um valor na memória do computador.</a:t>
            </a:r>
          </a:p>
          <a:p>
            <a:r>
              <a:rPr lang="pt-BR" dirty="0"/>
              <a:t>Entretanto, esse valor não pode ser alterado: é constante. </a:t>
            </a:r>
          </a:p>
          <a:p>
            <a:r>
              <a:rPr lang="pt-BR" dirty="0"/>
              <a:t>Para constantes é obrigatória a atribuição do valor.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/>
              <a:t>Constantes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Usando </a:t>
            </a:r>
            <a:r>
              <a:rPr lang="pt-BR" b="1" dirty="0"/>
              <a:t>#define</a:t>
            </a:r>
          </a:p>
          <a:p>
            <a:pPr lvl="1"/>
            <a:r>
              <a:rPr lang="pt-BR" dirty="0"/>
              <a:t>Você deverá incluir a diretiva de pré-processador </a:t>
            </a:r>
            <a:r>
              <a:rPr lang="pt-BR" b="1" dirty="0"/>
              <a:t>#define</a:t>
            </a:r>
            <a:r>
              <a:rPr lang="pt-BR" dirty="0"/>
              <a:t> antes de início do código:</a:t>
            </a:r>
          </a:p>
          <a:p>
            <a:pPr lvl="1"/>
            <a:r>
              <a:rPr lang="pt-BR" b="1" dirty="0"/>
              <a:t>Cuidado: não colocar  “;”</a:t>
            </a:r>
            <a:endParaRPr lang="pt-BR" dirty="0"/>
          </a:p>
          <a:p>
            <a:pPr marL="366713" lvl="1" indent="0">
              <a:buNone/>
            </a:pPr>
            <a:r>
              <a:rPr lang="pt-BR" b="1" dirty="0">
                <a:latin typeface="Courier New" pitchFamily="49" charset="0"/>
                <a:cs typeface="Courier New" pitchFamily="49" charset="0"/>
              </a:rPr>
              <a:t>#define PI 3.1415</a:t>
            </a:r>
          </a:p>
          <a:p>
            <a:endParaRPr lang="pt-BR" dirty="0"/>
          </a:p>
          <a:p>
            <a:r>
              <a:rPr lang="pt-BR" dirty="0"/>
              <a:t>Usando </a:t>
            </a:r>
            <a:r>
              <a:rPr lang="pt-BR" b="1" dirty="0" err="1"/>
              <a:t>const</a:t>
            </a:r>
            <a:endParaRPr lang="pt-BR" b="1" dirty="0"/>
          </a:p>
          <a:p>
            <a:pPr lvl="1"/>
            <a:r>
              <a:rPr lang="pt-BR" dirty="0"/>
              <a:t>Usando </a:t>
            </a:r>
            <a:r>
              <a:rPr lang="pt-BR" b="1" dirty="0" err="1"/>
              <a:t>const</a:t>
            </a:r>
            <a:r>
              <a:rPr lang="pt-BR" dirty="0"/>
              <a:t>, a declaração não precisa estar no início do código</a:t>
            </a:r>
          </a:p>
          <a:p>
            <a:pPr lvl="1"/>
            <a:r>
              <a:rPr lang="pt-BR" dirty="0"/>
              <a:t>A declaração é igual a de uma variável inicializada</a:t>
            </a:r>
          </a:p>
          <a:p>
            <a:pPr marL="366713" lvl="1" indent="0">
              <a:buNone/>
            </a:pPr>
            <a:r>
              <a:rPr lang="pt-BR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pi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= 3.1415;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3842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err="1"/>
              <a:t>Sequências</a:t>
            </a:r>
            <a:r>
              <a:rPr lang="pt-BR" dirty="0"/>
              <a:t> de escape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3900486" cy="4873625"/>
          </a:xfrm>
        </p:spPr>
        <p:txBody>
          <a:bodyPr/>
          <a:lstStyle/>
          <a:p>
            <a:r>
              <a:rPr lang="pt-BR" dirty="0"/>
              <a:t>São constantes predefinidas</a:t>
            </a:r>
          </a:p>
          <a:p>
            <a:r>
              <a:rPr lang="pt-BR" dirty="0"/>
              <a:t>Elas permitem o envio de caracteres de controle não gráficos para dispositivos de saída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50"/>
          <a:stretch>
            <a:fillRect/>
          </a:stretch>
        </p:blipFill>
        <p:spPr bwMode="auto">
          <a:xfrm>
            <a:off x="4429156" y="1785926"/>
            <a:ext cx="4572000" cy="444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9453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err="1"/>
              <a:t>Sequências</a:t>
            </a:r>
            <a:r>
              <a:rPr lang="pt-BR" dirty="0"/>
              <a:t> de escape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Exemplo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Saída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05063" y="1714488"/>
            <a:ext cx="4333875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aixaDeTexto 4"/>
          <p:cNvSpPr txBox="1"/>
          <p:nvPr/>
        </p:nvSpPr>
        <p:spPr>
          <a:xfrm>
            <a:off x="2285984" y="4929198"/>
            <a:ext cx="37862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Hello World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Hello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World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Hello \ World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"Hello World"</a:t>
            </a:r>
            <a:endParaRPr lang="pt-BR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842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Booleanos em C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Um tipo booleano pode assumir dois valores:</a:t>
            </a:r>
          </a:p>
          <a:p>
            <a:pPr lvl="1"/>
            <a:r>
              <a:rPr lang="pt-BR" dirty="0"/>
              <a:t>verdadeiro ou falso (</a:t>
            </a:r>
            <a:r>
              <a:rPr lang="pt-BR" dirty="0" err="1"/>
              <a:t>true</a:t>
            </a:r>
            <a:r>
              <a:rPr lang="pt-BR" dirty="0"/>
              <a:t> ou false)</a:t>
            </a:r>
          </a:p>
          <a:p>
            <a:r>
              <a:rPr lang="pt-BR" dirty="0"/>
              <a:t>Na linguagem C não existe o tipo de dado booleano. Para armazenar esse tipo de informação, use-se uma variável do tipo </a:t>
            </a:r>
            <a:r>
              <a:rPr lang="pt-BR" b="1" dirty="0" err="1"/>
              <a:t>int</a:t>
            </a:r>
            <a:r>
              <a:rPr lang="pt-BR" dirty="0"/>
              <a:t> (número inteiro)</a:t>
            </a:r>
          </a:p>
          <a:p>
            <a:pPr lvl="1"/>
            <a:r>
              <a:rPr lang="pt-BR" dirty="0"/>
              <a:t>Valor 0 significa falso </a:t>
            </a:r>
          </a:p>
          <a:p>
            <a:pPr lvl="1"/>
            <a:r>
              <a:rPr lang="pt-BR" dirty="0"/>
              <a:t>Números + ou – : verdadeiro</a:t>
            </a:r>
          </a:p>
          <a:p>
            <a:r>
              <a:rPr lang="pt-BR" dirty="0"/>
              <a:t>Exemplos: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486400"/>
            <a:ext cx="5105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9395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Operadores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Os operadores são usados para desenvolver diferentes tipos de operações. Com eles podemos:</a:t>
            </a:r>
          </a:p>
          <a:p>
            <a:pPr lvl="1"/>
            <a:r>
              <a:rPr lang="pt-BR" dirty="0"/>
              <a:t>Realizar operações matemáticas com suas variáveis.</a:t>
            </a:r>
          </a:p>
          <a:p>
            <a:pPr lvl="1"/>
            <a:r>
              <a:rPr lang="pt-BR" dirty="0"/>
              <a:t>Realizar operações de comparação entre suas variáveis.</a:t>
            </a:r>
          </a:p>
          <a:p>
            <a:pPr lvl="1"/>
            <a:r>
              <a:rPr lang="pt-BR" dirty="0"/>
              <a:t>Realizar operações lógicas entre suas variáveis.</a:t>
            </a:r>
          </a:p>
          <a:p>
            <a:pPr lvl="1"/>
            <a:r>
              <a:rPr lang="pt-BR" dirty="0"/>
              <a:t>Realizar operações em nível de bits com suas variáveis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São aqueles que operam sobre números (valores, variáveis, constantes ou chamadas de funções) e/ou expressões e têm como resultados valores numéricos</a:t>
            </a:r>
          </a:p>
          <a:p>
            <a:pPr lvl="1"/>
            <a:r>
              <a:rPr lang="pt-BR" dirty="0"/>
              <a:t>Note que os operadores aritméticos são sempre usados em conjunto com o operador de atribuição.</a:t>
            </a:r>
            <a:endParaRPr lang="en-US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061216"/>
              </p:ext>
            </p:extLst>
          </p:nvPr>
        </p:nvGraphicFramePr>
        <p:xfrm>
          <a:off x="1143000" y="4023360"/>
          <a:ext cx="6477000" cy="249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5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Significado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Exemplo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Adição de dois valores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z = x +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Subtração de dois valores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z = x –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Multiplicação de dois valores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z = x *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Quociente de dois valores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z = x /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Resto de uma divisão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z = x %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5417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Podemos devolver o resultado para uma outra variável ou para um outro comando ou função que espere receber um valor do mesmo tipo do resultado da operação, no caso, a função </a:t>
            </a:r>
            <a:r>
              <a:rPr lang="pt-BR" dirty="0" err="1"/>
              <a:t>printf</a:t>
            </a:r>
            <a:r>
              <a:rPr lang="pt-BR" dirty="0"/>
              <a:t>()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200400"/>
            <a:ext cx="3895725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96478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IMPORTANTE</a:t>
            </a:r>
          </a:p>
          <a:p>
            <a:pPr lvl="1"/>
            <a:r>
              <a:rPr lang="pt-BR" dirty="0"/>
              <a:t>As operações de multiplicação, divisão e resto são executadas antes das operações de adição e subtração. Para forçar uma operação a ser executada antes das demais, ela é colocada entre parênteses</a:t>
            </a:r>
          </a:p>
          <a:p>
            <a:pPr lvl="2"/>
            <a:r>
              <a:rPr lang="pt-BR" b="1" dirty="0"/>
              <a:t>z = x * y + 10;</a:t>
            </a:r>
          </a:p>
          <a:p>
            <a:pPr lvl="2"/>
            <a:r>
              <a:rPr lang="pt-BR" b="1" dirty="0"/>
              <a:t>z = x * (y + 10);</a:t>
            </a:r>
          </a:p>
          <a:p>
            <a:pPr lvl="1"/>
            <a:r>
              <a:rPr lang="pt-BR" dirty="0"/>
              <a:t>O operador de subtração também pode ser utilizado para inverter o sinal de um número</a:t>
            </a:r>
          </a:p>
          <a:p>
            <a:pPr lvl="2"/>
            <a:r>
              <a:rPr lang="pt-BR" b="1" dirty="0"/>
              <a:t>x = −y;</a:t>
            </a:r>
          </a:p>
          <a:p>
            <a:pPr lvl="1"/>
            <a:r>
              <a:rPr lang="pt-BR" dirty="0"/>
              <a:t>Neste caso, a variável </a:t>
            </a:r>
            <a:r>
              <a:rPr lang="pt-BR" b="1" dirty="0"/>
              <a:t>x</a:t>
            </a:r>
            <a:r>
              <a:rPr lang="pt-BR" dirty="0"/>
              <a:t> receberá o valor de </a:t>
            </a:r>
            <a:r>
              <a:rPr lang="pt-BR" b="1" dirty="0"/>
              <a:t>y</a:t>
            </a:r>
            <a:r>
              <a:rPr lang="pt-BR" dirty="0"/>
              <a:t> multiplicado por </a:t>
            </a:r>
            <a:r>
              <a:rPr lang="pt-BR" b="1" dirty="0"/>
              <a:t>−1</a:t>
            </a:r>
            <a:r>
              <a:rPr lang="pt-BR" dirty="0"/>
              <a:t>, ou seja, </a:t>
            </a:r>
          </a:p>
          <a:p>
            <a:pPr lvl="2"/>
            <a:r>
              <a:rPr lang="pt-BR" b="1" dirty="0"/>
              <a:t>x = (−1) * y;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39118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IMPORTANTE</a:t>
            </a:r>
          </a:p>
          <a:p>
            <a:pPr lvl="1"/>
            <a:r>
              <a:rPr lang="pt-BR" dirty="0"/>
              <a:t>Em uma operação utilizando o operador de quociente /, se o numerador e o denominador forem números inteiros, por padrão o compilador retornará apenas a parte inteira da divisão</a:t>
            </a:r>
            <a:endParaRPr lang="en-US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8" y="3514725"/>
            <a:ext cx="420052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2798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relacionais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São aqueles que verificam a magnitude (qual é maior ou menor) e/ou igualdade entre dois valores e/ou expressões.</a:t>
            </a:r>
          </a:p>
          <a:p>
            <a:pPr lvl="1"/>
            <a:r>
              <a:rPr lang="pt-BR" dirty="0"/>
              <a:t>Os operadores relacionais são operadores de comparação de valores</a:t>
            </a:r>
          </a:p>
          <a:p>
            <a:pPr lvl="1"/>
            <a:r>
              <a:rPr lang="pt-BR" dirty="0"/>
              <a:t>Retorna </a:t>
            </a:r>
            <a:r>
              <a:rPr lang="pt-BR" b="1" i="1" dirty="0"/>
              <a:t>verdadeiro</a:t>
            </a:r>
            <a:r>
              <a:rPr lang="pt-BR" dirty="0"/>
              <a:t> (</a:t>
            </a:r>
            <a:r>
              <a:rPr lang="pt-BR" b="1" i="1" dirty="0"/>
              <a:t>1</a:t>
            </a:r>
            <a:r>
              <a:rPr lang="pt-BR" dirty="0"/>
              <a:t>) ou </a:t>
            </a:r>
            <a:r>
              <a:rPr lang="pt-BR" b="1" i="1" dirty="0"/>
              <a:t>falso</a:t>
            </a:r>
            <a:r>
              <a:rPr lang="pt-BR" dirty="0"/>
              <a:t> (</a:t>
            </a:r>
            <a:r>
              <a:rPr lang="pt-BR" b="1" i="1" dirty="0"/>
              <a:t>0</a:t>
            </a:r>
            <a:r>
              <a:rPr lang="pt-BR" dirty="0"/>
              <a:t>)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657647"/>
              </p:ext>
            </p:extLst>
          </p:nvPr>
        </p:nvGraphicFramePr>
        <p:xfrm>
          <a:off x="1143000" y="4023360"/>
          <a:ext cx="6477000" cy="2865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5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Significado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Exemplo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Maior do 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&gt; 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&gt;=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Maior ou igual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&gt;=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Menor do 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&lt; 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Menor ou igual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&lt;=</a:t>
                      </a:r>
                      <a:r>
                        <a:rPr lang="pt-BR" baseline="0" dirty="0"/>
                        <a:t> 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==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Igual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== 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!=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Diferente 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!=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0278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Importante</a:t>
            </a:r>
            <a:endParaRPr lang="en-US" dirty="0"/>
          </a:p>
        </p:txBody>
      </p:sp>
      <p:sp>
        <p:nvSpPr>
          <p:cNvPr id="4096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pt-BR"/>
              <a:t>Símbolo de atribuição = é diferente, muito diferente, do operador relacional de igualdade ==</a:t>
            </a:r>
          </a:p>
          <a:p>
            <a:pPr eaLnBrk="1" hangingPunct="1"/>
            <a:endParaRPr lang="en-US"/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667000"/>
            <a:ext cx="5029200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83335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Importante</a:t>
            </a:r>
            <a:endParaRPr lang="en-US" dirty="0"/>
          </a:p>
        </p:txBody>
      </p:sp>
      <p:sp>
        <p:nvSpPr>
          <p:cNvPr id="4198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pt-BR"/>
              <a:t>Símbolo de atribuição = é diferente, muito diferente, do operador relacional de igualdade ==</a:t>
            </a:r>
          </a:p>
          <a:p>
            <a:pPr eaLnBrk="1" hangingPunct="1"/>
            <a:r>
              <a:rPr lang="pt-BR"/>
              <a:t>Por que sempre entra na condição?</a:t>
            </a:r>
          </a:p>
          <a:p>
            <a:pPr eaLnBrk="1" hangingPunct="1"/>
            <a:endParaRPr lang="pt-BR"/>
          </a:p>
          <a:p>
            <a:pPr eaLnBrk="1" hangingPunct="1"/>
            <a:endParaRPr lang="pt-BR"/>
          </a:p>
          <a:p>
            <a:pPr eaLnBrk="1" hangingPunct="1"/>
            <a:r>
              <a:rPr lang="pt-BR"/>
              <a:t>Ao fazer </a:t>
            </a:r>
            <a:r>
              <a:rPr lang="pt-BR" b="1"/>
              <a:t>Nota = 60 </a:t>
            </a:r>
            <a:r>
              <a:rPr lang="pt-BR"/>
              <a:t>(“Nota recebe 60”) estamos atribuindo um valor inteiro à variável Nota.</a:t>
            </a:r>
          </a:p>
          <a:p>
            <a:pPr eaLnBrk="1" hangingPunct="1"/>
            <a:r>
              <a:rPr lang="pt-BR"/>
              <a:t>O valor atribuído </a:t>
            </a:r>
            <a:r>
              <a:rPr lang="pt-BR" b="1"/>
              <a:t>60 é diferente de Zero</a:t>
            </a:r>
            <a:r>
              <a:rPr lang="pt-BR"/>
              <a:t>. Como em C os booleanos são números inteiros, então vendo </a:t>
            </a:r>
            <a:r>
              <a:rPr lang="pt-BR" b="1"/>
              <a:t>Nota</a:t>
            </a:r>
            <a:r>
              <a:rPr lang="pt-BR"/>
              <a:t> como booleano, essa assume </a:t>
            </a:r>
            <a:r>
              <a:rPr lang="pt-BR" b="1"/>
              <a:t>true</a:t>
            </a:r>
            <a:r>
              <a:rPr lang="pt-BR"/>
              <a:t>, uma vez que é diferente de zero</a:t>
            </a:r>
            <a:endParaRPr lang="en-US"/>
          </a:p>
        </p:txBody>
      </p:sp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17" b="30984"/>
          <a:stretch>
            <a:fillRect/>
          </a:stretch>
        </p:blipFill>
        <p:spPr bwMode="auto">
          <a:xfrm>
            <a:off x="2057400" y="2952750"/>
            <a:ext cx="50292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00645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Certas situações não podem ser modeladas utilizando apenas os operadores aritméticos e/ou relacionais</a:t>
            </a:r>
          </a:p>
          <a:p>
            <a:pPr lvl="1"/>
            <a:r>
              <a:rPr lang="pt-BR" dirty="0"/>
              <a:t>Um exemplo bastante simples disso é saber se determinada variável x está dentro de uma faixa de valores. </a:t>
            </a:r>
          </a:p>
          <a:p>
            <a:pPr lvl="1"/>
            <a:r>
              <a:rPr lang="pt-BR" dirty="0"/>
              <a:t>Por exemplo, a expressão matemática</a:t>
            </a:r>
          </a:p>
          <a:p>
            <a:pPr lvl="2"/>
            <a:r>
              <a:rPr lang="pt-BR" b="1" i="1" dirty="0"/>
              <a:t>0 &lt; x &lt; 10</a:t>
            </a:r>
          </a:p>
          <a:p>
            <a:pPr lvl="1"/>
            <a:r>
              <a:rPr lang="pt-BR" dirty="0"/>
              <a:t>indica que o valor de </a:t>
            </a:r>
            <a:r>
              <a:rPr lang="pt-BR" b="1" i="1" dirty="0"/>
              <a:t>x</a:t>
            </a:r>
            <a:r>
              <a:rPr lang="pt-BR" dirty="0"/>
              <a:t> deve ser maior do que 0 (zero) e também menor do que 10</a:t>
            </a:r>
          </a:p>
        </p:txBody>
      </p:sp>
    </p:spTree>
    <p:extLst>
      <p:ext uri="{BB962C8B-B14F-4D97-AF65-F5344CB8AC3E}">
        <p14:creationId xmlns:p14="http://schemas.microsoft.com/office/powerpoint/2010/main" val="13117478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Os operadores lógicos permitem representar situações lógicas unindo duas ou mais expressões relacionais simples em uma composta</a:t>
            </a:r>
          </a:p>
          <a:p>
            <a:pPr lvl="1"/>
            <a:r>
              <a:rPr lang="pt-BR" dirty="0"/>
              <a:t>Retorna </a:t>
            </a:r>
            <a:r>
              <a:rPr lang="pt-BR" b="1" i="1" dirty="0"/>
              <a:t>verdadeiro</a:t>
            </a:r>
            <a:r>
              <a:rPr lang="pt-BR" dirty="0"/>
              <a:t> (</a:t>
            </a:r>
            <a:r>
              <a:rPr lang="pt-BR" b="1" i="1" dirty="0"/>
              <a:t>1</a:t>
            </a:r>
            <a:r>
              <a:rPr lang="pt-BR" dirty="0"/>
              <a:t>) ou </a:t>
            </a:r>
            <a:r>
              <a:rPr lang="pt-BR" b="1" i="1" dirty="0"/>
              <a:t>falso</a:t>
            </a:r>
            <a:r>
              <a:rPr lang="pt-BR" dirty="0"/>
              <a:t> (</a:t>
            </a:r>
            <a:r>
              <a:rPr lang="pt-BR" b="1" i="1" dirty="0"/>
              <a:t>0</a:t>
            </a:r>
            <a:r>
              <a:rPr lang="pt-BR" dirty="0"/>
              <a:t>)</a:t>
            </a:r>
          </a:p>
          <a:p>
            <a:r>
              <a:rPr lang="pt-BR" dirty="0"/>
              <a:t>Exemplo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expressão</a:t>
            </a:r>
            <a:r>
              <a:rPr lang="en-US" dirty="0"/>
              <a:t> </a:t>
            </a:r>
            <a:r>
              <a:rPr lang="en-US" b="1" i="1" dirty="0"/>
              <a:t>0 &lt; x &lt; 10</a:t>
            </a:r>
          </a:p>
          <a:p>
            <a:pPr lvl="1"/>
            <a:r>
              <a:rPr lang="pt-BR" dirty="0"/>
              <a:t>Equivale a </a:t>
            </a:r>
            <a:r>
              <a:rPr lang="pt-BR" b="1" i="1" dirty="0"/>
              <a:t>(x &gt; 0) &amp;&amp; (x &lt; 10)</a:t>
            </a:r>
            <a:endParaRPr lang="en-US" b="1" i="1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643005"/>
              </p:ext>
            </p:extLst>
          </p:nvPr>
        </p:nvGraphicFramePr>
        <p:xfrm>
          <a:off x="1143000" y="4765040"/>
          <a:ext cx="6477000" cy="2021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5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5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Significado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Exemplo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&amp;&amp;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</a:t>
                      </a:r>
                      <a:r>
                        <a:rPr lang="pt-BR" b="1" dirty="0"/>
                        <a:t> 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(x &gt; 0) &amp;&amp; (x &lt;</a:t>
                      </a:r>
                      <a:r>
                        <a:rPr lang="pt-BR" baseline="0" dirty="0"/>
                        <a:t> 10)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||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 </a:t>
                      </a:r>
                      <a:r>
                        <a:rPr lang="pt-BR" b="1" dirty="0"/>
                        <a:t>OU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(a == ‘F’) || (b != 32)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!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 </a:t>
                      </a:r>
                      <a:r>
                        <a:rPr lang="pt-BR" b="1" dirty="0"/>
                        <a:t>NEGAÇÃO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!(x == 10)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6270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Tabela verdade</a:t>
            </a:r>
          </a:p>
          <a:p>
            <a:pPr lvl="1"/>
            <a:r>
              <a:rPr lang="pt-BR" dirty="0"/>
              <a:t>Os termos </a:t>
            </a:r>
            <a:r>
              <a:rPr lang="pt-BR" b="1" i="1" dirty="0"/>
              <a:t>a</a:t>
            </a:r>
            <a:r>
              <a:rPr lang="pt-BR" dirty="0"/>
              <a:t> e </a:t>
            </a:r>
            <a:r>
              <a:rPr lang="pt-BR" b="1" i="1" dirty="0"/>
              <a:t>b</a:t>
            </a:r>
            <a:r>
              <a:rPr lang="pt-BR" dirty="0"/>
              <a:t> representam o resultado de duas expressões relacionais</a:t>
            </a:r>
          </a:p>
          <a:p>
            <a:endParaRPr lang="en-US" b="1" i="1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11288"/>
              </p:ext>
            </p:extLst>
          </p:nvPr>
        </p:nvGraphicFramePr>
        <p:xfrm>
          <a:off x="1143000" y="3581400"/>
          <a:ext cx="64770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!a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!b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 &amp;&amp;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 || 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2505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Exemplos</a:t>
            </a:r>
            <a:endParaRPr lang="en-US" b="1" i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2162175"/>
            <a:ext cx="6105525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7061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</a:t>
            </a:r>
            <a:r>
              <a:rPr lang="pt-BR" dirty="0" err="1"/>
              <a:t>pré</a:t>
            </a:r>
            <a:r>
              <a:rPr lang="pt-BR" dirty="0"/>
              <a:t> e pós-incremento/decremento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Esses operadores podem ser utilizados sempre que for necessário somar uma unidade (incremento) ou subtrair uma unidade (decremento) a determinado valor</a:t>
            </a:r>
          </a:p>
          <a:p>
            <a:pPr lvl="1"/>
            <a:endParaRPr lang="en-US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645907"/>
              </p:ext>
            </p:extLst>
          </p:nvPr>
        </p:nvGraphicFramePr>
        <p:xfrm>
          <a:off x="838201" y="3810000"/>
          <a:ext cx="7162799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7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8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Significado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Exemplo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Resultado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incremento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++x ou x++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= x + 1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decremento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--x ou x--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x = x - 1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9285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</a:t>
            </a:r>
            <a:r>
              <a:rPr lang="pt-BR" dirty="0" err="1"/>
              <a:t>pré</a:t>
            </a:r>
            <a:r>
              <a:rPr lang="pt-BR" dirty="0"/>
              <a:t> e pós-incremento/decremento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Qual a diferença em usar antes ou depois da variável?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Essa diferença de sintaxe no uso do operador não tem importância se o operador for usado sozinho</a:t>
            </a:r>
          </a:p>
          <a:p>
            <a:pPr lvl="1"/>
            <a:r>
              <a:rPr lang="pt-BR" dirty="0"/>
              <a:t>Porém, se esse operador for utilizado dentro de uma expressão aritmética, a diferença entre os dois operadores será evidente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218301"/>
              </p:ext>
            </p:extLst>
          </p:nvPr>
        </p:nvGraphicFramePr>
        <p:xfrm>
          <a:off x="533400" y="2590800"/>
          <a:ext cx="7848601" cy="2479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Operador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Significado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Resultado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++x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err="1"/>
                        <a:t>pré</a:t>
                      </a:r>
                      <a:r>
                        <a:rPr lang="pt-BR" sz="1600" b="0" dirty="0"/>
                        <a:t>-incremento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soma +1 à variável x antes de utilizar seu valor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x++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dirty="0"/>
                        <a:t>pós-incremento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soma +1 à variável x depois de utilizar seu valor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--x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err="1"/>
                        <a:t>pré</a:t>
                      </a:r>
                      <a:r>
                        <a:rPr lang="pt-BR" sz="1600" b="0" dirty="0"/>
                        <a:t>-decremento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subtrai −1 da variável x antes de utilizar seu valor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x--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/>
                        <a:t>pós-decremento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subtrai −1 da variável x depois de utilizar seu valor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5111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</a:t>
            </a:r>
            <a:r>
              <a:rPr lang="pt-BR" dirty="0" err="1"/>
              <a:t>pré</a:t>
            </a:r>
            <a:r>
              <a:rPr lang="pt-BR" dirty="0"/>
              <a:t> e pós-incremento/decremento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Essa diferença de sintaxe no uso do operador não tem importância se o operador for usado sozinho</a:t>
            </a:r>
          </a:p>
          <a:p>
            <a:pPr lvl="1"/>
            <a:r>
              <a:rPr lang="pt-BR" dirty="0"/>
              <a:t>Porém, se utilizado dentro de uma expressão aritmética, a diferença entre os dois operadores será evidente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69041"/>
            <a:ext cx="3686175" cy="336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38882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atribuição simplificada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Muitos operadores são sempre usados em conjunto com o operador de atribuição. </a:t>
            </a:r>
          </a:p>
          <a:p>
            <a:pPr lvl="1"/>
            <a:r>
              <a:rPr lang="pt-BR" dirty="0"/>
              <a:t>Para tornar essa tarefa mais simples, a linguagem C permite simplificar algumas expressões</a:t>
            </a:r>
            <a:endParaRPr lang="en-US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472262"/>
              </p:ext>
            </p:extLst>
          </p:nvPr>
        </p:nvGraphicFramePr>
        <p:xfrm>
          <a:off x="762000" y="3276600"/>
          <a:ext cx="7315200" cy="2763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Significado</a:t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Exemplo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Soma e atribui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+=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igual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= x +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Subtrai e atribui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-=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igual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x = x –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*=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Multiplica e atribui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*=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igual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x = x *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/=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Divide e atribui o quociente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/=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igual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x = x /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%=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Divide e atribui o resto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 %=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igual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x = x % 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8421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atribuição simplificada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t-BR" dirty="0"/>
              <a:t>Sem operador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Com operador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0503" y="2362200"/>
            <a:ext cx="3490993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10087" y="2376487"/>
            <a:ext cx="338137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588653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Operadores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dirty="0"/>
              <a:t>Exercício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Diga o resultado das variáveis x, y e z depois da seguinte sequência de operações: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pt-BR" b="1" dirty="0"/>
              <a:t>	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2900370"/>
            <a:ext cx="24384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Operadores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dirty="0"/>
              <a:t>Exercício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Diga o resultado das variáveis x, y e z depois da seguinte sequência de operações: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pt-BR" b="1" dirty="0"/>
              <a:t>	</a:t>
            </a:r>
            <a:endParaRPr lang="pt-B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2890845"/>
            <a:ext cx="24384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493987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Operadores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dirty="0"/>
              <a:t>Exercício</a:t>
            </a:r>
          </a:p>
          <a:p>
            <a:pPr lvl="1"/>
            <a:r>
              <a:rPr lang="pt-BR" dirty="0"/>
              <a:t>Diga se as seguintes expressões serão verdadeiras ou falsas: </a:t>
            </a:r>
          </a:p>
          <a:p>
            <a:pPr lvl="1">
              <a:buFont typeface="Wingdings" pitchFamily="2" charset="2"/>
              <a:buNone/>
            </a:pPr>
            <a:r>
              <a:rPr lang="pt-BR" b="1" dirty="0"/>
              <a:t>	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62275" y="2938463"/>
            <a:ext cx="32194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278839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Conversões de Tipos na Atribuição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dirty="0"/>
              <a:t>Atribuição entre tipos diferentes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O compilador converte automaticamente o valor do lado direto para o tipo do lado esquerdo do operador de atribuição “=”</a:t>
            </a:r>
          </a:p>
          <a:p>
            <a:pPr lvl="2">
              <a:lnSpc>
                <a:spcPct val="90000"/>
              </a:lnSpc>
            </a:pPr>
            <a:r>
              <a:rPr lang="pt-BR" dirty="0"/>
              <a:t>Pode haver perda de informação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3222719"/>
            <a:ext cx="5229225" cy="359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74774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Modeladores (</a:t>
            </a:r>
            <a:r>
              <a:rPr lang="pt-BR" dirty="0" err="1"/>
              <a:t>Casts</a:t>
            </a:r>
            <a:r>
              <a:rPr lang="pt-BR" dirty="0"/>
              <a:t>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pt-BR" dirty="0"/>
              <a:t>Um modelador é aplicado a uma expressão </a:t>
            </a:r>
          </a:p>
          <a:p>
            <a:r>
              <a:rPr lang="pt-BR" dirty="0"/>
              <a:t>Força o resultado da expressão a ser de um tipo especificado. </a:t>
            </a:r>
          </a:p>
          <a:p>
            <a:pPr lvl="1"/>
            <a:r>
              <a:rPr lang="pt-BR" dirty="0"/>
              <a:t>(tipo) expressão</a:t>
            </a:r>
          </a:p>
          <a:p>
            <a:pPr lvl="1"/>
            <a:endParaRPr lang="pt-BR" dirty="0"/>
          </a:p>
          <a:p>
            <a:r>
              <a:rPr lang="pt-BR" dirty="0"/>
              <a:t>Exemplo</a:t>
            </a:r>
          </a:p>
          <a:p>
            <a:pPr lvl="1"/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4391025"/>
            <a:ext cx="427672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1782762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Precedência </a:t>
            </a:r>
            <a:br>
              <a:rPr lang="pt-BR" dirty="0"/>
            </a:br>
            <a:r>
              <a:rPr lang="pt-BR" dirty="0"/>
              <a:t>dos </a:t>
            </a:r>
            <a:br>
              <a:rPr lang="pt-BR" dirty="0"/>
            </a:br>
            <a:r>
              <a:rPr lang="pt-BR" dirty="0"/>
              <a:t>Operadores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42"/>
          <a:stretch/>
        </p:blipFill>
        <p:spPr bwMode="auto">
          <a:xfrm>
            <a:off x="3684234" y="103780"/>
            <a:ext cx="5257800" cy="6685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lcão Envidraçado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3709</TotalTime>
  <Words>2584</Words>
  <Application>Microsoft Office PowerPoint</Application>
  <PresentationFormat>Apresentação na tela (4:3)</PresentationFormat>
  <Paragraphs>534</Paragraphs>
  <Slides>67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67</vt:i4>
      </vt:variant>
    </vt:vector>
  </HeadingPairs>
  <TitlesOfParts>
    <vt:vector size="74" baseType="lpstr">
      <vt:lpstr>Arial</vt:lpstr>
      <vt:lpstr>Calibri</vt:lpstr>
      <vt:lpstr>Century Schoolbook</vt:lpstr>
      <vt:lpstr>Courier New</vt:lpstr>
      <vt:lpstr>Wingdings</vt:lpstr>
      <vt:lpstr>Wingdings 2</vt:lpstr>
      <vt:lpstr>Balcão Envidraçado</vt:lpstr>
      <vt:lpstr>Linguagem C: Variáveis e expressões</vt:lpstr>
      <vt:lpstr>Linguagens de programação</vt:lpstr>
      <vt:lpstr>Linguagens de programação</vt:lpstr>
      <vt:lpstr>Linguagens de programação</vt:lpstr>
      <vt:lpstr>Linguagens de programação</vt:lpstr>
      <vt:lpstr>Linguagens de programação</vt:lpstr>
      <vt:lpstr>Linguagem C</vt:lpstr>
      <vt:lpstr>Primeiro programa em C</vt:lpstr>
      <vt:lpstr>Primeiro programa em C</vt:lpstr>
      <vt:lpstr>Primeiro programa em C</vt:lpstr>
      <vt:lpstr>Primeiro programa em C</vt:lpstr>
      <vt:lpstr>Comentários</vt:lpstr>
      <vt:lpstr>Variáveis</vt:lpstr>
      <vt:lpstr>Variáveis</vt:lpstr>
      <vt:lpstr>Declaração de variáveis</vt:lpstr>
      <vt:lpstr>Variáveis</vt:lpstr>
      <vt:lpstr>Variáveis</vt:lpstr>
      <vt:lpstr>Variáveis</vt:lpstr>
      <vt:lpstr>Variáveis</vt:lpstr>
      <vt:lpstr>Variáveis</vt:lpstr>
      <vt:lpstr>Variáveis</vt:lpstr>
      <vt:lpstr>Variáveis</vt:lpstr>
      <vt:lpstr>Tipos básicos em C</vt:lpstr>
      <vt:lpstr>Tipos básicos em C</vt:lpstr>
      <vt:lpstr>Tipos básicos em C</vt:lpstr>
      <vt:lpstr>Variáveis</vt:lpstr>
      <vt:lpstr>Atribuição</vt:lpstr>
      <vt:lpstr>Comando de saída</vt:lpstr>
      <vt:lpstr>Comando de saída</vt:lpstr>
      <vt:lpstr>Comando de saída</vt:lpstr>
      <vt:lpstr>Comando de saída</vt:lpstr>
      <vt:lpstr>Comando de entrada</vt:lpstr>
      <vt:lpstr>Comando de entrada</vt:lpstr>
      <vt:lpstr>Comando de entrada</vt:lpstr>
      <vt:lpstr>Comando de entrada</vt:lpstr>
      <vt:lpstr>Comando de entrada</vt:lpstr>
      <vt:lpstr>Escopo de variáveis</vt:lpstr>
      <vt:lpstr>Escopo de variáveis</vt:lpstr>
      <vt:lpstr>Escopo de variáveis</vt:lpstr>
      <vt:lpstr>Constantes</vt:lpstr>
      <vt:lpstr>Constantes</vt:lpstr>
      <vt:lpstr>Sequências de escape</vt:lpstr>
      <vt:lpstr>Sequências de escape</vt:lpstr>
      <vt:lpstr>Tipos Booleanos em C</vt:lpstr>
      <vt:lpstr>Operadores</vt:lpstr>
      <vt:lpstr>Operadores aritméticos</vt:lpstr>
      <vt:lpstr>Operadores aritméticos</vt:lpstr>
      <vt:lpstr>Operadores aritméticos</vt:lpstr>
      <vt:lpstr>Operadores aritméticos</vt:lpstr>
      <vt:lpstr>Operadores relacionais</vt:lpstr>
      <vt:lpstr>Importante</vt:lpstr>
      <vt:lpstr>Importante</vt:lpstr>
      <vt:lpstr>Operadores lógicos</vt:lpstr>
      <vt:lpstr>Operadores lógicos</vt:lpstr>
      <vt:lpstr>Operadores lógicos</vt:lpstr>
      <vt:lpstr>Operadores lógicos</vt:lpstr>
      <vt:lpstr>Operadores de pré e pós-incremento/decremento</vt:lpstr>
      <vt:lpstr>Operadores de pré e pós-incremento/decremento</vt:lpstr>
      <vt:lpstr>Operadores de pré e pós-incremento/decremento</vt:lpstr>
      <vt:lpstr>Operadores de atribuição simplificada</vt:lpstr>
      <vt:lpstr>Operadores de atribuição simplificada</vt:lpstr>
      <vt:lpstr>Operadores</vt:lpstr>
      <vt:lpstr>Operadores</vt:lpstr>
      <vt:lpstr>Operadores</vt:lpstr>
      <vt:lpstr>Conversões de Tipos na Atribuição</vt:lpstr>
      <vt:lpstr>Modeladores (Casts)</vt:lpstr>
      <vt:lpstr>Precedência  dos  Operadores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Backes</dc:creator>
  <cp:lastModifiedBy>William Roberto Malvezzi</cp:lastModifiedBy>
  <cp:revision>299</cp:revision>
  <cp:lastPrinted>1601-01-01T00:00:00Z</cp:lastPrinted>
  <dcterms:created xsi:type="dcterms:W3CDTF">1601-01-01T00:00:00Z</dcterms:created>
  <dcterms:modified xsi:type="dcterms:W3CDTF">2020-02-27T19:02:32Z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